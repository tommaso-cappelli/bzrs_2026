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7" r:id="rId2"/>
    <p:sldId id="279" r:id="rId3"/>
    <p:sldId id="305" r:id="rId4"/>
    <p:sldId id="306" r:id="rId5"/>
    <p:sldId id="259" r:id="rId6"/>
    <p:sldId id="293" r:id="rId7"/>
    <p:sldId id="297" r:id="rId8"/>
    <p:sldId id="302" r:id="rId9"/>
    <p:sldId id="299" r:id="rId10"/>
    <p:sldId id="301" r:id="rId11"/>
    <p:sldId id="296" r:id="rId12"/>
    <p:sldId id="304" r:id="rId13"/>
    <p:sldId id="276" r:id="rId14"/>
    <p:sldId id="267" r:id="rId15"/>
    <p:sldId id="286" r:id="rId16"/>
    <p:sldId id="285" r:id="rId17"/>
    <p:sldId id="278" r:id="rId18"/>
    <p:sldId id="287" r:id="rId19"/>
  </p:sldIdLst>
  <p:sldSz cx="12192000" cy="6858000"/>
  <p:notesSz cx="7099300" cy="102346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29" userDrawn="1">
          <p15:clr>
            <a:srgbClr val="A4A3A4"/>
          </p15:clr>
        </p15:guide>
        <p15:guide id="3" orient="horz" pos="958" userDrawn="1">
          <p15:clr>
            <a:srgbClr val="A4A3A4"/>
          </p15:clr>
        </p15:guide>
        <p15:guide id="4" orient="horz" pos="4065" userDrawn="1">
          <p15:clr>
            <a:srgbClr val="A4A3A4"/>
          </p15:clr>
        </p15:guide>
        <p15:guide id="5" orient="horz" pos="4110" userDrawn="1">
          <p15:clr>
            <a:srgbClr val="A4A3A4"/>
          </p15:clr>
        </p15:guide>
        <p15:guide id="7" orient="horz" pos="4178" userDrawn="1">
          <p15:clr>
            <a:srgbClr val="A4A3A4"/>
          </p15:clr>
        </p15:guide>
        <p15:guide id="8" pos="1231" userDrawn="1">
          <p15:clr>
            <a:srgbClr val="A4A3A4"/>
          </p15:clr>
        </p15:guide>
        <p15:guide id="9" pos="6993" userDrawn="1">
          <p15:clr>
            <a:srgbClr val="A4A3A4"/>
          </p15:clr>
        </p15:guide>
        <p15:guide id="10" pos="3840" userDrawn="1">
          <p15:clr>
            <a:srgbClr val="A4A3A4"/>
          </p15:clr>
        </p15:guide>
        <p15:guide id="11" pos="3795" userDrawn="1">
          <p15:clr>
            <a:srgbClr val="A4A3A4"/>
          </p15:clr>
        </p15:guide>
        <p15:guide id="12" pos="3885" userDrawn="1">
          <p15:clr>
            <a:srgbClr val="A4A3A4"/>
          </p15:clr>
        </p15:guide>
        <p15:guide id="13" pos="4248" userDrawn="1">
          <p15:clr>
            <a:srgbClr val="A4A3A4"/>
          </p15:clr>
        </p15:guide>
        <p15:guide id="14" pos="4340" userDrawn="1">
          <p15:clr>
            <a:srgbClr val="A4A3A4"/>
          </p15:clr>
        </p15:guide>
        <p15:guide id="15" pos="4679" userDrawn="1">
          <p15:clr>
            <a:srgbClr val="A4A3A4"/>
          </p15:clr>
        </p15:guide>
        <p15:guide id="16" pos="4770" userDrawn="1">
          <p15:clr>
            <a:srgbClr val="A4A3A4"/>
          </p15:clr>
        </p15:guide>
        <p15:guide id="17" pos="5132" userDrawn="1">
          <p15:clr>
            <a:srgbClr val="A4A3A4"/>
          </p15:clr>
        </p15:guide>
        <p15:guide id="18" pos="5223" userDrawn="1">
          <p15:clr>
            <a:srgbClr val="A4A3A4"/>
          </p15:clr>
        </p15:guide>
        <p15:guide id="19" pos="6108" userDrawn="1">
          <p15:clr>
            <a:srgbClr val="A4A3A4"/>
          </p15:clr>
        </p15:guide>
        <p15:guide id="21" pos="6449" userDrawn="1">
          <p15:clr>
            <a:srgbClr val="A4A3A4"/>
          </p15:clr>
        </p15:guide>
        <p15:guide id="22" pos="6902" userDrawn="1">
          <p15:clr>
            <a:srgbClr val="A4A3A4"/>
          </p15:clr>
        </p15:guide>
        <p15:guide id="23" pos="3432" userDrawn="1">
          <p15:clr>
            <a:srgbClr val="A4A3A4"/>
          </p15:clr>
        </p15:guide>
        <p15:guide id="24" pos="3342" userDrawn="1">
          <p15:clr>
            <a:srgbClr val="A4A3A4"/>
          </p15:clr>
        </p15:guide>
        <p15:guide id="25" pos="3000" userDrawn="1">
          <p15:clr>
            <a:srgbClr val="A4A3A4"/>
          </p15:clr>
        </p15:guide>
        <p15:guide id="26" pos="2911" userDrawn="1">
          <p15:clr>
            <a:srgbClr val="A4A3A4"/>
          </p15:clr>
        </p15:guide>
        <p15:guide id="27" pos="2547" userDrawn="1">
          <p15:clr>
            <a:srgbClr val="A4A3A4"/>
          </p15:clr>
        </p15:guide>
        <p15:guide id="28" pos="2457" userDrawn="1">
          <p15:clr>
            <a:srgbClr val="A4A3A4"/>
          </p15:clr>
        </p15:guide>
        <p15:guide id="29" pos="2116" userDrawn="1">
          <p15:clr>
            <a:srgbClr val="A4A3A4"/>
          </p15:clr>
        </p15:guide>
        <p15:guide id="30" pos="2026" userDrawn="1">
          <p15:clr>
            <a:srgbClr val="A4A3A4"/>
          </p15:clr>
        </p15:guide>
        <p15:guide id="31" pos="1662" userDrawn="1">
          <p15:clr>
            <a:srgbClr val="A4A3A4"/>
          </p15:clr>
        </p15:guide>
        <p15:guide id="32" pos="1573" userDrawn="1">
          <p15:clr>
            <a:srgbClr val="A4A3A4"/>
          </p15:clr>
        </p15:guide>
        <p15:guide id="36" pos="5564" userDrawn="1">
          <p15:clr>
            <a:srgbClr val="A4A3A4"/>
          </p15:clr>
        </p15:guide>
        <p15:guide id="37" pos="5655" userDrawn="1">
          <p15:clr>
            <a:srgbClr val="A4A3A4"/>
          </p15:clr>
        </p15:guide>
        <p15:guide id="38" pos="6017" userDrawn="1">
          <p15:clr>
            <a:srgbClr val="A4A3A4"/>
          </p15:clr>
        </p15:guide>
        <p15:guide id="40" pos="779" userDrawn="1">
          <p15:clr>
            <a:srgbClr val="A4A3A4"/>
          </p15:clr>
        </p15:guide>
        <p15:guide id="41" pos="687" userDrawn="1">
          <p15:clr>
            <a:srgbClr val="A4A3A4"/>
          </p15:clr>
        </p15:guide>
        <p15:guide id="42" pos="347" userDrawn="1">
          <p15:clr>
            <a:srgbClr val="A4A3A4"/>
          </p15:clr>
        </p15:guide>
        <p15:guide id="44" pos="6540" userDrawn="1">
          <p15:clr>
            <a:srgbClr val="A4A3A4"/>
          </p15:clr>
        </p15:guide>
        <p15:guide id="46" pos="7332" userDrawn="1">
          <p15:clr>
            <a:srgbClr val="A4A3A4"/>
          </p15:clr>
        </p15:guide>
        <p15:guide id="47" pos="1141" userDrawn="1">
          <p15:clr>
            <a:srgbClr val="A4A3A4"/>
          </p15:clr>
        </p15:guide>
        <p15:guide id="48" pos="257" userDrawn="1">
          <p15:clr>
            <a:srgbClr val="A4A3A4"/>
          </p15:clr>
        </p15:guide>
        <p15:guide id="49" pos="7424" userDrawn="1">
          <p15:clr>
            <a:srgbClr val="A4A3A4"/>
          </p15:clr>
        </p15:guide>
        <p15:guide id="50" pos="211" userDrawn="1">
          <p15:clr>
            <a:srgbClr val="A4A3A4"/>
          </p15:clr>
        </p15:guide>
        <p15:guide id="51" pos="74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E6E"/>
    <a:srgbClr val="FCEB0C"/>
    <a:srgbClr val="A5D7D2"/>
    <a:srgbClr val="D20537"/>
    <a:srgbClr val="000000"/>
    <a:srgbClr val="BEC3C8"/>
    <a:srgbClr val="FFFFFF"/>
    <a:srgbClr val="EB829B"/>
    <a:srgbClr val="8C9196"/>
    <a:srgbClr val="2D37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E25E649-3F16-4E02-A733-19D2CDBF48F0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E25E649-3F16-4E02-A733-19D2CDBF48F0}" styleName="Mittlere Formatvorlage 3 - Akz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1" autoAdjust="0"/>
    <p:restoredTop sz="94660"/>
  </p:normalViewPr>
  <p:slideViewPr>
    <p:cSldViewPr showGuides="1">
      <p:cViewPr varScale="1">
        <p:scale>
          <a:sx n="53" d="100"/>
          <a:sy n="53" d="100"/>
        </p:scale>
        <p:origin x="579" y="30"/>
      </p:cViewPr>
      <p:guideLst>
        <p:guide orient="horz" pos="3929"/>
        <p:guide orient="horz" pos="958"/>
        <p:guide orient="horz" pos="4065"/>
        <p:guide orient="horz" pos="4110"/>
        <p:guide orient="horz" pos="4178"/>
        <p:guide pos="1231"/>
        <p:guide pos="6993"/>
        <p:guide pos="3840"/>
        <p:guide pos="3795"/>
        <p:guide pos="3885"/>
        <p:guide pos="4248"/>
        <p:guide pos="4340"/>
        <p:guide pos="4679"/>
        <p:guide pos="4770"/>
        <p:guide pos="5132"/>
        <p:guide pos="5223"/>
        <p:guide pos="6108"/>
        <p:guide pos="6449"/>
        <p:guide pos="6902"/>
        <p:guide pos="3432"/>
        <p:guide pos="3342"/>
        <p:guide pos="3000"/>
        <p:guide pos="2911"/>
        <p:guide pos="2547"/>
        <p:guide pos="2457"/>
        <p:guide pos="2116"/>
        <p:guide pos="2026"/>
        <p:guide pos="1662"/>
        <p:guide pos="1573"/>
        <p:guide pos="5564"/>
        <p:guide pos="5655"/>
        <p:guide pos="6017"/>
        <p:guide pos="779"/>
        <p:guide pos="687"/>
        <p:guide pos="347"/>
        <p:guide pos="6540"/>
        <p:guide pos="7332"/>
        <p:guide pos="1141"/>
        <p:guide pos="257"/>
        <p:guide pos="7424"/>
        <p:guide pos="211"/>
        <p:guide pos="746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484FEB8E-57CB-43C0-BEF7-4F4116A5252C}" type="datetimeFigureOut">
              <a:rPr lang="de-CH" smtClean="0"/>
              <a:t>01.09.2026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DA53D58F-CC03-47C4-AC79-D3C984A61519}" type="slidenum">
              <a:rPr lang="de-CH" smtClean="0"/>
              <a:t>‹N›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6783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1" y="214313"/>
            <a:ext cx="11977200" cy="49071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CH" sz="1800" dirty="0" err="1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89C1E91A-9DC6-4A1C-9A99-AE06E8E0486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799" y="404664"/>
            <a:ext cx="1712369" cy="770882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838800" y="1376363"/>
            <a:ext cx="7428256" cy="1044526"/>
          </a:xfrm>
        </p:spPr>
        <p:txBody>
          <a:bodyPr/>
          <a:lstStyle>
            <a:lvl1pPr>
              <a:lnSpc>
                <a:spcPts val="4000"/>
              </a:lnSpc>
              <a:defRPr sz="3600"/>
            </a:lvl1pPr>
          </a:lstStyle>
          <a:p>
            <a:r>
              <a:rPr lang="de-DE" dirty="0"/>
              <a:t>Titelmasterformat durch Klicken bearbeiten</a:t>
            </a:r>
            <a:endParaRPr lang="de-CH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38800" y="2564904"/>
            <a:ext cx="9067800" cy="324036"/>
          </a:xfrm>
        </p:spPr>
        <p:txBody>
          <a:bodyPr/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CH" dirty="0"/>
              <a:t>Autor, DD.MM.YY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676091FB-231C-463F-9AA6-64842FCCDAD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5096" y="463947"/>
            <a:ext cx="1353863" cy="842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6751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" userDrawn="1">
          <p15:clr>
            <a:srgbClr val="FBAE40"/>
          </p15:clr>
        </p15:guide>
        <p15:guide id="2" pos="7542" userDrawn="1">
          <p15:clr>
            <a:srgbClr val="FBAE40"/>
          </p15:clr>
        </p15:guide>
        <p15:guide id="3" orient="horz" pos="4183" userDrawn="1">
          <p15:clr>
            <a:srgbClr val="FBAE40"/>
          </p15:clr>
        </p15:guide>
        <p15:guide id="4" pos="136" userDrawn="1">
          <p15:clr>
            <a:srgbClr val="FBAE40"/>
          </p15:clr>
        </p15:guide>
        <p15:guide id="5" orient="horz" pos="270" userDrawn="1">
          <p15:clr>
            <a:srgbClr val="FBAE40"/>
          </p15:clr>
        </p15:guide>
        <p15:guide id="6" pos="52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0" y="212726"/>
            <a:ext cx="11976100" cy="27844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CH" sz="1800" dirty="0" err="1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3EF4D0E-52E2-40EC-BB2C-15F6354ADB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00" y="404664"/>
            <a:ext cx="1711161" cy="77033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838800" y="1376363"/>
            <a:ext cx="7284240" cy="1044526"/>
          </a:xfrm>
        </p:spPr>
        <p:txBody>
          <a:bodyPr/>
          <a:lstStyle>
            <a:lvl1pPr>
              <a:lnSpc>
                <a:spcPts val="4000"/>
              </a:lnSpc>
              <a:defRPr sz="3600"/>
            </a:lvl1pPr>
          </a:lstStyle>
          <a:p>
            <a:r>
              <a:rPr lang="de-DE" dirty="0"/>
              <a:t>Titelmasterformat durch Klicken bearbeiten</a:t>
            </a:r>
            <a:endParaRPr lang="de-CH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38800" y="2564904"/>
            <a:ext cx="9067800" cy="324036"/>
          </a:xfrm>
        </p:spPr>
        <p:txBody>
          <a:bodyPr/>
          <a:lstStyle>
            <a:lvl1pPr marL="0" indent="0" algn="l"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CH" dirty="0"/>
              <a:t>Autor, DD.MM.YY</a:t>
            </a:r>
          </a:p>
        </p:txBody>
      </p:sp>
      <p:sp>
        <p:nvSpPr>
          <p:cNvPr id="12" name="Bildplatzhalter 11"/>
          <p:cNvSpPr>
            <a:spLocks noGrp="1"/>
          </p:cNvSpPr>
          <p:nvPr>
            <p:ph type="pic" sz="quarter" idx="10"/>
          </p:nvPr>
        </p:nvSpPr>
        <p:spPr>
          <a:xfrm>
            <a:off x="215900" y="2997203"/>
            <a:ext cx="11760200" cy="3641722"/>
          </a:xfrm>
        </p:spPr>
        <p:txBody>
          <a:bodyPr/>
          <a:lstStyle/>
          <a:p>
            <a:r>
              <a:rPr lang="de-DE" dirty="0"/>
              <a:t>Bild durch Klicken auf Symbol hinzufügen</a:t>
            </a:r>
            <a:endParaRPr lang="de-CH" dirty="0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376E4FE2-FD57-4B7B-9E86-6E78BC9AEF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1242" y="446400"/>
            <a:ext cx="1379558" cy="858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09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36" userDrawn="1">
          <p15:clr>
            <a:srgbClr val="FBAE40"/>
          </p15:clr>
        </p15:guide>
        <p15:guide id="2" orient="horz" pos="134" userDrawn="1">
          <p15:clr>
            <a:srgbClr val="FBAE40"/>
          </p15:clr>
        </p15:guide>
        <p15:guide id="3" orient="horz" pos="4182" userDrawn="1">
          <p15:clr>
            <a:srgbClr val="FBAE40"/>
          </p15:clr>
        </p15:guide>
        <p15:guide id="4" pos="7544" userDrawn="1">
          <p15:clr>
            <a:srgbClr val="FBAE40"/>
          </p15:clr>
        </p15:guide>
        <p15:guide id="5" orient="horz" pos="27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34800" y="404813"/>
            <a:ext cx="11521840" cy="755936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  <a:endParaRPr lang="de-CH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34800" y="1520826"/>
            <a:ext cx="11521840" cy="4716462"/>
          </a:xfrm>
        </p:spPr>
        <p:txBody>
          <a:bodyPr/>
          <a:lstStyle>
            <a:lvl1pPr>
              <a:lnSpc>
                <a:spcPts val="2200"/>
              </a:lnSpc>
              <a:defRPr/>
            </a:lvl1pPr>
            <a:lvl2pPr>
              <a:lnSpc>
                <a:spcPts val="2200"/>
              </a:lnSpc>
              <a:defRPr/>
            </a:lvl2pPr>
            <a:lvl3pPr>
              <a:lnSpc>
                <a:spcPts val="2200"/>
              </a:lnSpc>
              <a:defRPr/>
            </a:lvl3pPr>
            <a:lvl4pPr>
              <a:lnSpc>
                <a:spcPts val="2200"/>
              </a:lnSpc>
              <a:defRPr/>
            </a:lvl4pPr>
            <a:lvl5pPr>
              <a:lnSpc>
                <a:spcPts val="2200"/>
              </a:lnSpc>
              <a:defRPr/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Titel Vortrag, Autor, DD.MM.YY  </a:t>
            </a:r>
            <a:endParaRPr lang="de-CH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de-CH"/>
              <a:t>Universität Basel</a:t>
            </a:r>
            <a:endParaRPr lang="de-CH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11826-9277-4232-A2B5-17D05DFC7392}" type="slidenum">
              <a:rPr lang="de-CH" smtClean="0"/>
              <a:pPr/>
              <a:t>‹N›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131685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34800" y="404813"/>
            <a:ext cx="11521840" cy="755936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  <a:endParaRPr lang="de-CH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34800" y="1522800"/>
            <a:ext cx="5688000" cy="4716462"/>
          </a:xfrm>
        </p:spPr>
        <p:txBody>
          <a:bodyPr/>
          <a:lstStyle>
            <a:lvl1pPr>
              <a:lnSpc>
                <a:spcPts val="2200"/>
              </a:lnSpc>
              <a:defRPr/>
            </a:lvl1pPr>
            <a:lvl2pPr>
              <a:lnSpc>
                <a:spcPts val="2200"/>
              </a:lnSpc>
              <a:defRPr/>
            </a:lvl2pPr>
            <a:lvl3pPr>
              <a:lnSpc>
                <a:spcPts val="2200"/>
              </a:lnSpc>
              <a:defRPr/>
            </a:lvl3pPr>
            <a:lvl4pPr>
              <a:lnSpc>
                <a:spcPts val="2200"/>
              </a:lnSpc>
              <a:defRPr/>
            </a:lvl4pPr>
            <a:lvl5pPr>
              <a:lnSpc>
                <a:spcPts val="2200"/>
              </a:lnSpc>
              <a:defRPr/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Titel Vortrag, Autor, DD.MM.YY  </a:t>
            </a:r>
            <a:endParaRPr lang="de-CH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de-CH"/>
              <a:t>Universität Basel</a:t>
            </a:r>
            <a:endParaRPr lang="de-CH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11826-9277-4232-A2B5-17D05DFC7392}" type="slidenum">
              <a:rPr lang="de-CH" smtClean="0"/>
              <a:pPr/>
              <a:t>‹N›</a:t>
            </a:fld>
            <a:endParaRPr lang="de-CH" dirty="0"/>
          </a:p>
        </p:txBody>
      </p:sp>
      <p:sp>
        <p:nvSpPr>
          <p:cNvPr id="10" name="Inhaltsplatzhalter 2"/>
          <p:cNvSpPr>
            <a:spLocks noGrp="1"/>
          </p:cNvSpPr>
          <p:nvPr>
            <p:ph idx="13"/>
          </p:nvPr>
        </p:nvSpPr>
        <p:spPr>
          <a:xfrm>
            <a:off x="6166800" y="1520826"/>
            <a:ext cx="5688000" cy="4716462"/>
          </a:xfrm>
        </p:spPr>
        <p:txBody>
          <a:bodyPr/>
          <a:lstStyle>
            <a:lvl1pPr>
              <a:lnSpc>
                <a:spcPts val="2200"/>
              </a:lnSpc>
              <a:defRPr/>
            </a:lvl1pPr>
            <a:lvl2pPr>
              <a:lnSpc>
                <a:spcPts val="2200"/>
              </a:lnSpc>
              <a:defRPr/>
            </a:lvl2pPr>
            <a:lvl3pPr>
              <a:lnSpc>
                <a:spcPts val="2200"/>
              </a:lnSpc>
              <a:defRPr/>
            </a:lvl3pPr>
            <a:lvl4pPr>
              <a:lnSpc>
                <a:spcPts val="2200"/>
              </a:lnSpc>
              <a:defRPr/>
            </a:lvl4pPr>
            <a:lvl5pPr>
              <a:lnSpc>
                <a:spcPts val="2200"/>
              </a:lnSpc>
              <a:defRPr/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727836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e, mit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34800" y="404813"/>
            <a:ext cx="11521840" cy="755936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  <a:endParaRPr lang="de-CH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494800" y="1522800"/>
            <a:ext cx="7200000" cy="4716462"/>
          </a:xfrm>
        </p:spPr>
        <p:txBody>
          <a:bodyPr/>
          <a:lstStyle>
            <a:lvl1pPr>
              <a:lnSpc>
                <a:spcPts val="2200"/>
              </a:lnSpc>
              <a:defRPr/>
            </a:lvl1pPr>
            <a:lvl2pPr>
              <a:lnSpc>
                <a:spcPts val="2200"/>
              </a:lnSpc>
              <a:defRPr/>
            </a:lvl2pPr>
            <a:lvl3pPr>
              <a:lnSpc>
                <a:spcPts val="2200"/>
              </a:lnSpc>
              <a:defRPr/>
            </a:lvl3pPr>
            <a:lvl4pPr>
              <a:lnSpc>
                <a:spcPts val="2200"/>
              </a:lnSpc>
              <a:defRPr/>
            </a:lvl4pPr>
            <a:lvl5pPr>
              <a:lnSpc>
                <a:spcPts val="2200"/>
              </a:lnSpc>
              <a:defRPr/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Titel Vortrag, Autor, DD.MM.YY  </a:t>
            </a:r>
            <a:endParaRPr lang="de-CH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de-CH"/>
              <a:t>Universität Basel</a:t>
            </a:r>
            <a:endParaRPr lang="de-CH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11826-9277-4232-A2B5-17D05DFC7392}" type="slidenum">
              <a:rPr lang="de-CH" smtClean="0"/>
              <a:pPr/>
              <a:t>‹N›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565314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3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34800" y="404813"/>
            <a:ext cx="11521840" cy="755936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  <a:endParaRPr lang="de-CH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34800" y="1522800"/>
            <a:ext cx="3744000" cy="4716462"/>
          </a:xfrm>
        </p:spPr>
        <p:txBody>
          <a:bodyPr/>
          <a:lstStyle>
            <a:lvl1pPr>
              <a:lnSpc>
                <a:spcPts val="2200"/>
              </a:lnSpc>
              <a:defRPr/>
            </a:lvl1pPr>
            <a:lvl2pPr>
              <a:lnSpc>
                <a:spcPts val="2200"/>
              </a:lnSpc>
              <a:defRPr/>
            </a:lvl2pPr>
            <a:lvl3pPr>
              <a:lnSpc>
                <a:spcPts val="2200"/>
              </a:lnSpc>
              <a:defRPr/>
            </a:lvl3pPr>
            <a:lvl4pPr>
              <a:lnSpc>
                <a:spcPts val="2200"/>
              </a:lnSpc>
              <a:defRPr/>
            </a:lvl4pPr>
            <a:lvl5pPr>
              <a:lnSpc>
                <a:spcPts val="2200"/>
              </a:lnSpc>
              <a:defRPr/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Titel Vortrag, Autor, DD.MM.YY  </a:t>
            </a:r>
            <a:endParaRPr lang="de-CH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de-CH"/>
              <a:t>Universität Basel</a:t>
            </a:r>
            <a:endParaRPr lang="de-CH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11826-9277-4232-A2B5-17D05DFC7392}" type="slidenum">
              <a:rPr lang="de-CH" smtClean="0"/>
              <a:pPr/>
              <a:t>‹N›</a:t>
            </a:fld>
            <a:endParaRPr lang="de-CH" dirty="0"/>
          </a:p>
        </p:txBody>
      </p:sp>
      <p:sp>
        <p:nvSpPr>
          <p:cNvPr id="10" name="Inhaltsplatzhalter 2"/>
          <p:cNvSpPr>
            <a:spLocks noGrp="1"/>
          </p:cNvSpPr>
          <p:nvPr>
            <p:ph idx="13"/>
          </p:nvPr>
        </p:nvSpPr>
        <p:spPr>
          <a:xfrm>
            <a:off x="8110800" y="1520826"/>
            <a:ext cx="3744000" cy="4716462"/>
          </a:xfrm>
        </p:spPr>
        <p:txBody>
          <a:bodyPr/>
          <a:lstStyle>
            <a:lvl1pPr>
              <a:lnSpc>
                <a:spcPts val="2200"/>
              </a:lnSpc>
              <a:defRPr/>
            </a:lvl1pPr>
            <a:lvl2pPr>
              <a:lnSpc>
                <a:spcPts val="2200"/>
              </a:lnSpc>
              <a:defRPr/>
            </a:lvl2pPr>
            <a:lvl3pPr>
              <a:lnSpc>
                <a:spcPts val="2200"/>
              </a:lnSpc>
              <a:defRPr/>
            </a:lvl3pPr>
            <a:lvl4pPr>
              <a:lnSpc>
                <a:spcPts val="2200"/>
              </a:lnSpc>
              <a:defRPr/>
            </a:lvl4pPr>
            <a:lvl5pPr>
              <a:lnSpc>
                <a:spcPts val="2200"/>
              </a:lnSpc>
              <a:defRPr/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11" name="Inhaltsplatzhalter 2"/>
          <p:cNvSpPr>
            <a:spLocks noGrp="1"/>
          </p:cNvSpPr>
          <p:nvPr>
            <p:ph idx="14"/>
          </p:nvPr>
        </p:nvSpPr>
        <p:spPr>
          <a:xfrm>
            <a:off x="4222800" y="1520826"/>
            <a:ext cx="3744000" cy="4716462"/>
          </a:xfrm>
        </p:spPr>
        <p:txBody>
          <a:bodyPr/>
          <a:lstStyle>
            <a:lvl1pPr>
              <a:lnSpc>
                <a:spcPts val="2200"/>
              </a:lnSpc>
              <a:defRPr/>
            </a:lvl1pPr>
            <a:lvl2pPr>
              <a:lnSpc>
                <a:spcPts val="2200"/>
              </a:lnSpc>
              <a:defRPr/>
            </a:lvl2pPr>
            <a:lvl3pPr>
              <a:lnSpc>
                <a:spcPts val="2200"/>
              </a:lnSpc>
              <a:defRPr/>
            </a:lvl3pPr>
            <a:lvl4pPr>
              <a:lnSpc>
                <a:spcPts val="2200"/>
              </a:lnSpc>
              <a:defRPr/>
            </a:lvl4pPr>
            <a:lvl5pPr>
              <a:lnSpc>
                <a:spcPts val="2200"/>
              </a:lnSpc>
              <a:defRPr/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134710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Le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Titel Vortrag, Autor, DD.MM.YY  </a:t>
            </a:r>
            <a:endParaRPr lang="de-CH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de-CH"/>
              <a:t>Universität Basel</a:t>
            </a:r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11826-9277-4232-A2B5-17D05DFC7392}" type="slidenum">
              <a:rPr lang="de-CH" smtClean="0"/>
              <a:pPr/>
              <a:t>‹N›</a:t>
            </a:fld>
            <a:endParaRPr lang="de-CH" dirty="0"/>
          </a:p>
        </p:txBody>
      </p:sp>
      <p:sp>
        <p:nvSpPr>
          <p:cNvPr id="7" name="Bildplatzhalter 6"/>
          <p:cNvSpPr>
            <a:spLocks noGrp="1"/>
          </p:cNvSpPr>
          <p:nvPr>
            <p:ph type="pic" sz="quarter" idx="13"/>
          </p:nvPr>
        </p:nvSpPr>
        <p:spPr>
          <a:xfrm>
            <a:off x="334800" y="1520824"/>
            <a:ext cx="8498051" cy="3960000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CH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4"/>
          </p:nvPr>
        </p:nvSpPr>
        <p:spPr>
          <a:xfrm>
            <a:off x="8976640" y="1520827"/>
            <a:ext cx="2880000" cy="395999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51534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Titel Vortrag, Autor, DD.MM.YY  </a:t>
            </a:r>
            <a:endParaRPr lang="de-CH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de-CH"/>
              <a:t>Universität Basel</a:t>
            </a:r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11826-9277-4232-A2B5-17D05DFC7392}" type="slidenum">
              <a:rPr lang="de-CH" smtClean="0"/>
              <a:pPr/>
              <a:t>‹N›</a:t>
            </a:fld>
            <a:endParaRPr lang="de-CH" dirty="0"/>
          </a:p>
        </p:txBody>
      </p:sp>
      <p:sp>
        <p:nvSpPr>
          <p:cNvPr id="7" name="Bildplatzhalter 6"/>
          <p:cNvSpPr>
            <a:spLocks noGrp="1"/>
          </p:cNvSpPr>
          <p:nvPr>
            <p:ph type="pic" sz="quarter" idx="13"/>
          </p:nvPr>
        </p:nvSpPr>
        <p:spPr>
          <a:xfrm>
            <a:off x="334801" y="1520824"/>
            <a:ext cx="5688000" cy="2592000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CH"/>
          </a:p>
        </p:txBody>
      </p:sp>
      <p:sp>
        <p:nvSpPr>
          <p:cNvPr id="8" name="Bildplatzhalter 6"/>
          <p:cNvSpPr>
            <a:spLocks noGrp="1"/>
          </p:cNvSpPr>
          <p:nvPr>
            <p:ph type="pic" sz="quarter" idx="14"/>
          </p:nvPr>
        </p:nvSpPr>
        <p:spPr>
          <a:xfrm>
            <a:off x="6166800" y="1520825"/>
            <a:ext cx="5688000" cy="2592000"/>
          </a:xfrm>
        </p:spPr>
        <p:txBody>
          <a:bodyPr/>
          <a:lstStyle/>
          <a:p>
            <a:r>
              <a:rPr lang="de-DE" dirty="0"/>
              <a:t>Bild durch Klicken auf Symbol hinzufügen</a:t>
            </a:r>
            <a:endParaRPr lang="de-CH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5"/>
          </p:nvPr>
        </p:nvSpPr>
        <p:spPr>
          <a:xfrm>
            <a:off x="334799" y="4221088"/>
            <a:ext cx="5688000" cy="1836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10" name="Textplatzhalter 8"/>
          <p:cNvSpPr>
            <a:spLocks noGrp="1"/>
          </p:cNvSpPr>
          <p:nvPr>
            <p:ph type="body" sz="quarter" idx="16"/>
          </p:nvPr>
        </p:nvSpPr>
        <p:spPr>
          <a:xfrm>
            <a:off x="6166800" y="4221088"/>
            <a:ext cx="5688000" cy="1836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06359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Titelmasterformat durch Klicken bearbeiten</a:t>
            </a:r>
            <a:endParaRPr lang="de-CH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Titel Vortrag, Autor, DD.MM.YY  </a:t>
            </a:r>
            <a:endParaRPr lang="de-CH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de-CH"/>
              <a:t>Universität Basel</a:t>
            </a:r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11826-9277-4232-A2B5-17D05DFC7392}" type="slidenum">
              <a:rPr lang="de-CH" smtClean="0"/>
              <a:pPr/>
              <a:t>‹N›</a:t>
            </a:fld>
            <a:endParaRPr lang="de-CH" dirty="0"/>
          </a:p>
        </p:txBody>
      </p:sp>
      <p:sp>
        <p:nvSpPr>
          <p:cNvPr id="7" name="Bildplatzhalter 6"/>
          <p:cNvSpPr>
            <a:spLocks noGrp="1"/>
          </p:cNvSpPr>
          <p:nvPr>
            <p:ph type="pic" sz="quarter" idx="13"/>
          </p:nvPr>
        </p:nvSpPr>
        <p:spPr>
          <a:xfrm>
            <a:off x="334800" y="1520824"/>
            <a:ext cx="3744000" cy="3276000"/>
          </a:xfrm>
        </p:spPr>
        <p:txBody>
          <a:bodyPr/>
          <a:lstStyle/>
          <a:p>
            <a:r>
              <a:rPr lang="de-DE" dirty="0"/>
              <a:t>Bild durch Klicken auf Symbol hinzufügen</a:t>
            </a:r>
            <a:endParaRPr lang="de-CH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5"/>
          </p:nvPr>
        </p:nvSpPr>
        <p:spPr>
          <a:xfrm>
            <a:off x="334800" y="4901715"/>
            <a:ext cx="3744000" cy="1155553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11" name="Bildplatzhalter 6"/>
          <p:cNvSpPr>
            <a:spLocks noGrp="1"/>
          </p:cNvSpPr>
          <p:nvPr>
            <p:ph type="pic" sz="quarter" idx="16"/>
          </p:nvPr>
        </p:nvSpPr>
        <p:spPr>
          <a:xfrm>
            <a:off x="4224208" y="1520825"/>
            <a:ext cx="3744000" cy="3276000"/>
          </a:xfrm>
        </p:spPr>
        <p:txBody>
          <a:bodyPr/>
          <a:lstStyle/>
          <a:p>
            <a:r>
              <a:rPr lang="de-DE" dirty="0"/>
              <a:t>Bild durch Klicken auf Symbol hinzufügen</a:t>
            </a:r>
            <a:endParaRPr lang="de-CH" dirty="0"/>
          </a:p>
        </p:txBody>
      </p:sp>
      <p:sp>
        <p:nvSpPr>
          <p:cNvPr id="12" name="Textplatzhalter 8"/>
          <p:cNvSpPr>
            <a:spLocks noGrp="1"/>
          </p:cNvSpPr>
          <p:nvPr>
            <p:ph type="body" sz="quarter" idx="17"/>
          </p:nvPr>
        </p:nvSpPr>
        <p:spPr>
          <a:xfrm>
            <a:off x="4219199" y="4901716"/>
            <a:ext cx="3744000" cy="1155553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13" name="Bildplatzhalter 6"/>
          <p:cNvSpPr>
            <a:spLocks noGrp="1"/>
          </p:cNvSpPr>
          <p:nvPr>
            <p:ph type="pic" sz="quarter" idx="18"/>
          </p:nvPr>
        </p:nvSpPr>
        <p:spPr>
          <a:xfrm>
            <a:off x="8112640" y="1524273"/>
            <a:ext cx="3744000" cy="3276000"/>
          </a:xfrm>
        </p:spPr>
        <p:txBody>
          <a:bodyPr/>
          <a:lstStyle/>
          <a:p>
            <a:r>
              <a:rPr lang="de-DE" dirty="0"/>
              <a:t>Bild durch Klicken auf Symbol hinzufügen</a:t>
            </a:r>
            <a:endParaRPr lang="de-CH" dirty="0"/>
          </a:p>
        </p:txBody>
      </p:sp>
      <p:sp>
        <p:nvSpPr>
          <p:cNvPr id="14" name="Textplatzhalter 8"/>
          <p:cNvSpPr>
            <a:spLocks noGrp="1"/>
          </p:cNvSpPr>
          <p:nvPr>
            <p:ph type="body" sz="quarter" idx="19"/>
          </p:nvPr>
        </p:nvSpPr>
        <p:spPr>
          <a:xfrm>
            <a:off x="8114400" y="4905164"/>
            <a:ext cx="3744000" cy="1155553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565054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(gros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Titel Vortrag, Autor, DD.MM.YY  </a:t>
            </a:r>
            <a:endParaRPr lang="de-CH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de-CH"/>
              <a:t>Universität Basel</a:t>
            </a:r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11826-9277-4232-A2B5-17D05DFC7392}" type="slidenum">
              <a:rPr lang="de-CH" smtClean="0"/>
              <a:pPr/>
              <a:t>‹N›</a:t>
            </a:fld>
            <a:endParaRPr lang="de-CH" dirty="0"/>
          </a:p>
        </p:txBody>
      </p:sp>
      <p:sp>
        <p:nvSpPr>
          <p:cNvPr id="7" name="Bildplatzhalter 6"/>
          <p:cNvSpPr>
            <a:spLocks noGrp="1"/>
          </p:cNvSpPr>
          <p:nvPr>
            <p:ph type="pic" sz="quarter" idx="13"/>
          </p:nvPr>
        </p:nvSpPr>
        <p:spPr>
          <a:xfrm>
            <a:off x="334800" y="334800"/>
            <a:ext cx="11521840" cy="5112000"/>
          </a:xfrm>
        </p:spPr>
        <p:txBody>
          <a:bodyPr/>
          <a:lstStyle/>
          <a:p>
            <a:r>
              <a:rPr lang="de-DE" dirty="0"/>
              <a:t>Bild durch Klicken auf Symbol hinzufügen</a:t>
            </a:r>
            <a:endParaRPr lang="de-CH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4"/>
          </p:nvPr>
        </p:nvSpPr>
        <p:spPr>
          <a:xfrm>
            <a:off x="334800" y="5554800"/>
            <a:ext cx="11521839" cy="61204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001246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 (Vollfläch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0052805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CH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Titel Vortrag, Autor, DD.MM.YY  </a:t>
            </a:r>
            <a:endParaRPr lang="de-CH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de-CH"/>
              <a:t>Universität Basel</a:t>
            </a:r>
            <a:endParaRPr lang="de-CH" dirty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11826-9277-4232-A2B5-17D05DFC7392}" type="slidenum">
              <a:rPr lang="de-CH" smtClean="0"/>
              <a:pPr/>
              <a:t>‹N›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20324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Titel Vortrag, Autor, DD.MM.YY  </a:t>
            </a:r>
            <a:endParaRPr lang="de-CH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de-CH"/>
              <a:t>Universität Basel</a:t>
            </a:r>
            <a:endParaRPr lang="de-CH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11826-9277-4232-A2B5-17D05DFC7392}" type="slidenum">
              <a:rPr lang="de-CH" smtClean="0"/>
              <a:pPr/>
              <a:t>‹N›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81834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335360" y="404813"/>
            <a:ext cx="11521280" cy="75593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CH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35360" y="1520826"/>
            <a:ext cx="11521280" cy="471646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CH" dirty="0"/>
              <a:t>Textmasterformat bearbeiten</a:t>
            </a:r>
          </a:p>
          <a:p>
            <a:pPr lvl="1"/>
            <a:r>
              <a:rPr lang="de-CH" dirty="0"/>
              <a:t>Zweite Ebene</a:t>
            </a:r>
          </a:p>
          <a:p>
            <a:pPr lvl="2"/>
            <a:r>
              <a:rPr lang="de-CH" dirty="0"/>
              <a:t>Dritte Ebene</a:t>
            </a:r>
          </a:p>
          <a:p>
            <a:pPr lvl="3"/>
            <a:r>
              <a:rPr lang="de-CH" dirty="0"/>
              <a:t>Vierte Ebene</a:t>
            </a:r>
          </a:p>
          <a:p>
            <a:pPr lvl="4"/>
            <a:r>
              <a:rPr lang="de-CH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334800" y="6524626"/>
            <a:ext cx="2878667" cy="180000"/>
          </a:xfrm>
          <a:prstGeom prst="rect">
            <a:avLst/>
          </a:prstGeom>
        </p:spPr>
        <p:txBody>
          <a:bodyPr vert="horz" lIns="0" tIns="21600" rIns="0" bIns="0" rtlCol="0" anchor="t" anchorCtr="0"/>
          <a:lstStyle>
            <a:lvl1pPr algn="l">
              <a:defRPr sz="600">
                <a:solidFill>
                  <a:schemeClr val="tx1"/>
                </a:solidFill>
              </a:defRPr>
            </a:lvl1pPr>
          </a:lstStyle>
          <a:p>
            <a:r>
              <a:rPr lang="de-CH" dirty="0"/>
              <a:t>Titel Vortrag, Autor, DD.MM.YY  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120682" y="6525344"/>
            <a:ext cx="2544283" cy="180000"/>
          </a:xfrm>
          <a:prstGeom prst="rect">
            <a:avLst/>
          </a:prstGeom>
        </p:spPr>
        <p:txBody>
          <a:bodyPr vert="horz" lIns="0" tIns="21600" rIns="0" bIns="0" rtlCol="0" anchor="t" anchorCtr="0"/>
          <a:lstStyle>
            <a:lvl1pPr algn="ctr">
              <a:defRPr sz="600" b="1">
                <a:solidFill>
                  <a:schemeClr val="tx1"/>
                </a:solidFill>
              </a:defRPr>
            </a:lvl1pPr>
          </a:lstStyle>
          <a:p>
            <a:pPr algn="r"/>
            <a:r>
              <a:rPr lang="de-CH" dirty="0"/>
              <a:t>Universität Basel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664965" y="6525344"/>
            <a:ext cx="191675" cy="180000"/>
          </a:xfrm>
          <a:prstGeom prst="rect">
            <a:avLst/>
          </a:prstGeom>
        </p:spPr>
        <p:txBody>
          <a:bodyPr vert="horz" lIns="0" tIns="21600" rIns="0" bIns="0" rtlCol="0" anchor="t" anchorCtr="0"/>
          <a:lstStyle>
            <a:lvl1pPr algn="r">
              <a:defRPr sz="600">
                <a:solidFill>
                  <a:schemeClr val="tx1"/>
                </a:solidFill>
              </a:defRPr>
            </a:lvl1pPr>
          </a:lstStyle>
          <a:p>
            <a:fld id="{B3811826-9277-4232-A2B5-17D05DFC7392}" type="slidenum">
              <a:rPr lang="de-CH" smtClean="0"/>
              <a:pPr/>
              <a:t>‹N›</a:t>
            </a:fld>
            <a:endParaRPr lang="de-CH" dirty="0"/>
          </a:p>
        </p:txBody>
      </p:sp>
      <p:cxnSp>
        <p:nvCxnSpPr>
          <p:cNvPr id="10" name="Gerade Verbindung 9"/>
          <p:cNvCxnSpPr/>
          <p:nvPr/>
        </p:nvCxnSpPr>
        <p:spPr>
          <a:xfrm>
            <a:off x="334800" y="6453188"/>
            <a:ext cx="11521840" cy="148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507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0" r:id="rId3"/>
    <p:sldLayoutId id="2147483663" r:id="rId4"/>
    <p:sldLayoutId id="2147483665" r:id="rId5"/>
    <p:sldLayoutId id="2147483664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54" r:id="rId12"/>
    <p:sldLayoutId id="2147483655" r:id="rId13"/>
  </p:sldLayoutIdLst>
  <p:hf hdr="0"/>
  <p:txStyles>
    <p:titleStyle>
      <a:lvl1pPr algn="l" defTabSz="914400" rtl="0" eaLnBrk="1" latinLnBrk="0" hangingPunct="1">
        <a:lnSpc>
          <a:spcPts val="2500"/>
        </a:lnSpc>
        <a:spcBef>
          <a:spcPct val="0"/>
        </a:spcBef>
        <a:buNone/>
        <a:defRPr sz="23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ts val="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spcBef>
          <a:spcPts val="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spcBef>
          <a:spcPts val="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spcBef>
          <a:spcPts val="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spcBef>
          <a:spcPts val="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recophy.unibas.ch/dashboard/data_rsa1kr0k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838800" y="1376363"/>
            <a:ext cx="9067800" cy="1044526"/>
          </a:xfrm>
        </p:spPr>
        <p:txBody>
          <a:bodyPr/>
          <a:lstStyle/>
          <a:p>
            <a:r>
              <a:rPr lang="de-CH" dirty="0"/>
              <a:t>BZRS 2026</a:t>
            </a:r>
            <a:br>
              <a:rPr lang="de-CH" dirty="0"/>
            </a:br>
            <a:r>
              <a:rPr lang="de-CH" sz="2000" i="1" dirty="0" err="1"/>
              <a:t>E.Coli</a:t>
            </a:r>
            <a:r>
              <a:rPr lang="de-CH" sz="2000" i="1" dirty="0"/>
              <a:t> </a:t>
            </a:r>
            <a:r>
              <a:rPr lang="de-CH" sz="2000" i="1" dirty="0" err="1"/>
              <a:t>short</a:t>
            </a:r>
            <a:r>
              <a:rPr lang="de-CH" sz="2000" i="1" dirty="0"/>
              <a:t>-term </a:t>
            </a:r>
            <a:r>
              <a:rPr lang="de-CH" sz="2000" dirty="0" err="1"/>
              <a:t>gene</a:t>
            </a:r>
            <a:r>
              <a:rPr lang="de-CH" sz="2000" dirty="0"/>
              <a:t> </a:t>
            </a:r>
            <a:r>
              <a:rPr lang="de-CH" sz="2000" dirty="0" err="1"/>
              <a:t>expression</a:t>
            </a:r>
            <a:r>
              <a:rPr lang="de-CH" sz="2000" dirty="0"/>
              <a:t> and </a:t>
            </a:r>
            <a:r>
              <a:rPr lang="de-CH" sz="2000" dirty="0" err="1"/>
              <a:t>evolution</a:t>
            </a:r>
            <a:r>
              <a:rPr lang="de-CH" sz="2000" dirty="0"/>
              <a:t> </a:t>
            </a:r>
            <a:r>
              <a:rPr lang="de-CH" sz="2000" dirty="0" err="1"/>
              <a:t>dynamics</a:t>
            </a:r>
            <a:r>
              <a:rPr lang="de-CH" sz="2000" dirty="0"/>
              <a:t> </a:t>
            </a:r>
            <a:br>
              <a:rPr lang="de-CH" sz="2800" dirty="0"/>
            </a:br>
            <a:br>
              <a:rPr lang="de-CH" sz="2800" dirty="0"/>
            </a:br>
            <a:endParaRPr lang="de-CH" sz="2800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CH" dirty="0"/>
              <a:t>Tommaso Cappelli, van Nimwegen </a:t>
            </a:r>
            <a:r>
              <a:rPr lang="de-CH" dirty="0" err="1"/>
              <a:t>research</a:t>
            </a:r>
            <a:r>
              <a:rPr lang="de-CH" dirty="0"/>
              <a:t> </a:t>
            </a:r>
            <a:r>
              <a:rPr lang="de-CH" dirty="0" err="1"/>
              <a:t>group</a:t>
            </a:r>
            <a:r>
              <a:rPr lang="de-CH" dirty="0"/>
              <a:t>, 24/08/2026</a:t>
            </a:r>
          </a:p>
        </p:txBody>
      </p:sp>
    </p:spTree>
    <p:extLst>
      <p:ext uri="{BB962C8B-B14F-4D97-AF65-F5344CB8AC3E}">
        <p14:creationId xmlns:p14="http://schemas.microsoft.com/office/powerpoint/2010/main" val="4263546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Overview</a:t>
            </a:r>
            <a:br>
              <a:rPr lang="de-CH" dirty="0"/>
            </a:br>
            <a:r>
              <a:rPr lang="de-CH" sz="1600" dirty="0" err="1"/>
              <a:t>What</a:t>
            </a:r>
            <a:r>
              <a:rPr lang="de-CH" sz="1600" dirty="0"/>
              <a:t> </a:t>
            </a:r>
            <a:r>
              <a:rPr lang="de-CH" sz="1600" dirty="0" err="1"/>
              <a:t>were</a:t>
            </a:r>
            <a:r>
              <a:rPr lang="de-CH" sz="1600" dirty="0"/>
              <a:t> the </a:t>
            </a:r>
            <a:r>
              <a:rPr lang="de-CH" sz="1600" dirty="0" err="1"/>
              <a:t>most</a:t>
            </a:r>
            <a:r>
              <a:rPr lang="de-CH" sz="1600" dirty="0"/>
              <a:t> </a:t>
            </a:r>
            <a:r>
              <a:rPr lang="de-CH" sz="1600" dirty="0" err="1"/>
              <a:t>striking</a:t>
            </a:r>
            <a:r>
              <a:rPr lang="de-CH" sz="1600" dirty="0"/>
              <a:t> </a:t>
            </a:r>
            <a:r>
              <a:rPr lang="de-CH" sz="1600" dirty="0" err="1"/>
              <a:t>results</a:t>
            </a:r>
            <a:r>
              <a:rPr lang="de-CH" sz="1600" dirty="0"/>
              <a:t>?</a:t>
            </a:r>
            <a:endParaRPr lang="de-CH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de-CH"/>
              <a:t>Universität Basel</a:t>
            </a:r>
            <a:endParaRPr lang="de-CH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11826-9277-4232-A2B5-17D05DFC7392}" type="slidenum">
              <a:rPr lang="de-CH" smtClean="0"/>
              <a:pPr/>
              <a:t>2</a:t>
            </a:fld>
            <a:endParaRPr lang="de-CH" dirty="0"/>
          </a:p>
        </p:txBody>
      </p:sp>
      <p:cxnSp>
        <p:nvCxnSpPr>
          <p:cNvPr id="8" name="Gerade Verbindung 7"/>
          <p:cNvCxnSpPr/>
          <p:nvPr/>
        </p:nvCxnSpPr>
        <p:spPr>
          <a:xfrm>
            <a:off x="334800" y="1520825"/>
            <a:ext cx="11521840" cy="0"/>
          </a:xfrm>
          <a:prstGeom prst="line">
            <a:avLst/>
          </a:prstGeom>
          <a:ln w="254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Inhaltsplatzhalter 2"/>
          <p:cNvSpPr txBox="1">
            <a:spLocks/>
          </p:cNvSpPr>
          <p:nvPr/>
        </p:nvSpPr>
        <p:spPr>
          <a:xfrm>
            <a:off x="8112125" y="1664804"/>
            <a:ext cx="3744913" cy="457248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22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ts val="22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ts val="22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ts val="22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ts val="22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CH" dirty="0"/>
          </a:p>
        </p:txBody>
      </p:sp>
      <p:sp>
        <p:nvSpPr>
          <p:cNvPr id="10" name="Inhaltsplatzhalter 2"/>
          <p:cNvSpPr txBox="1">
            <a:spLocks/>
          </p:cNvSpPr>
          <p:nvPr/>
        </p:nvSpPr>
        <p:spPr>
          <a:xfrm>
            <a:off x="4224340" y="1664804"/>
            <a:ext cx="3743323" cy="457248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22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ts val="22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ts val="22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ts val="22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ts val="22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CH" dirty="0"/>
          </a:p>
        </p:txBody>
      </p:sp>
      <p:sp>
        <p:nvSpPr>
          <p:cNvPr id="18" name="Datumsplatzhalter 3">
            <a:extLst>
              <a:ext uri="{FF2B5EF4-FFF2-40B4-BE49-F238E27FC236}">
                <a16:creationId xmlns:a16="http://schemas.microsoft.com/office/drawing/2014/main" id="{8C783412-8667-36D1-4C69-4BE3C5EEC6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800" y="6524626"/>
            <a:ext cx="2878667" cy="180000"/>
          </a:xfrm>
        </p:spPr>
        <p:txBody>
          <a:bodyPr/>
          <a:lstStyle/>
          <a:p>
            <a:r>
              <a:rPr lang="de-CH" dirty="0"/>
              <a:t>Tommaso Cappelli, 24.08.2026</a:t>
            </a:r>
          </a:p>
        </p:txBody>
      </p:sp>
      <p:grpSp>
        <p:nvGrpSpPr>
          <p:cNvPr id="12" name="Google Shape;11076;p83">
            <a:extLst>
              <a:ext uri="{FF2B5EF4-FFF2-40B4-BE49-F238E27FC236}">
                <a16:creationId xmlns:a16="http://schemas.microsoft.com/office/drawing/2014/main" id="{2745A9B3-F13F-258B-2D70-8AF5B2458CC7}"/>
              </a:ext>
            </a:extLst>
          </p:cNvPr>
          <p:cNvGrpSpPr>
            <a:grpSpLocks noChangeAspect="1"/>
          </p:cNvGrpSpPr>
          <p:nvPr/>
        </p:nvGrpSpPr>
        <p:grpSpPr>
          <a:xfrm>
            <a:off x="1487488" y="1827928"/>
            <a:ext cx="9217024" cy="4305580"/>
            <a:chOff x="238125" y="1188750"/>
            <a:chExt cx="7140450" cy="3335550"/>
          </a:xfrm>
        </p:grpSpPr>
        <p:sp>
          <p:nvSpPr>
            <p:cNvPr id="13" name="Google Shape;11077;p83">
              <a:extLst>
                <a:ext uri="{FF2B5EF4-FFF2-40B4-BE49-F238E27FC236}">
                  <a16:creationId xmlns:a16="http://schemas.microsoft.com/office/drawing/2014/main" id="{359BFB8F-7233-E307-0B85-769F5581FBA0}"/>
                </a:ext>
              </a:extLst>
            </p:cNvPr>
            <p:cNvSpPr/>
            <p:nvPr/>
          </p:nvSpPr>
          <p:spPr>
            <a:xfrm>
              <a:off x="238125" y="1188750"/>
              <a:ext cx="3507025" cy="1584000"/>
            </a:xfrm>
            <a:custGeom>
              <a:avLst/>
              <a:gdLst/>
              <a:ahLst/>
              <a:cxnLst/>
              <a:rect l="l" t="t" r="r" b="b"/>
              <a:pathLst>
                <a:path w="140281" h="63360" extrusionOk="0">
                  <a:moveTo>
                    <a:pt x="4021" y="0"/>
                  </a:moveTo>
                  <a:cubicBezTo>
                    <a:pt x="1801" y="6"/>
                    <a:pt x="6" y="1801"/>
                    <a:pt x="0" y="4021"/>
                  </a:cubicBezTo>
                  <a:lnTo>
                    <a:pt x="0" y="59338"/>
                  </a:lnTo>
                  <a:cubicBezTo>
                    <a:pt x="6" y="61552"/>
                    <a:pt x="1801" y="63354"/>
                    <a:pt x="4021" y="63359"/>
                  </a:cubicBezTo>
                  <a:lnTo>
                    <a:pt x="98272" y="63359"/>
                  </a:lnTo>
                  <a:cubicBezTo>
                    <a:pt x="99963" y="41512"/>
                    <a:pt x="118098" y="24204"/>
                    <a:pt x="140280" y="23813"/>
                  </a:cubicBezTo>
                  <a:lnTo>
                    <a:pt x="140280" y="4021"/>
                  </a:lnTo>
                  <a:cubicBezTo>
                    <a:pt x="140275" y="1801"/>
                    <a:pt x="138474" y="6"/>
                    <a:pt x="136259" y="0"/>
                  </a:cubicBezTo>
                  <a:close/>
                </a:path>
              </a:pathLst>
            </a:custGeom>
            <a:gradFill>
              <a:gsLst>
                <a:gs pos="34000">
                  <a:srgbClr val="C00000"/>
                </a:gs>
                <a:gs pos="0">
                  <a:srgbClr val="7030A0"/>
                </a:gs>
              </a:gsLst>
              <a:lin ang="5400000" scaled="1"/>
            </a:gradFill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600" dirty="0" err="1">
                  <a:solidFill>
                    <a:srgbClr val="A5D7D2"/>
                  </a:solidFill>
                </a:rPr>
                <a:t>Studying</a:t>
              </a:r>
              <a:r>
                <a:rPr lang="it-IT" sz="1600" dirty="0">
                  <a:solidFill>
                    <a:srgbClr val="A5D7D2"/>
                  </a:solidFill>
                </a:rPr>
                <a:t> the </a:t>
              </a:r>
              <a:r>
                <a:rPr lang="it-IT" sz="1600" dirty="0" err="1">
                  <a:solidFill>
                    <a:srgbClr val="A5D7D2"/>
                  </a:solidFill>
                </a:rPr>
                <a:t>effect</a:t>
              </a:r>
              <a:r>
                <a:rPr lang="it-IT" sz="1600" dirty="0">
                  <a:solidFill>
                    <a:srgbClr val="A5D7D2"/>
                  </a:solidFill>
                </a:rPr>
                <a:t> of </a:t>
              </a:r>
              <a:r>
                <a:rPr lang="it-IT" sz="1600" dirty="0" err="1">
                  <a:solidFill>
                    <a:srgbClr val="A5D7D2"/>
                  </a:solidFill>
                </a:rPr>
                <a:t>viral</a:t>
              </a:r>
              <a:r>
                <a:rPr lang="it-IT" sz="1600" dirty="0">
                  <a:solidFill>
                    <a:srgbClr val="A5D7D2"/>
                  </a:solidFill>
                </a:rPr>
                <a:t> 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600" dirty="0" err="1">
                  <a:solidFill>
                    <a:srgbClr val="A5D7D2"/>
                  </a:solidFill>
                </a:rPr>
                <a:t>genome</a:t>
              </a:r>
              <a:r>
                <a:rPr lang="it-IT" sz="1600" dirty="0">
                  <a:solidFill>
                    <a:srgbClr val="A5D7D2"/>
                  </a:solidFill>
                </a:rPr>
                <a:t> </a:t>
              </a:r>
              <a:r>
                <a:rPr lang="it-IT" sz="1600" dirty="0" err="1">
                  <a:solidFill>
                    <a:srgbClr val="A5D7D2"/>
                  </a:solidFill>
                </a:rPr>
                <a:t>activation</a:t>
              </a:r>
              <a:r>
                <a:rPr lang="it-IT" sz="1600" dirty="0">
                  <a:solidFill>
                    <a:srgbClr val="A5D7D2"/>
                  </a:solidFill>
                </a:rPr>
                <a:t> 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600" dirty="0">
                  <a:solidFill>
                    <a:srgbClr val="A5D7D2"/>
                  </a:solidFill>
                </a:rPr>
                <a:t>in competitive, short-</a:t>
              </a:r>
              <a:r>
                <a:rPr lang="it-IT" sz="1600" dirty="0" err="1">
                  <a:solidFill>
                    <a:srgbClr val="A5D7D2"/>
                  </a:solidFill>
                </a:rPr>
                <a:t>term</a:t>
              </a:r>
              <a:r>
                <a:rPr lang="it-IT" sz="1600" dirty="0">
                  <a:solidFill>
                    <a:srgbClr val="A5D7D2"/>
                  </a:solidFill>
                </a:rPr>
                <a:t>, multi strain, 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600" i="1" dirty="0" err="1">
                  <a:solidFill>
                    <a:srgbClr val="A5D7D2"/>
                  </a:solidFill>
                </a:rPr>
                <a:t>E.Coli</a:t>
              </a:r>
              <a:r>
                <a:rPr lang="it-IT" sz="1600" i="1" dirty="0">
                  <a:solidFill>
                    <a:srgbClr val="A5D7D2"/>
                  </a:solidFill>
                </a:rPr>
                <a:t> </a:t>
              </a:r>
              <a:r>
                <a:rPr lang="it-IT" sz="1600" dirty="0" err="1">
                  <a:solidFill>
                    <a:srgbClr val="A5D7D2"/>
                  </a:solidFill>
                </a:rPr>
                <a:t>environment</a:t>
              </a:r>
              <a:endParaRPr lang="it-IT" sz="1600" dirty="0">
                <a:solidFill>
                  <a:srgbClr val="A5D7D2"/>
                </a:solidFill>
              </a:endParaRPr>
            </a:p>
          </p:txBody>
        </p:sp>
        <p:sp>
          <p:nvSpPr>
            <p:cNvPr id="14" name="Google Shape;11078;p83">
              <a:extLst>
                <a:ext uri="{FF2B5EF4-FFF2-40B4-BE49-F238E27FC236}">
                  <a16:creationId xmlns:a16="http://schemas.microsoft.com/office/drawing/2014/main" id="{16C0418C-69FF-FB76-6308-3A176EA383AE}"/>
                </a:ext>
              </a:extLst>
            </p:cNvPr>
            <p:cNvSpPr/>
            <p:nvPr/>
          </p:nvSpPr>
          <p:spPr>
            <a:xfrm>
              <a:off x="238125" y="2940300"/>
              <a:ext cx="3507025" cy="1584000"/>
            </a:xfrm>
            <a:custGeom>
              <a:avLst/>
              <a:gdLst/>
              <a:ahLst/>
              <a:cxnLst/>
              <a:rect l="l" t="t" r="r" b="b"/>
              <a:pathLst>
                <a:path w="140281" h="63360" extrusionOk="0">
                  <a:moveTo>
                    <a:pt x="4021" y="1"/>
                  </a:moveTo>
                  <a:cubicBezTo>
                    <a:pt x="1801" y="6"/>
                    <a:pt x="6" y="1808"/>
                    <a:pt x="0" y="4022"/>
                  </a:cubicBezTo>
                  <a:lnTo>
                    <a:pt x="0" y="59339"/>
                  </a:lnTo>
                  <a:cubicBezTo>
                    <a:pt x="6" y="61559"/>
                    <a:pt x="1801" y="63354"/>
                    <a:pt x="4021" y="63360"/>
                  </a:cubicBezTo>
                  <a:lnTo>
                    <a:pt x="136259" y="63360"/>
                  </a:lnTo>
                  <a:cubicBezTo>
                    <a:pt x="138474" y="63354"/>
                    <a:pt x="140275" y="61559"/>
                    <a:pt x="140280" y="59339"/>
                  </a:cubicBezTo>
                  <a:lnTo>
                    <a:pt x="140280" y="39547"/>
                  </a:lnTo>
                  <a:cubicBezTo>
                    <a:pt x="118098" y="39155"/>
                    <a:pt x="99963" y="21848"/>
                    <a:pt x="98272" y="1"/>
                  </a:cubicBezTo>
                  <a:close/>
                </a:path>
              </a:pathLst>
            </a:custGeom>
            <a:gradFill>
              <a:gsLst>
                <a:gs pos="100000">
                  <a:srgbClr val="A48FC6"/>
                </a:gs>
                <a:gs pos="44000">
                  <a:srgbClr val="C00000"/>
                </a:gs>
                <a:gs pos="100000">
                  <a:srgbClr val="A5D7D2"/>
                </a:gs>
              </a:gsLst>
              <a:lin ang="5400000" scaled="1"/>
            </a:gradFill>
            <a:ln w="9525" cap="flat" cmpd="sng">
              <a:solidFill>
                <a:srgbClr val="869FB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lvl="0"/>
              <a:r>
                <a:rPr lang="de-CH" sz="1600" dirty="0">
                  <a:solidFill>
                    <a:srgbClr val="A5D7D2"/>
                  </a:solidFill>
                </a:rPr>
                <a:t>Computational </a:t>
              </a:r>
              <a:r>
                <a:rPr lang="de-CH" sz="1600" dirty="0" err="1">
                  <a:solidFill>
                    <a:srgbClr val="A5D7D2"/>
                  </a:solidFill>
                </a:rPr>
                <a:t>analysis</a:t>
              </a:r>
              <a:r>
                <a:rPr lang="de-CH" sz="1600" dirty="0">
                  <a:solidFill>
                    <a:srgbClr val="A5D7D2"/>
                  </a:solidFill>
                </a:rPr>
                <a:t> of 92 </a:t>
              </a:r>
              <a:r>
                <a:rPr lang="de-CH" sz="1600" i="1" dirty="0" err="1">
                  <a:solidFill>
                    <a:srgbClr val="A5D7D2"/>
                  </a:solidFill>
                </a:rPr>
                <a:t>E.Coli</a:t>
              </a:r>
              <a:r>
                <a:rPr lang="de-CH" sz="1600" i="1" dirty="0">
                  <a:solidFill>
                    <a:srgbClr val="A5D7D2"/>
                  </a:solidFill>
                </a:rPr>
                <a:t> </a:t>
              </a:r>
            </a:p>
            <a:p>
              <a:pPr lvl="0"/>
              <a:r>
                <a:rPr lang="de-CH" sz="1600" dirty="0" err="1">
                  <a:solidFill>
                    <a:srgbClr val="A5D7D2"/>
                  </a:solidFill>
                </a:rPr>
                <a:t>strains</a:t>
              </a:r>
              <a:r>
                <a:rPr lang="de-CH" sz="1600" dirty="0">
                  <a:solidFill>
                    <a:srgbClr val="A5D7D2"/>
                  </a:solidFill>
                </a:rPr>
                <a:t> </a:t>
              </a:r>
              <a:r>
                <a:rPr lang="de-CH" sz="1600" dirty="0" err="1">
                  <a:solidFill>
                    <a:srgbClr val="A5D7D2"/>
                  </a:solidFill>
                </a:rPr>
                <a:t>core</a:t>
              </a:r>
              <a:r>
                <a:rPr lang="de-CH" sz="1600" dirty="0">
                  <a:solidFill>
                    <a:srgbClr val="A5D7D2"/>
                  </a:solidFill>
                </a:rPr>
                <a:t> </a:t>
              </a:r>
              <a:r>
                <a:rPr lang="de-CH" sz="1600" dirty="0" err="1">
                  <a:solidFill>
                    <a:srgbClr val="A5D7D2"/>
                  </a:solidFill>
                </a:rPr>
                <a:t>genomes</a:t>
              </a:r>
              <a:r>
                <a:rPr lang="de-CH" sz="1600" dirty="0">
                  <a:solidFill>
                    <a:srgbClr val="A5D7D2"/>
                  </a:solidFill>
                </a:rPr>
                <a:t> to </a:t>
              </a:r>
              <a:r>
                <a:rPr lang="de-CH" sz="1600" dirty="0" err="1">
                  <a:solidFill>
                    <a:srgbClr val="A5D7D2"/>
                  </a:solidFill>
                </a:rPr>
                <a:t>understand</a:t>
              </a:r>
              <a:r>
                <a:rPr lang="de-CH" sz="1600" dirty="0">
                  <a:solidFill>
                    <a:srgbClr val="A5D7D2"/>
                  </a:solidFill>
                </a:rPr>
                <a:t> </a:t>
              </a:r>
            </a:p>
            <a:p>
              <a:pPr lvl="0"/>
              <a:r>
                <a:rPr lang="de-CH" sz="1600" dirty="0">
                  <a:solidFill>
                    <a:srgbClr val="A5D7D2"/>
                  </a:solidFill>
                </a:rPr>
                <a:t>the </a:t>
              </a:r>
              <a:r>
                <a:rPr lang="de-CH" sz="1600" dirty="0" err="1">
                  <a:solidFill>
                    <a:srgbClr val="A5D7D2"/>
                  </a:solidFill>
                </a:rPr>
                <a:t>impact</a:t>
              </a:r>
              <a:r>
                <a:rPr lang="de-CH" sz="1600" dirty="0">
                  <a:solidFill>
                    <a:srgbClr val="A5D7D2"/>
                  </a:solidFill>
                </a:rPr>
                <a:t> of </a:t>
              </a:r>
              <a:r>
                <a:rPr lang="de-CH" sz="1600" dirty="0" err="1">
                  <a:solidFill>
                    <a:srgbClr val="A5D7D2"/>
                  </a:solidFill>
                </a:rPr>
                <a:t>clonal</a:t>
              </a:r>
              <a:r>
                <a:rPr lang="de-CH" sz="1600" dirty="0">
                  <a:solidFill>
                    <a:srgbClr val="A5D7D2"/>
                  </a:solidFill>
                </a:rPr>
                <a:t> </a:t>
              </a:r>
              <a:r>
                <a:rPr lang="de-CH" sz="1600" dirty="0" err="1">
                  <a:solidFill>
                    <a:srgbClr val="A5D7D2"/>
                  </a:solidFill>
                </a:rPr>
                <a:t>interference</a:t>
              </a:r>
              <a:r>
                <a:rPr lang="de-CH" sz="1600" dirty="0">
                  <a:solidFill>
                    <a:srgbClr val="A5D7D2"/>
                  </a:solidFill>
                </a:rPr>
                <a:t> and </a:t>
              </a:r>
              <a:r>
                <a:rPr lang="de-CH" sz="1600" dirty="0" err="1">
                  <a:solidFill>
                    <a:srgbClr val="A5D7D2"/>
                  </a:solidFill>
                </a:rPr>
                <a:t>recombination</a:t>
              </a:r>
              <a:endParaRPr sz="1600" dirty="0">
                <a:solidFill>
                  <a:srgbClr val="A5D7D2"/>
                </a:solidFill>
              </a:endParaRPr>
            </a:p>
          </p:txBody>
        </p:sp>
        <p:sp>
          <p:nvSpPr>
            <p:cNvPr id="15" name="Google Shape;11079;p83">
              <a:extLst>
                <a:ext uri="{FF2B5EF4-FFF2-40B4-BE49-F238E27FC236}">
                  <a16:creationId xmlns:a16="http://schemas.microsoft.com/office/drawing/2014/main" id="{A97D5CB0-67B7-2F1E-01B3-15E7E360C337}"/>
                </a:ext>
              </a:extLst>
            </p:cNvPr>
            <p:cNvSpPr/>
            <p:nvPr/>
          </p:nvSpPr>
          <p:spPr>
            <a:xfrm>
              <a:off x="3871550" y="1188750"/>
              <a:ext cx="3507025" cy="1584000"/>
            </a:xfrm>
            <a:custGeom>
              <a:avLst/>
              <a:gdLst/>
              <a:ahLst/>
              <a:cxnLst/>
              <a:rect l="l" t="t" r="r" b="b"/>
              <a:pathLst>
                <a:path w="140281" h="63360" extrusionOk="0">
                  <a:moveTo>
                    <a:pt x="4022" y="0"/>
                  </a:moveTo>
                  <a:cubicBezTo>
                    <a:pt x="1807" y="6"/>
                    <a:pt x="6" y="1801"/>
                    <a:pt x="0" y="4021"/>
                  </a:cubicBezTo>
                  <a:lnTo>
                    <a:pt x="0" y="24017"/>
                  </a:lnTo>
                  <a:cubicBezTo>
                    <a:pt x="20553" y="26066"/>
                    <a:pt x="36886" y="42675"/>
                    <a:pt x="38494" y="63359"/>
                  </a:cubicBezTo>
                  <a:lnTo>
                    <a:pt x="136260" y="63359"/>
                  </a:lnTo>
                  <a:cubicBezTo>
                    <a:pt x="138480" y="63354"/>
                    <a:pt x="140275" y="61552"/>
                    <a:pt x="140281" y="59338"/>
                  </a:cubicBezTo>
                  <a:lnTo>
                    <a:pt x="140281" y="4021"/>
                  </a:lnTo>
                  <a:cubicBezTo>
                    <a:pt x="140275" y="1801"/>
                    <a:pt x="138480" y="6"/>
                    <a:pt x="136260" y="0"/>
                  </a:cubicBezTo>
                  <a:close/>
                </a:path>
              </a:pathLst>
            </a:custGeom>
            <a:gradFill>
              <a:gsLst>
                <a:gs pos="41000">
                  <a:srgbClr val="FCEB0C"/>
                </a:gs>
                <a:gs pos="0">
                  <a:srgbClr val="7030A0"/>
                </a:gs>
              </a:gsLst>
              <a:lin ang="5400000" scaled="1"/>
            </a:gradFill>
            <a:ln w="9525" cap="flat" cmpd="sng">
              <a:solidFill>
                <a:srgbClr val="869FB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600" dirty="0">
                  <a:solidFill>
                    <a:schemeClr val="tx2">
                      <a:lumMod val="50000"/>
                    </a:schemeClr>
                  </a:solidFill>
                </a:rPr>
                <a:t>Analysis of </a:t>
              </a:r>
              <a:r>
                <a:rPr lang="it-IT" sz="1600" i="1" dirty="0" err="1">
                  <a:solidFill>
                    <a:schemeClr val="tx2">
                      <a:lumMod val="50000"/>
                    </a:schemeClr>
                  </a:solidFill>
                </a:rPr>
                <a:t>E.Coli</a:t>
              </a:r>
              <a:r>
                <a:rPr lang="it-IT" sz="1600" i="1" dirty="0">
                  <a:solidFill>
                    <a:schemeClr val="tx2">
                      <a:lumMod val="50000"/>
                    </a:schemeClr>
                  </a:solidFill>
                </a:rPr>
                <a:t> </a:t>
              </a:r>
              <a:r>
                <a:rPr lang="it-IT" sz="1600" dirty="0" err="1">
                  <a:solidFill>
                    <a:schemeClr val="tx2">
                      <a:lumMod val="50000"/>
                    </a:schemeClr>
                  </a:solidFill>
                </a:rPr>
                <a:t>evolution</a:t>
              </a:r>
              <a:r>
                <a:rPr lang="it-IT" sz="1600" dirty="0">
                  <a:solidFill>
                    <a:schemeClr val="tx2">
                      <a:lumMod val="50000"/>
                    </a:schemeClr>
                  </a:solidFill>
                </a:rPr>
                <a:t> dynamics over short-</a:t>
              </a:r>
              <a:r>
                <a:rPr lang="it-IT" sz="1600" dirty="0" err="1">
                  <a:solidFill>
                    <a:schemeClr val="tx2">
                      <a:lumMod val="50000"/>
                    </a:schemeClr>
                  </a:solidFill>
                </a:rPr>
                <a:t>term</a:t>
              </a:r>
              <a:r>
                <a:rPr lang="it-IT" sz="1600" dirty="0">
                  <a:solidFill>
                    <a:schemeClr val="tx2">
                      <a:lumMod val="50000"/>
                    </a:schemeClr>
                  </a:solidFill>
                </a:rPr>
                <a:t> </a:t>
              </a:r>
              <a:r>
                <a:rPr lang="it-IT" sz="1600" dirty="0" err="1">
                  <a:solidFill>
                    <a:schemeClr val="tx2">
                      <a:lumMod val="50000"/>
                    </a:schemeClr>
                  </a:solidFill>
                </a:rPr>
                <a:t>lineages</a:t>
              </a:r>
              <a:r>
                <a:rPr lang="it-IT" sz="1600" dirty="0">
                  <a:solidFill>
                    <a:schemeClr val="tx2">
                      <a:lumMod val="50000"/>
                    </a:schemeClr>
                  </a:solidFill>
                </a:rPr>
                <a:t> </a:t>
              </a:r>
              <a:r>
                <a:rPr lang="it-IT" sz="1600" dirty="0" err="1">
                  <a:solidFill>
                    <a:schemeClr val="tx2">
                      <a:lumMod val="50000"/>
                    </a:schemeClr>
                  </a:solidFill>
                </a:rPr>
                <a:t>frequently</a:t>
              </a:r>
              <a:r>
                <a:rPr lang="it-IT" sz="1600" dirty="0">
                  <a:solidFill>
                    <a:schemeClr val="tx2">
                      <a:lumMod val="50000"/>
                    </a:schemeClr>
                  </a:solidFill>
                </a:rPr>
                <a:t> switching </a:t>
              </a: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600" dirty="0" err="1">
                  <a:solidFill>
                    <a:schemeClr val="tx2">
                      <a:lumMod val="50000"/>
                    </a:schemeClr>
                  </a:solidFill>
                </a:rPr>
                <a:t>growth</a:t>
              </a:r>
              <a:r>
                <a:rPr lang="it-IT" sz="1600" dirty="0">
                  <a:solidFill>
                    <a:schemeClr val="tx2">
                      <a:lumMod val="50000"/>
                    </a:schemeClr>
                  </a:solidFill>
                </a:rPr>
                <a:t> media, </a:t>
              </a:r>
              <a:r>
                <a:rPr lang="it-IT" sz="1600" dirty="0" err="1">
                  <a:solidFill>
                    <a:schemeClr val="tx2">
                      <a:lumMod val="50000"/>
                    </a:schemeClr>
                  </a:solidFill>
                </a:rPr>
                <a:t>through</a:t>
              </a:r>
              <a:r>
                <a:rPr lang="it-IT" sz="1600" dirty="0">
                  <a:solidFill>
                    <a:schemeClr val="tx2">
                      <a:lumMod val="50000"/>
                    </a:schemeClr>
                  </a:solidFill>
                </a:rPr>
                <a:t> </a:t>
              </a: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600" dirty="0" err="1">
                  <a:solidFill>
                    <a:schemeClr val="tx2">
                      <a:lumMod val="50000"/>
                    </a:schemeClr>
                  </a:solidFill>
                </a:rPr>
                <a:t>variant</a:t>
              </a:r>
              <a:r>
                <a:rPr lang="it-IT" sz="1600" dirty="0">
                  <a:solidFill>
                    <a:schemeClr val="tx2">
                      <a:lumMod val="50000"/>
                    </a:schemeClr>
                  </a:solidFill>
                </a:rPr>
                <a:t> </a:t>
              </a:r>
              <a:r>
                <a:rPr lang="it-IT" sz="1600" dirty="0" err="1">
                  <a:solidFill>
                    <a:schemeClr val="tx2">
                      <a:lumMod val="50000"/>
                    </a:schemeClr>
                  </a:solidFill>
                </a:rPr>
                <a:t>calling</a:t>
              </a:r>
              <a:r>
                <a:rPr lang="it-IT" sz="1600" dirty="0">
                  <a:solidFill>
                    <a:schemeClr val="tx2">
                      <a:lumMod val="50000"/>
                    </a:schemeClr>
                  </a:solidFill>
                </a:rPr>
                <a:t> and coverage </a:t>
              </a:r>
              <a:r>
                <a:rPr lang="it-IT" sz="1600" dirty="0" err="1">
                  <a:solidFill>
                    <a:schemeClr val="tx2">
                      <a:lumMod val="50000"/>
                    </a:schemeClr>
                  </a:solidFill>
                </a:rPr>
                <a:t>analysis</a:t>
              </a:r>
              <a:r>
                <a:rPr lang="it-IT" sz="1600" dirty="0">
                  <a:solidFill>
                    <a:schemeClr val="tx2">
                      <a:lumMod val="50000"/>
                    </a:schemeClr>
                  </a:solidFill>
                </a:rPr>
                <a:t> </a:t>
              </a:r>
              <a:endParaRPr sz="1600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17" name="Google Shape;11080;p83">
              <a:extLst>
                <a:ext uri="{FF2B5EF4-FFF2-40B4-BE49-F238E27FC236}">
                  <a16:creationId xmlns:a16="http://schemas.microsoft.com/office/drawing/2014/main" id="{2A1A8D9F-B4F9-CB30-225C-A5C56F21EB06}"/>
                </a:ext>
              </a:extLst>
            </p:cNvPr>
            <p:cNvSpPr/>
            <p:nvPr/>
          </p:nvSpPr>
          <p:spPr>
            <a:xfrm>
              <a:off x="3871550" y="2940300"/>
              <a:ext cx="3507025" cy="1584000"/>
            </a:xfrm>
            <a:custGeom>
              <a:avLst/>
              <a:gdLst/>
              <a:ahLst/>
              <a:cxnLst/>
              <a:rect l="l" t="t" r="r" b="b"/>
              <a:pathLst>
                <a:path w="140281" h="63360" extrusionOk="0">
                  <a:moveTo>
                    <a:pt x="38494" y="1"/>
                  </a:moveTo>
                  <a:cubicBezTo>
                    <a:pt x="36886" y="20680"/>
                    <a:pt x="20553" y="37294"/>
                    <a:pt x="0" y="39343"/>
                  </a:cubicBezTo>
                  <a:lnTo>
                    <a:pt x="0" y="59339"/>
                  </a:lnTo>
                  <a:cubicBezTo>
                    <a:pt x="6" y="61559"/>
                    <a:pt x="1807" y="63354"/>
                    <a:pt x="4022" y="63360"/>
                  </a:cubicBezTo>
                  <a:lnTo>
                    <a:pt x="136260" y="63360"/>
                  </a:lnTo>
                  <a:cubicBezTo>
                    <a:pt x="138480" y="63354"/>
                    <a:pt x="140275" y="61559"/>
                    <a:pt x="140281" y="59339"/>
                  </a:cubicBezTo>
                  <a:lnTo>
                    <a:pt x="140281" y="4022"/>
                  </a:lnTo>
                  <a:cubicBezTo>
                    <a:pt x="140275" y="1808"/>
                    <a:pt x="138480" y="6"/>
                    <a:pt x="136260" y="1"/>
                  </a:cubicBezTo>
                  <a:close/>
                </a:path>
              </a:pathLst>
            </a:custGeom>
            <a:gradFill>
              <a:gsLst>
                <a:gs pos="49000">
                  <a:srgbClr val="C00000"/>
                </a:gs>
                <a:gs pos="100000">
                  <a:srgbClr val="7030A0"/>
                </a:gs>
              </a:gsLst>
              <a:lin ang="5400000" scaled="1"/>
            </a:gradFill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600" dirty="0">
                  <a:solidFill>
                    <a:srgbClr val="A5D7D2"/>
                  </a:solidFill>
                </a:rPr>
                <a:t>Using </a:t>
              </a:r>
              <a:r>
                <a:rPr lang="it-IT" sz="1600" i="1" dirty="0" err="1">
                  <a:solidFill>
                    <a:srgbClr val="A5D7D2"/>
                  </a:solidFill>
                </a:rPr>
                <a:t>breseq</a:t>
              </a:r>
              <a:r>
                <a:rPr lang="it-IT" sz="1600" i="1" dirty="0">
                  <a:solidFill>
                    <a:srgbClr val="A5D7D2"/>
                  </a:solidFill>
                </a:rPr>
                <a:t> </a:t>
              </a:r>
              <a:r>
                <a:rPr lang="it-IT" sz="1600" dirty="0" err="1">
                  <a:solidFill>
                    <a:srgbClr val="A5D7D2"/>
                  </a:solidFill>
                </a:rPr>
                <a:t>algorithm</a:t>
              </a:r>
              <a:r>
                <a:rPr lang="it-IT" sz="1600" dirty="0">
                  <a:solidFill>
                    <a:srgbClr val="A5D7D2"/>
                  </a:solidFill>
                </a:rPr>
                <a:t> to validate the </a:t>
              </a:r>
              <a:r>
                <a:rPr lang="it-IT" sz="1600" dirty="0" err="1">
                  <a:solidFill>
                    <a:srgbClr val="A5D7D2"/>
                  </a:solidFill>
                </a:rPr>
                <a:t>expectation</a:t>
              </a:r>
              <a:r>
                <a:rPr lang="it-IT" sz="1600" dirty="0">
                  <a:solidFill>
                    <a:srgbClr val="A5D7D2"/>
                  </a:solidFill>
                </a:rPr>
                <a:t> </a:t>
              </a:r>
              <a:r>
                <a:rPr lang="it-IT" sz="1600" dirty="0" err="1">
                  <a:solidFill>
                    <a:srgbClr val="A5D7D2"/>
                  </a:solidFill>
                </a:rPr>
                <a:t>maximization</a:t>
              </a:r>
              <a:r>
                <a:rPr lang="it-IT" sz="1600" dirty="0">
                  <a:solidFill>
                    <a:srgbClr val="A5D7D2"/>
                  </a:solidFill>
                </a:rPr>
                <a:t> </a:t>
              </a:r>
              <a:r>
                <a:rPr lang="it-IT" sz="1600" dirty="0" err="1">
                  <a:solidFill>
                    <a:srgbClr val="A5D7D2"/>
                  </a:solidFill>
                </a:rPr>
                <a:t>algorithm</a:t>
              </a:r>
              <a:r>
                <a:rPr lang="it-IT" sz="1600" dirty="0">
                  <a:solidFill>
                    <a:srgbClr val="A5D7D2"/>
                  </a:solidFill>
                </a:rPr>
                <a:t> to </a:t>
              </a: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600" dirty="0">
                  <a:solidFill>
                    <a:srgbClr val="A5D7D2"/>
                  </a:solidFill>
                </a:rPr>
                <a:t>estimate strains’ frequency in mixed </a:t>
              </a:r>
              <a:r>
                <a:rPr lang="it-IT" sz="1600" dirty="0" err="1">
                  <a:solidFill>
                    <a:srgbClr val="A5D7D2"/>
                  </a:solidFill>
                </a:rPr>
                <a:t>cultures</a:t>
              </a:r>
              <a:r>
                <a:rPr lang="it-IT" sz="1600" dirty="0">
                  <a:solidFill>
                    <a:srgbClr val="A5D7D2"/>
                  </a:solidFill>
                </a:rPr>
                <a:t>.</a:t>
              </a:r>
              <a:endParaRPr sz="1600" dirty="0">
                <a:solidFill>
                  <a:srgbClr val="A5D7D2"/>
                </a:solidFill>
              </a:endParaRPr>
            </a:p>
          </p:txBody>
        </p:sp>
        <p:sp>
          <p:nvSpPr>
            <p:cNvPr id="19" name="Google Shape;11081;p83">
              <a:extLst>
                <a:ext uri="{FF2B5EF4-FFF2-40B4-BE49-F238E27FC236}">
                  <a16:creationId xmlns:a16="http://schemas.microsoft.com/office/drawing/2014/main" id="{F17BE0BE-7846-0C86-3CA9-7DCBF6CC6754}"/>
                </a:ext>
              </a:extLst>
            </p:cNvPr>
            <p:cNvSpPr/>
            <p:nvPr/>
          </p:nvSpPr>
          <p:spPr>
            <a:xfrm>
              <a:off x="2842425" y="1934600"/>
              <a:ext cx="1843850" cy="1843850"/>
            </a:xfrm>
            <a:custGeom>
              <a:avLst/>
              <a:gdLst/>
              <a:ahLst/>
              <a:cxnLst/>
              <a:rect l="l" t="t" r="r" b="b"/>
              <a:pathLst>
                <a:path w="73754" h="73754" extrusionOk="0">
                  <a:moveTo>
                    <a:pt x="36880" y="0"/>
                  </a:moveTo>
                  <a:cubicBezTo>
                    <a:pt x="36621" y="0"/>
                    <a:pt x="36362" y="6"/>
                    <a:pt x="36108" y="11"/>
                  </a:cubicBezTo>
                  <a:cubicBezTo>
                    <a:pt x="17253" y="397"/>
                    <a:pt x="1834" y="15011"/>
                    <a:pt x="154" y="33525"/>
                  </a:cubicBezTo>
                  <a:cubicBezTo>
                    <a:pt x="55" y="34627"/>
                    <a:pt x="0" y="35745"/>
                    <a:pt x="0" y="36874"/>
                  </a:cubicBezTo>
                  <a:cubicBezTo>
                    <a:pt x="0" y="38009"/>
                    <a:pt x="55" y="39122"/>
                    <a:pt x="154" y="40229"/>
                  </a:cubicBezTo>
                  <a:cubicBezTo>
                    <a:pt x="1834" y="58749"/>
                    <a:pt x="17253" y="73357"/>
                    <a:pt x="36108" y="73743"/>
                  </a:cubicBezTo>
                  <a:cubicBezTo>
                    <a:pt x="36362" y="73748"/>
                    <a:pt x="36621" y="73754"/>
                    <a:pt x="36880" y="73754"/>
                  </a:cubicBezTo>
                  <a:cubicBezTo>
                    <a:pt x="38312" y="73754"/>
                    <a:pt x="39744" y="73666"/>
                    <a:pt x="41165" y="73500"/>
                  </a:cubicBezTo>
                  <a:cubicBezTo>
                    <a:pt x="58391" y="71495"/>
                    <a:pt x="72030" y="57581"/>
                    <a:pt x="73600" y="40229"/>
                  </a:cubicBezTo>
                  <a:cubicBezTo>
                    <a:pt x="73699" y="39127"/>
                    <a:pt x="73754" y="38009"/>
                    <a:pt x="73754" y="36874"/>
                  </a:cubicBezTo>
                  <a:cubicBezTo>
                    <a:pt x="73754" y="35745"/>
                    <a:pt x="73699" y="34632"/>
                    <a:pt x="73600" y="33525"/>
                  </a:cubicBezTo>
                  <a:cubicBezTo>
                    <a:pt x="72024" y="16173"/>
                    <a:pt x="58391" y="2259"/>
                    <a:pt x="41165" y="254"/>
                  </a:cubicBezTo>
                  <a:cubicBezTo>
                    <a:pt x="39744" y="88"/>
                    <a:pt x="38312" y="0"/>
                    <a:pt x="36880" y="0"/>
                  </a:cubicBezTo>
                  <a:close/>
                </a:path>
              </a:pathLst>
            </a:custGeom>
            <a:gradFill>
              <a:gsLst>
                <a:gs pos="100000">
                  <a:srgbClr val="A48FC6"/>
                </a:gs>
                <a:gs pos="11000">
                  <a:srgbClr val="7030A0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3000" dirty="0" err="1">
                  <a:solidFill>
                    <a:srgbClr val="A5D7D2"/>
                  </a:solidFill>
                  <a:latin typeface="+mj-lt"/>
                </a:rPr>
                <a:t>Biozentrum</a:t>
              </a:r>
              <a:r>
                <a:rPr lang="it-IT" sz="3000" dirty="0">
                  <a:solidFill>
                    <a:srgbClr val="A5D7D2"/>
                  </a:solidFill>
                  <a:latin typeface="+mj-lt"/>
                </a:rPr>
                <a:t> </a:t>
              </a:r>
              <a:r>
                <a:rPr lang="it-IT" sz="3000" dirty="0" err="1">
                  <a:solidFill>
                    <a:srgbClr val="A5D7D2"/>
                  </a:solidFill>
                  <a:latin typeface="+mj-lt"/>
                </a:rPr>
                <a:t>Research</a:t>
              </a:r>
              <a:r>
                <a:rPr lang="it-IT" sz="3000" dirty="0">
                  <a:solidFill>
                    <a:srgbClr val="A5D7D2"/>
                  </a:solidFill>
                  <a:latin typeface="+mj-lt"/>
                </a:rPr>
                <a:t> </a:t>
              </a:r>
              <a:r>
                <a:rPr lang="it-IT" sz="3000" dirty="0" err="1">
                  <a:solidFill>
                    <a:srgbClr val="A5D7D2"/>
                  </a:solidFill>
                  <a:latin typeface="+mj-lt"/>
                </a:rPr>
                <a:t>Summer</a:t>
              </a:r>
              <a:endParaRPr sz="3000" dirty="0">
                <a:solidFill>
                  <a:srgbClr val="A5D7D2"/>
                </a:solidFill>
                <a:latin typeface="+mj-lt"/>
              </a:endParaRPr>
            </a:p>
          </p:txBody>
        </p:sp>
      </p:grp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71B53609-A0C7-F0D0-E8FC-258DE5DAE818}"/>
              </a:ext>
            </a:extLst>
          </p:cNvPr>
          <p:cNvSpPr txBox="1"/>
          <p:nvPr/>
        </p:nvSpPr>
        <p:spPr>
          <a:xfrm>
            <a:off x="5815853" y="404756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ts val="2200"/>
              </a:lnSpc>
            </a:pPr>
            <a:endParaRPr lang="it-IT" dirty="0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948D5342-8E8F-9E83-2E86-30D11A242074}"/>
              </a:ext>
            </a:extLst>
          </p:cNvPr>
          <p:cNvSpPr txBox="1"/>
          <p:nvPr/>
        </p:nvSpPr>
        <p:spPr>
          <a:xfrm>
            <a:off x="6118412" y="404756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ts val="2200"/>
              </a:lnSpc>
            </a:pPr>
            <a:endParaRPr lang="it-IT" dirty="0"/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2CE8C052-8F4C-05AF-45A1-BEC6D1623704}"/>
              </a:ext>
            </a:extLst>
          </p:cNvPr>
          <p:cNvSpPr txBox="1"/>
          <p:nvPr/>
        </p:nvSpPr>
        <p:spPr>
          <a:xfrm>
            <a:off x="3005418" y="266251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ts val="2200"/>
              </a:lnSpc>
            </a:pPr>
            <a:endParaRPr lang="it-IT" dirty="0"/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0F9E21B6-45CF-03A7-6BC8-C702C4BC9C90}"/>
              </a:ext>
            </a:extLst>
          </p:cNvPr>
          <p:cNvSpPr txBox="1"/>
          <p:nvPr/>
        </p:nvSpPr>
        <p:spPr>
          <a:xfrm>
            <a:off x="8283388" y="248770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ts val="2200"/>
              </a:lnSpc>
            </a:pPr>
            <a:endParaRPr lang="it-IT" dirty="0"/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6124BE66-F130-54D5-6586-16854718A6A0}"/>
              </a:ext>
            </a:extLst>
          </p:cNvPr>
          <p:cNvSpPr txBox="1"/>
          <p:nvPr/>
        </p:nvSpPr>
        <p:spPr>
          <a:xfrm>
            <a:off x="9863418" y="289111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ts val="2200"/>
              </a:lnSpc>
            </a:pPr>
            <a:endParaRPr lang="it-IT" dirty="0"/>
          </a:p>
        </p:txBody>
      </p:sp>
      <p:sp>
        <p:nvSpPr>
          <p:cNvPr id="4" name="Right Arrow 10">
            <a:extLst>
              <a:ext uri="{FF2B5EF4-FFF2-40B4-BE49-F238E27FC236}">
                <a16:creationId xmlns:a16="http://schemas.microsoft.com/office/drawing/2014/main" id="{AC885582-A8D5-4869-8610-5DA643B5540D}"/>
              </a:ext>
            </a:extLst>
          </p:cNvPr>
          <p:cNvSpPr/>
          <p:nvPr/>
        </p:nvSpPr>
        <p:spPr>
          <a:xfrm rot="10800000">
            <a:off x="10903418" y="2398715"/>
            <a:ext cx="1088362" cy="903078"/>
          </a:xfrm>
          <a:prstGeom prst="rightArrow">
            <a:avLst/>
          </a:prstGeom>
          <a:solidFill>
            <a:srgbClr val="FCEB0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336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26705-EBD3-7E95-BF0B-8F2E5D334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810A10-AFD1-C616-25E9-BE80606A0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800" y="442870"/>
            <a:ext cx="11521840" cy="755936"/>
          </a:xfrm>
        </p:spPr>
        <p:txBody>
          <a:bodyPr/>
          <a:lstStyle/>
          <a:p>
            <a:r>
              <a:rPr lang="de-CH" sz="2400" dirty="0"/>
              <a:t>Dataset: </a:t>
            </a:r>
            <a:r>
              <a:rPr lang="de-CH" sz="2400" dirty="0" err="1"/>
              <a:t>our</a:t>
            </a:r>
            <a:r>
              <a:rPr lang="de-CH" sz="2400" dirty="0"/>
              <a:t> lab </a:t>
            </a:r>
            <a:r>
              <a:rPr lang="de-CH" sz="2400" dirty="0" err="1"/>
              <a:t>previously</a:t>
            </a:r>
            <a:r>
              <a:rPr lang="de-CH" sz="2400" dirty="0"/>
              <a:t> </a:t>
            </a:r>
            <a:r>
              <a:rPr lang="de-CH" sz="2400" dirty="0" err="1"/>
              <a:t>performed</a:t>
            </a:r>
            <a:r>
              <a:rPr lang="de-CH" sz="2400" dirty="0"/>
              <a:t> a </a:t>
            </a:r>
            <a:r>
              <a:rPr lang="de-CH" sz="2400" dirty="0" err="1"/>
              <a:t>short</a:t>
            </a:r>
            <a:r>
              <a:rPr lang="de-CH" sz="2400" dirty="0"/>
              <a:t>-term </a:t>
            </a:r>
            <a:r>
              <a:rPr lang="de-CH" sz="2400" dirty="0" err="1"/>
              <a:t>evolution</a:t>
            </a:r>
            <a:r>
              <a:rPr lang="de-CH" sz="2400" dirty="0"/>
              <a:t> </a:t>
            </a:r>
            <a:r>
              <a:rPr lang="de-CH" sz="2400" dirty="0" err="1"/>
              <a:t>experiment</a:t>
            </a:r>
            <a:endParaRPr lang="de-CH" sz="160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B12FC2B-F4E6-8970-BC5B-7567FD827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de-CH"/>
              <a:t>Universität Basel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51AFA5B-E57B-EE39-FA7A-84BDE9D6B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11826-9277-4232-A2B5-17D05DFC7392}" type="slidenum">
              <a:rPr lang="de-CH" smtClean="0"/>
              <a:pPr/>
              <a:t>3</a:t>
            </a:fld>
            <a:endParaRPr lang="de-CH" dirty="0"/>
          </a:p>
        </p:txBody>
      </p:sp>
      <p:cxnSp>
        <p:nvCxnSpPr>
          <p:cNvPr id="8" name="Gerade Verbindung 7">
            <a:extLst>
              <a:ext uri="{FF2B5EF4-FFF2-40B4-BE49-F238E27FC236}">
                <a16:creationId xmlns:a16="http://schemas.microsoft.com/office/drawing/2014/main" id="{0D322C41-5F83-720F-211D-66B4E6C50824}"/>
              </a:ext>
            </a:extLst>
          </p:cNvPr>
          <p:cNvCxnSpPr/>
          <p:nvPr/>
        </p:nvCxnSpPr>
        <p:spPr>
          <a:xfrm>
            <a:off x="334800" y="1520825"/>
            <a:ext cx="11521840" cy="0"/>
          </a:xfrm>
          <a:prstGeom prst="line">
            <a:avLst/>
          </a:prstGeom>
          <a:ln w="254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98CF53FB-0FE3-3FD5-FA8E-E88E3603936F}"/>
              </a:ext>
            </a:extLst>
          </p:cNvPr>
          <p:cNvSpPr txBox="1">
            <a:spLocks/>
          </p:cNvSpPr>
          <p:nvPr/>
        </p:nvSpPr>
        <p:spPr>
          <a:xfrm>
            <a:off x="8112125" y="1664804"/>
            <a:ext cx="3744913" cy="457248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22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ts val="22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ts val="22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ts val="22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ts val="22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CH" dirty="0"/>
          </a:p>
        </p:txBody>
      </p:sp>
      <p:sp>
        <p:nvSpPr>
          <p:cNvPr id="18" name="Datumsplatzhalter 3">
            <a:extLst>
              <a:ext uri="{FF2B5EF4-FFF2-40B4-BE49-F238E27FC236}">
                <a16:creationId xmlns:a16="http://schemas.microsoft.com/office/drawing/2014/main" id="{4FF17186-F36C-490F-B24B-E7E65FC0AC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800" y="6524626"/>
            <a:ext cx="2878667" cy="180000"/>
          </a:xfrm>
        </p:spPr>
        <p:txBody>
          <a:bodyPr/>
          <a:lstStyle/>
          <a:p>
            <a:r>
              <a:rPr lang="de-CH" dirty="0"/>
              <a:t>Tommaso Cappelli, 24.08.2026</a:t>
            </a:r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B2EBD58E-0288-3C68-394D-EEB0A9DBF15A}"/>
              </a:ext>
            </a:extLst>
          </p:cNvPr>
          <p:cNvSpPr txBox="1"/>
          <p:nvPr/>
        </p:nvSpPr>
        <p:spPr>
          <a:xfrm>
            <a:off x="158451" y="2252447"/>
            <a:ext cx="22441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400" dirty="0">
                <a:latin typeface="Calibri" panose="020F0502020204030204" pitchFamily="34" charset="0"/>
                <a:cs typeface="Calibri" panose="020F0502020204030204" pitchFamily="34" charset="0"/>
              </a:rPr>
              <a:t>Single LB Agar </a:t>
            </a:r>
            <a:r>
              <a:rPr lang="it-IT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colony</a:t>
            </a:r>
            <a:endParaRPr lang="it-IT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it-IT" sz="1400" dirty="0">
                <a:latin typeface="Calibri" panose="020F0502020204030204" pitchFamily="34" charset="0"/>
                <a:cs typeface="Calibri" panose="020F0502020204030204" pitchFamily="34" charset="0"/>
              </a:rPr>
              <a:t>(B8 strain)</a:t>
            </a: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2B708998-69D0-D18F-4217-B9CB46A30AE8}"/>
              </a:ext>
            </a:extLst>
          </p:cNvPr>
          <p:cNvSpPr txBox="1"/>
          <p:nvPr/>
        </p:nvSpPr>
        <p:spPr>
          <a:xfrm>
            <a:off x="1884087" y="2414572"/>
            <a:ext cx="291248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400" dirty="0">
                <a:latin typeface="Calibri" panose="020F0502020204030204" pitchFamily="34" charset="0"/>
                <a:cs typeface="Calibri" panose="020F0502020204030204" pitchFamily="34" charset="0"/>
              </a:rPr>
              <a:t>M9 </a:t>
            </a:r>
            <a:r>
              <a:rPr lang="it-IT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glucose</a:t>
            </a:r>
            <a:r>
              <a:rPr lang="it-IT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preculture</a:t>
            </a:r>
            <a:r>
              <a:rPr lang="it-IT" sz="1400" dirty="0">
                <a:latin typeface="Calibri" panose="020F0502020204030204" pitchFamily="34" charset="0"/>
                <a:cs typeface="Calibri" panose="020F0502020204030204" pitchFamily="34" charset="0"/>
              </a:rPr>
              <a:t> O/</a:t>
            </a:r>
            <a:r>
              <a:rPr lang="it-IT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endParaRPr lang="it-IT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5" name="Picture 9" descr="A diagram of a sample preparation for growth curve&#10;&#10;AI-generated content may be incorrect.">
            <a:extLst>
              <a:ext uri="{FF2B5EF4-FFF2-40B4-BE49-F238E27FC236}">
                <a16:creationId xmlns:a16="http://schemas.microsoft.com/office/drawing/2014/main" id="{6D4234FF-1F46-2839-9E76-0F5F083E12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034" t="39502" r="72016" b="39751"/>
          <a:stretch>
            <a:fillRect/>
          </a:stretch>
        </p:blipFill>
        <p:spPr>
          <a:xfrm>
            <a:off x="728333" y="2824623"/>
            <a:ext cx="1153505" cy="1007833"/>
          </a:xfrm>
          <a:prstGeom prst="rect">
            <a:avLst/>
          </a:prstGeom>
        </p:spPr>
      </p:pic>
      <p:pic>
        <p:nvPicPr>
          <p:cNvPr id="20" name="Picture 11" descr="A diagram of a sample preparation for growth curve&#10;&#10;AI-generated content may be incorrect.">
            <a:extLst>
              <a:ext uri="{FF2B5EF4-FFF2-40B4-BE49-F238E27FC236}">
                <a16:creationId xmlns:a16="http://schemas.microsoft.com/office/drawing/2014/main" id="{E88993EA-5A5E-16D3-E430-5082539C15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128" t="36560" r="59304" b="39554"/>
          <a:stretch>
            <a:fillRect/>
          </a:stretch>
        </p:blipFill>
        <p:spPr>
          <a:xfrm>
            <a:off x="2865660" y="2780401"/>
            <a:ext cx="414029" cy="968577"/>
          </a:xfrm>
          <a:prstGeom prst="rect">
            <a:avLst/>
          </a:prstGeom>
        </p:spPr>
      </p:pic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5DB44423-6D9F-3F90-D46B-C0FB90D77D19}"/>
              </a:ext>
            </a:extLst>
          </p:cNvPr>
          <p:cNvSpPr txBox="1"/>
          <p:nvPr/>
        </p:nvSpPr>
        <p:spPr>
          <a:xfrm>
            <a:off x="10790946" y="3895554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ts val="2200"/>
              </a:lnSpc>
            </a:pPr>
            <a:endParaRPr lang="it-IT" dirty="0"/>
          </a:p>
        </p:txBody>
      </p:sp>
      <p:sp>
        <p:nvSpPr>
          <p:cNvPr id="27" name="TextBox 13">
            <a:extLst>
              <a:ext uri="{FF2B5EF4-FFF2-40B4-BE49-F238E27FC236}">
                <a16:creationId xmlns:a16="http://schemas.microsoft.com/office/drawing/2014/main" id="{F88E5849-DE5F-F161-7A60-DE9ED3E54267}"/>
              </a:ext>
            </a:extLst>
          </p:cNvPr>
          <p:cNvSpPr txBox="1"/>
          <p:nvPr/>
        </p:nvSpPr>
        <p:spPr>
          <a:xfrm>
            <a:off x="3542252" y="3502757"/>
            <a:ext cx="1070038" cy="246221"/>
          </a:xfrm>
          <a:prstGeom prst="rect">
            <a:avLst/>
          </a:prstGeom>
          <a:solidFill>
            <a:srgbClr val="A5D7D2"/>
          </a:solidFill>
          <a:ln>
            <a:solidFill>
              <a:schemeClr val="tx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it-IT" sz="1000" b="1" dirty="0">
                <a:latin typeface="Calibri" panose="020F0502020204030204" pitchFamily="34" charset="0"/>
                <a:cs typeface="Calibri" panose="020F0502020204030204" pitchFamily="34" charset="0"/>
              </a:rPr>
              <a:t>x3 </a:t>
            </a:r>
            <a:r>
              <a:rPr lang="it-IT" sz="1000" b="1" dirty="0" err="1">
                <a:latin typeface="Calibri" panose="020F0502020204030204" pitchFamily="34" charset="0"/>
                <a:cs typeface="Calibri" panose="020F0502020204030204" pitchFamily="34" charset="0"/>
              </a:rPr>
              <a:t>lineages</a:t>
            </a:r>
            <a:endParaRPr lang="it-IT" sz="1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TextBox 6">
            <a:extLst>
              <a:ext uri="{FF2B5EF4-FFF2-40B4-BE49-F238E27FC236}">
                <a16:creationId xmlns:a16="http://schemas.microsoft.com/office/drawing/2014/main" id="{36E695F6-501C-491F-32E9-0B1EB0C65AF3}"/>
              </a:ext>
            </a:extLst>
          </p:cNvPr>
          <p:cNvSpPr txBox="1"/>
          <p:nvPr/>
        </p:nvSpPr>
        <p:spPr>
          <a:xfrm>
            <a:off x="4110691" y="2421136"/>
            <a:ext cx="291248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400" dirty="0">
                <a:latin typeface="Calibri" panose="020F0502020204030204" pitchFamily="34" charset="0"/>
                <a:cs typeface="Calibri" panose="020F0502020204030204" pitchFamily="34" charset="0"/>
              </a:rPr>
              <a:t>M9 </a:t>
            </a:r>
            <a:r>
              <a:rPr lang="it-IT" sz="1400" b="1" dirty="0">
                <a:latin typeface="Calibri" panose="020F0502020204030204" pitchFamily="34" charset="0"/>
                <a:cs typeface="Calibri" panose="020F0502020204030204" pitchFamily="34" charset="0"/>
              </a:rPr>
              <a:t>succinate1</a:t>
            </a:r>
            <a:r>
              <a:rPr lang="it-IT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plate</a:t>
            </a:r>
            <a:endParaRPr lang="it-IT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3" name="Picture 14" descr="A diagram of a sample preparation for growth curve&#10;&#10;AI-generated content may be incorrect.">
            <a:extLst>
              <a:ext uri="{FF2B5EF4-FFF2-40B4-BE49-F238E27FC236}">
                <a16:creationId xmlns:a16="http://schemas.microsoft.com/office/drawing/2014/main" id="{CE9810C0-7995-C8B2-DDE2-02F809D152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618" t="49959" r="40666" b="36172"/>
          <a:stretch>
            <a:fillRect/>
          </a:stretch>
        </p:blipFill>
        <p:spPr>
          <a:xfrm>
            <a:off x="4727848" y="2960384"/>
            <a:ext cx="1665558" cy="990662"/>
          </a:xfrm>
          <a:prstGeom prst="rect">
            <a:avLst/>
          </a:prstGeom>
        </p:spPr>
      </p:pic>
      <p:sp>
        <p:nvSpPr>
          <p:cNvPr id="45" name="TextBox 6">
            <a:extLst>
              <a:ext uri="{FF2B5EF4-FFF2-40B4-BE49-F238E27FC236}">
                <a16:creationId xmlns:a16="http://schemas.microsoft.com/office/drawing/2014/main" id="{DCBE6D9A-EBCA-1ED2-BF47-806B362693F7}"/>
              </a:ext>
            </a:extLst>
          </p:cNvPr>
          <p:cNvSpPr txBox="1"/>
          <p:nvPr/>
        </p:nvSpPr>
        <p:spPr>
          <a:xfrm>
            <a:off x="6701951" y="2429649"/>
            <a:ext cx="291248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400" dirty="0">
                <a:latin typeface="Calibri" panose="020F0502020204030204" pitchFamily="34" charset="0"/>
                <a:cs typeface="Calibri" panose="020F0502020204030204" pitchFamily="34" charset="0"/>
              </a:rPr>
              <a:t>M9 </a:t>
            </a:r>
            <a:r>
              <a:rPr lang="it-IT" sz="1400" b="1" dirty="0" err="1">
                <a:latin typeface="Calibri" panose="020F0502020204030204" pitchFamily="34" charset="0"/>
                <a:cs typeface="Calibri" panose="020F0502020204030204" pitchFamily="34" charset="0"/>
              </a:rPr>
              <a:t>glucose</a:t>
            </a:r>
            <a:r>
              <a:rPr lang="it-IT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plate</a:t>
            </a:r>
            <a:endParaRPr lang="it-IT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Right Arrow 10">
            <a:extLst>
              <a:ext uri="{FF2B5EF4-FFF2-40B4-BE49-F238E27FC236}">
                <a16:creationId xmlns:a16="http://schemas.microsoft.com/office/drawing/2014/main" id="{6FB0A9EB-8304-B130-8848-378E4B4F16CC}"/>
              </a:ext>
            </a:extLst>
          </p:cNvPr>
          <p:cNvSpPr/>
          <p:nvPr/>
        </p:nvSpPr>
        <p:spPr>
          <a:xfrm>
            <a:off x="9330337" y="3219080"/>
            <a:ext cx="539827" cy="227345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9" name="Picture 14" descr="A diagram of a sample preparation for growth curve&#10;&#10;AI-generated content may be incorrect.">
            <a:extLst>
              <a:ext uri="{FF2B5EF4-FFF2-40B4-BE49-F238E27FC236}">
                <a16:creationId xmlns:a16="http://schemas.microsoft.com/office/drawing/2014/main" id="{14DC3C6C-F33D-284A-1BC6-30A7E8EFBC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618" t="49959" r="40666" b="36172"/>
          <a:stretch>
            <a:fillRect/>
          </a:stretch>
        </p:blipFill>
        <p:spPr>
          <a:xfrm>
            <a:off x="7294807" y="2963023"/>
            <a:ext cx="1665558" cy="990662"/>
          </a:xfrm>
          <a:prstGeom prst="rect">
            <a:avLst/>
          </a:prstGeom>
        </p:spPr>
      </p:pic>
      <p:sp>
        <p:nvSpPr>
          <p:cNvPr id="51" name="TextBox 6">
            <a:extLst>
              <a:ext uri="{FF2B5EF4-FFF2-40B4-BE49-F238E27FC236}">
                <a16:creationId xmlns:a16="http://schemas.microsoft.com/office/drawing/2014/main" id="{85E08772-ED85-C676-D87C-FFC0BC0C0AD9}"/>
              </a:ext>
            </a:extLst>
          </p:cNvPr>
          <p:cNvSpPr txBox="1"/>
          <p:nvPr/>
        </p:nvSpPr>
        <p:spPr>
          <a:xfrm>
            <a:off x="9509262" y="2440589"/>
            <a:ext cx="291248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400" dirty="0">
                <a:latin typeface="Calibri" panose="020F0502020204030204" pitchFamily="34" charset="0"/>
                <a:cs typeface="Calibri" panose="020F0502020204030204" pitchFamily="34" charset="0"/>
              </a:rPr>
              <a:t>M9 </a:t>
            </a:r>
            <a:r>
              <a:rPr lang="it-IT" sz="1400" b="1" dirty="0">
                <a:latin typeface="Calibri" panose="020F0502020204030204" pitchFamily="34" charset="0"/>
                <a:cs typeface="Calibri" panose="020F0502020204030204" pitchFamily="34" charset="0"/>
              </a:rPr>
              <a:t>succinate2</a:t>
            </a:r>
            <a:r>
              <a:rPr lang="it-IT" sz="1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plate</a:t>
            </a:r>
            <a:endParaRPr lang="it-IT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5" name="Picture 14" descr="A diagram of a sample preparation for growth curve&#10;&#10;AI-generated content may be incorrect.">
            <a:extLst>
              <a:ext uri="{FF2B5EF4-FFF2-40B4-BE49-F238E27FC236}">
                <a16:creationId xmlns:a16="http://schemas.microsoft.com/office/drawing/2014/main" id="{30E59583-2A42-D3E3-4F85-FFBF4D4831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618" t="49959" r="40666" b="36172"/>
          <a:stretch>
            <a:fillRect/>
          </a:stretch>
        </p:blipFill>
        <p:spPr>
          <a:xfrm>
            <a:off x="10132727" y="2960384"/>
            <a:ext cx="1665558" cy="990662"/>
          </a:xfrm>
          <a:prstGeom prst="rect">
            <a:avLst/>
          </a:prstGeom>
        </p:spPr>
      </p:pic>
      <p:sp>
        <p:nvSpPr>
          <p:cNvPr id="57" name="TextBox 13">
            <a:extLst>
              <a:ext uri="{FF2B5EF4-FFF2-40B4-BE49-F238E27FC236}">
                <a16:creationId xmlns:a16="http://schemas.microsoft.com/office/drawing/2014/main" id="{E33F6463-4596-DA53-98D3-3ADD49534EAD}"/>
              </a:ext>
            </a:extLst>
          </p:cNvPr>
          <p:cNvSpPr txBox="1"/>
          <p:nvPr/>
        </p:nvSpPr>
        <p:spPr>
          <a:xfrm>
            <a:off x="6188905" y="3450481"/>
            <a:ext cx="13300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000" dirty="0">
                <a:latin typeface="Calibri" panose="020F0502020204030204" pitchFamily="34" charset="0"/>
                <a:cs typeface="Calibri" panose="020F0502020204030204" pitchFamily="34" charset="0"/>
              </a:rPr>
              <a:t>After 10 </a:t>
            </a:r>
          </a:p>
          <a:p>
            <a:pPr algn="ctr"/>
            <a:r>
              <a:rPr lang="it-IT" sz="1000" dirty="0">
                <a:latin typeface="Calibri" panose="020F0502020204030204" pitchFamily="34" charset="0"/>
                <a:cs typeface="Calibri" panose="020F0502020204030204" pitchFamily="34" charset="0"/>
              </a:rPr>
              <a:t>generations</a:t>
            </a:r>
          </a:p>
        </p:txBody>
      </p:sp>
      <p:sp>
        <p:nvSpPr>
          <p:cNvPr id="61" name="Right Arrow 10">
            <a:extLst>
              <a:ext uri="{FF2B5EF4-FFF2-40B4-BE49-F238E27FC236}">
                <a16:creationId xmlns:a16="http://schemas.microsoft.com/office/drawing/2014/main" id="{F6BF3E0F-4E2A-DD72-86A2-78574DE8E477}"/>
              </a:ext>
            </a:extLst>
          </p:cNvPr>
          <p:cNvSpPr/>
          <p:nvPr/>
        </p:nvSpPr>
        <p:spPr>
          <a:xfrm>
            <a:off x="6584003" y="3184867"/>
            <a:ext cx="539827" cy="227345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0">
            <a:extLst>
              <a:ext uri="{FF2B5EF4-FFF2-40B4-BE49-F238E27FC236}">
                <a16:creationId xmlns:a16="http://schemas.microsoft.com/office/drawing/2014/main" id="{49CD40D1-0703-05C0-B905-A9151C1BEEBD}"/>
              </a:ext>
            </a:extLst>
          </p:cNvPr>
          <p:cNvSpPr/>
          <p:nvPr/>
        </p:nvSpPr>
        <p:spPr>
          <a:xfrm>
            <a:off x="3828809" y="3194764"/>
            <a:ext cx="539827" cy="227345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Arrow 10">
            <a:extLst>
              <a:ext uri="{FF2B5EF4-FFF2-40B4-BE49-F238E27FC236}">
                <a16:creationId xmlns:a16="http://schemas.microsoft.com/office/drawing/2014/main" id="{114A7B00-F29F-890E-BB8A-022E7B8BCBD4}"/>
              </a:ext>
            </a:extLst>
          </p:cNvPr>
          <p:cNvSpPr/>
          <p:nvPr/>
        </p:nvSpPr>
        <p:spPr>
          <a:xfrm>
            <a:off x="2132668" y="3192846"/>
            <a:ext cx="539827" cy="227345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6">
            <a:extLst>
              <a:ext uri="{FF2B5EF4-FFF2-40B4-BE49-F238E27FC236}">
                <a16:creationId xmlns:a16="http://schemas.microsoft.com/office/drawing/2014/main" id="{EA63DCC4-C2F0-BAC9-72DB-2C1DB81E4ED5}"/>
              </a:ext>
            </a:extLst>
          </p:cNvPr>
          <p:cNvSpPr txBox="1"/>
          <p:nvPr/>
        </p:nvSpPr>
        <p:spPr>
          <a:xfrm>
            <a:off x="4382780" y="3971623"/>
            <a:ext cx="23556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Growth</a:t>
            </a:r>
            <a:r>
              <a:rPr lang="it-IT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measure</a:t>
            </a:r>
            <a:endParaRPr lang="it-IT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it-IT" sz="1200" dirty="0">
                <a:latin typeface="Calibri" panose="020F0502020204030204" pitchFamily="34" charset="0"/>
                <a:cs typeface="Calibri" panose="020F0502020204030204" pitchFamily="34" charset="0"/>
              </a:rPr>
              <a:t>+DNA </a:t>
            </a:r>
            <a:r>
              <a:rPr lang="it-IT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sequencing</a:t>
            </a:r>
            <a:endParaRPr lang="it-IT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Box 6">
            <a:extLst>
              <a:ext uri="{FF2B5EF4-FFF2-40B4-BE49-F238E27FC236}">
                <a16:creationId xmlns:a16="http://schemas.microsoft.com/office/drawing/2014/main" id="{31B8CA24-38C3-5270-1BB0-D7903F92AA84}"/>
              </a:ext>
            </a:extLst>
          </p:cNvPr>
          <p:cNvSpPr txBox="1"/>
          <p:nvPr/>
        </p:nvSpPr>
        <p:spPr>
          <a:xfrm>
            <a:off x="7006286" y="3982829"/>
            <a:ext cx="23556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Growth</a:t>
            </a:r>
            <a:r>
              <a:rPr lang="it-IT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measure</a:t>
            </a:r>
            <a:endParaRPr lang="it-IT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it-IT" sz="1200" dirty="0">
                <a:latin typeface="Calibri" panose="020F0502020204030204" pitchFamily="34" charset="0"/>
                <a:cs typeface="Calibri" panose="020F0502020204030204" pitchFamily="34" charset="0"/>
              </a:rPr>
              <a:t>+DNA </a:t>
            </a:r>
            <a:r>
              <a:rPr lang="it-IT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sequencing</a:t>
            </a:r>
            <a:endParaRPr lang="it-IT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Box 6">
            <a:extLst>
              <a:ext uri="{FF2B5EF4-FFF2-40B4-BE49-F238E27FC236}">
                <a16:creationId xmlns:a16="http://schemas.microsoft.com/office/drawing/2014/main" id="{A39E1DEA-1AE7-A133-ED02-95F03C9A4F52}"/>
              </a:ext>
            </a:extLst>
          </p:cNvPr>
          <p:cNvSpPr txBox="1"/>
          <p:nvPr/>
        </p:nvSpPr>
        <p:spPr>
          <a:xfrm>
            <a:off x="9787658" y="4030613"/>
            <a:ext cx="23556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Growth</a:t>
            </a:r>
            <a:r>
              <a:rPr lang="it-IT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measure</a:t>
            </a:r>
            <a:endParaRPr lang="it-IT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it-IT" sz="1200" dirty="0">
                <a:latin typeface="Calibri" panose="020F0502020204030204" pitchFamily="34" charset="0"/>
                <a:cs typeface="Calibri" panose="020F0502020204030204" pitchFamily="34" charset="0"/>
              </a:rPr>
              <a:t>+DNA </a:t>
            </a:r>
            <a:r>
              <a:rPr lang="it-IT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sequencing</a:t>
            </a:r>
            <a:endParaRPr lang="it-IT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extBox 6">
            <a:extLst>
              <a:ext uri="{FF2B5EF4-FFF2-40B4-BE49-F238E27FC236}">
                <a16:creationId xmlns:a16="http://schemas.microsoft.com/office/drawing/2014/main" id="{4182DFA6-2CAC-BC85-1183-AAD4ECA1F0CD}"/>
              </a:ext>
            </a:extLst>
          </p:cNvPr>
          <p:cNvSpPr txBox="1"/>
          <p:nvPr/>
        </p:nvSpPr>
        <p:spPr>
          <a:xfrm>
            <a:off x="1881250" y="4062099"/>
            <a:ext cx="23556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dirty="0">
                <a:latin typeface="Calibri" panose="020F0502020204030204" pitchFamily="34" charset="0"/>
                <a:cs typeface="Calibri" panose="020F0502020204030204" pitchFamily="34" charset="0"/>
              </a:rPr>
              <a:t>DNA </a:t>
            </a:r>
            <a:r>
              <a:rPr lang="it-IT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sequencing</a:t>
            </a:r>
            <a:endParaRPr lang="it-IT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TextBox 6">
            <a:extLst>
              <a:ext uri="{FF2B5EF4-FFF2-40B4-BE49-F238E27FC236}">
                <a16:creationId xmlns:a16="http://schemas.microsoft.com/office/drawing/2014/main" id="{AA1C7EB7-4AD3-F210-913C-3F5B4A9C99E2}"/>
              </a:ext>
            </a:extLst>
          </p:cNvPr>
          <p:cNvSpPr txBox="1"/>
          <p:nvPr/>
        </p:nvSpPr>
        <p:spPr>
          <a:xfrm>
            <a:off x="713723" y="5161743"/>
            <a:ext cx="1036915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Avg</a:t>
            </a:r>
            <a:r>
              <a:rPr lang="it-IT" sz="2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growth</a:t>
            </a:r>
            <a:r>
              <a:rPr lang="it-IT" sz="2200" dirty="0">
                <a:latin typeface="Calibri" panose="020F0502020204030204" pitchFamily="34" charset="0"/>
                <a:cs typeface="Calibri" panose="020F0502020204030204" pitchFamily="34" charset="0"/>
              </a:rPr>
              <a:t> rate </a:t>
            </a:r>
            <a:r>
              <a:rPr lang="it-IT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increases</a:t>
            </a:r>
            <a:r>
              <a:rPr lang="it-IT" sz="2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at</a:t>
            </a:r>
            <a:r>
              <a:rPr lang="it-IT" sz="2200" dirty="0">
                <a:latin typeface="Calibri" panose="020F0502020204030204" pitchFamily="34" charset="0"/>
                <a:cs typeface="Calibri" panose="020F0502020204030204" pitchFamily="34" charset="0"/>
              </a:rPr>
              <a:t> the end of the </a:t>
            </a:r>
            <a:r>
              <a:rPr lang="it-IT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experiment</a:t>
            </a:r>
            <a:r>
              <a:rPr lang="it-IT" sz="22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34" name="TextBox 13">
            <a:extLst>
              <a:ext uri="{FF2B5EF4-FFF2-40B4-BE49-F238E27FC236}">
                <a16:creationId xmlns:a16="http://schemas.microsoft.com/office/drawing/2014/main" id="{76861BFD-D1E4-3AEB-DBFE-AFE4C68A6BBA}"/>
              </a:ext>
            </a:extLst>
          </p:cNvPr>
          <p:cNvSpPr txBox="1"/>
          <p:nvPr/>
        </p:nvSpPr>
        <p:spPr>
          <a:xfrm>
            <a:off x="8914797" y="3506792"/>
            <a:ext cx="13300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000" dirty="0">
                <a:latin typeface="Calibri" panose="020F0502020204030204" pitchFamily="34" charset="0"/>
                <a:cs typeface="Calibri" panose="020F0502020204030204" pitchFamily="34" charset="0"/>
              </a:rPr>
              <a:t>After 10 </a:t>
            </a:r>
          </a:p>
          <a:p>
            <a:pPr algn="ctr"/>
            <a:r>
              <a:rPr lang="it-IT" sz="1000" dirty="0">
                <a:latin typeface="Calibri" panose="020F0502020204030204" pitchFamily="34" charset="0"/>
                <a:cs typeface="Calibri" panose="020F0502020204030204" pitchFamily="34" charset="0"/>
              </a:rPr>
              <a:t>generations</a:t>
            </a:r>
          </a:p>
        </p:txBody>
      </p:sp>
    </p:spTree>
    <p:extLst>
      <p:ext uri="{BB962C8B-B14F-4D97-AF65-F5344CB8AC3E}">
        <p14:creationId xmlns:p14="http://schemas.microsoft.com/office/powerpoint/2010/main" val="3727488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16C8C-5722-9855-E7AC-185D6187E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555A0A-48CF-BC3E-A7DE-566277DA0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Questions</a:t>
            </a:r>
            <a:endParaRPr lang="de-CH" sz="160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116CE19-4D80-82EF-DA9C-E704DB16F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de-CH"/>
              <a:t>Universität Basel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8DCECF3-BC33-E6A6-6DF4-CAFF394D2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11826-9277-4232-A2B5-17D05DFC7392}" type="slidenum">
              <a:rPr lang="de-CH" smtClean="0"/>
              <a:pPr/>
              <a:t>4</a:t>
            </a:fld>
            <a:endParaRPr lang="de-CH" dirty="0"/>
          </a:p>
        </p:txBody>
      </p:sp>
      <p:cxnSp>
        <p:nvCxnSpPr>
          <p:cNvPr id="8" name="Gerade Verbindung 7">
            <a:extLst>
              <a:ext uri="{FF2B5EF4-FFF2-40B4-BE49-F238E27FC236}">
                <a16:creationId xmlns:a16="http://schemas.microsoft.com/office/drawing/2014/main" id="{7C6DEA75-7518-D8AE-C16C-B76C233935EB}"/>
              </a:ext>
            </a:extLst>
          </p:cNvPr>
          <p:cNvCxnSpPr/>
          <p:nvPr/>
        </p:nvCxnSpPr>
        <p:spPr>
          <a:xfrm>
            <a:off x="334800" y="1520825"/>
            <a:ext cx="11521840" cy="0"/>
          </a:xfrm>
          <a:prstGeom prst="line">
            <a:avLst/>
          </a:prstGeom>
          <a:ln w="254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BEB01827-5210-4F58-3C96-F534F2CF833B}"/>
              </a:ext>
            </a:extLst>
          </p:cNvPr>
          <p:cNvSpPr txBox="1">
            <a:spLocks/>
          </p:cNvSpPr>
          <p:nvPr/>
        </p:nvSpPr>
        <p:spPr>
          <a:xfrm>
            <a:off x="8112125" y="1664804"/>
            <a:ext cx="3744913" cy="457248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22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ts val="22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ts val="22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ts val="22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ts val="22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CH" dirty="0"/>
          </a:p>
        </p:txBody>
      </p:sp>
      <p:sp>
        <p:nvSpPr>
          <p:cNvPr id="18" name="Datumsplatzhalter 3">
            <a:extLst>
              <a:ext uri="{FF2B5EF4-FFF2-40B4-BE49-F238E27FC236}">
                <a16:creationId xmlns:a16="http://schemas.microsoft.com/office/drawing/2014/main" id="{B210800C-9629-1AA9-149E-1E16AEECC3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800" y="6524626"/>
            <a:ext cx="2878667" cy="180000"/>
          </a:xfrm>
        </p:spPr>
        <p:txBody>
          <a:bodyPr/>
          <a:lstStyle/>
          <a:p>
            <a:r>
              <a:rPr lang="de-CH" dirty="0"/>
              <a:t>Tommaso Cappelli, 24.08.2026</a:t>
            </a:r>
          </a:p>
        </p:txBody>
      </p:sp>
      <p:sp>
        <p:nvSpPr>
          <p:cNvPr id="51" name="TextBox 6">
            <a:extLst>
              <a:ext uri="{FF2B5EF4-FFF2-40B4-BE49-F238E27FC236}">
                <a16:creationId xmlns:a16="http://schemas.microsoft.com/office/drawing/2014/main" id="{FC45389B-8C42-0D79-7501-196B16686D80}"/>
              </a:ext>
            </a:extLst>
          </p:cNvPr>
          <p:cNvSpPr txBox="1"/>
          <p:nvPr/>
        </p:nvSpPr>
        <p:spPr>
          <a:xfrm>
            <a:off x="839416" y="2981550"/>
            <a:ext cx="1036915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ctr">
              <a:buFont typeface="+mj-lt"/>
              <a:buAutoNum type="arabicPeriod"/>
            </a:pP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Does the </a:t>
            </a:r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growth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 rate </a:t>
            </a:r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change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 due to </a:t>
            </a:r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phenotypical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adaptation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, or </a:t>
            </a:r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it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correlated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 to </a:t>
            </a:r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genome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evolution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pPr marL="342900" indent="-342900" algn="ctr">
              <a:buFont typeface="+mj-lt"/>
              <a:buAutoNum type="arabicPeriod"/>
            </a:pPr>
            <a:endParaRPr lang="it-IT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ctr">
              <a:buFont typeface="+mj-lt"/>
              <a:buAutoNum type="arabicPeriod"/>
            </a:pPr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genome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evolution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happens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 to be the </a:t>
            </a:r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main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factor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what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kinds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 of </a:t>
            </a:r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mutation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arise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what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genes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 do </a:t>
            </a:r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they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affect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004212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Methods: the </a:t>
            </a:r>
            <a:r>
              <a:rPr lang="de-CH" i="1" dirty="0" err="1"/>
              <a:t>breseq</a:t>
            </a:r>
            <a:r>
              <a:rPr lang="de-CH" i="1" dirty="0"/>
              <a:t> </a:t>
            </a:r>
            <a:r>
              <a:rPr lang="de-CH" dirty="0" err="1"/>
              <a:t>algorithm</a:t>
            </a:r>
            <a:br>
              <a:rPr lang="de-CH" dirty="0"/>
            </a:br>
            <a:r>
              <a:rPr lang="de-CH" sz="1600" dirty="0" err="1"/>
              <a:t>What’s</a:t>
            </a:r>
            <a:r>
              <a:rPr lang="de-CH" sz="1600" dirty="0"/>
              <a:t> </a:t>
            </a:r>
            <a:r>
              <a:rPr lang="de-CH" sz="1600" dirty="0" err="1"/>
              <a:t>behind</a:t>
            </a:r>
            <a:r>
              <a:rPr lang="de-CH" sz="1600" dirty="0"/>
              <a:t> the variant </a:t>
            </a:r>
            <a:r>
              <a:rPr lang="de-CH" sz="1600" dirty="0" err="1"/>
              <a:t>calling</a:t>
            </a:r>
            <a:r>
              <a:rPr lang="de-CH" sz="1600" dirty="0"/>
              <a:t> </a:t>
            </a:r>
            <a:r>
              <a:rPr lang="de-CH" sz="1600" dirty="0" err="1"/>
              <a:t>pipeline</a:t>
            </a:r>
            <a:r>
              <a:rPr lang="de-CH" sz="1600" dirty="0"/>
              <a:t> to </a:t>
            </a:r>
            <a:r>
              <a:rPr lang="de-CH" sz="1600" dirty="0" err="1"/>
              <a:t>detect</a:t>
            </a:r>
            <a:r>
              <a:rPr lang="de-CH" sz="1600" dirty="0"/>
              <a:t> </a:t>
            </a:r>
            <a:r>
              <a:rPr lang="de-CH" sz="1600" dirty="0" err="1"/>
              <a:t>genetic</a:t>
            </a:r>
            <a:r>
              <a:rPr lang="de-CH" sz="1600" dirty="0"/>
              <a:t> </a:t>
            </a:r>
            <a:r>
              <a:rPr lang="de-CH" sz="1600" dirty="0" err="1"/>
              <a:t>mutations</a:t>
            </a:r>
            <a:r>
              <a:rPr lang="de-CH" sz="1600" dirty="0"/>
              <a:t> in the 3 </a:t>
            </a:r>
            <a:r>
              <a:rPr lang="de-CH" sz="1600" dirty="0" err="1"/>
              <a:t>lineages</a:t>
            </a:r>
            <a:r>
              <a:rPr lang="de-CH" sz="1600" dirty="0"/>
              <a:t>.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de-CH"/>
              <a:t>Universität Basel</a:t>
            </a:r>
            <a:endParaRPr lang="de-CH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11826-9277-4232-A2B5-17D05DFC7392}" type="slidenum">
              <a:rPr lang="de-CH" smtClean="0"/>
              <a:pPr/>
              <a:t>5</a:t>
            </a:fld>
            <a:endParaRPr lang="de-CH" dirty="0"/>
          </a:p>
        </p:txBody>
      </p:sp>
      <p:grpSp>
        <p:nvGrpSpPr>
          <p:cNvPr id="7" name="Google Shape;10597;p81">
            <a:extLst>
              <a:ext uri="{FF2B5EF4-FFF2-40B4-BE49-F238E27FC236}">
                <a16:creationId xmlns:a16="http://schemas.microsoft.com/office/drawing/2014/main" id="{35FFBD74-71E9-73F5-8054-7FEAF5EBD6C9}"/>
              </a:ext>
            </a:extLst>
          </p:cNvPr>
          <p:cNvGrpSpPr>
            <a:grpSpLocks noChangeAspect="1"/>
          </p:cNvGrpSpPr>
          <p:nvPr/>
        </p:nvGrpSpPr>
        <p:grpSpPr>
          <a:xfrm>
            <a:off x="2358493" y="1502972"/>
            <a:ext cx="7474453" cy="3852055"/>
            <a:chOff x="834100" y="3642869"/>
            <a:chExt cx="1259483" cy="628426"/>
          </a:xfrm>
        </p:grpSpPr>
        <p:sp>
          <p:nvSpPr>
            <p:cNvPr id="8" name="Google Shape;10598;p81">
              <a:extLst>
                <a:ext uri="{FF2B5EF4-FFF2-40B4-BE49-F238E27FC236}">
                  <a16:creationId xmlns:a16="http://schemas.microsoft.com/office/drawing/2014/main" id="{73C26D0C-7E11-97AF-382C-1329BC93A6C7}"/>
                </a:ext>
              </a:extLst>
            </p:cNvPr>
            <p:cNvSpPr/>
            <p:nvPr/>
          </p:nvSpPr>
          <p:spPr>
            <a:xfrm>
              <a:off x="1557115" y="4061516"/>
              <a:ext cx="127079" cy="163426"/>
            </a:xfrm>
            <a:custGeom>
              <a:avLst/>
              <a:gdLst/>
              <a:ahLst/>
              <a:cxnLst/>
              <a:rect l="l" t="t" r="r" b="b"/>
              <a:pathLst>
                <a:path w="28816" h="37079" fill="none" extrusionOk="0">
                  <a:moveTo>
                    <a:pt x="28815" y="37078"/>
                  </a:moveTo>
                  <a:lnTo>
                    <a:pt x="17922" y="37078"/>
                  </a:lnTo>
                  <a:cubicBezTo>
                    <a:pt x="14829" y="37078"/>
                    <a:pt x="14212" y="33613"/>
                    <a:pt x="14212" y="33613"/>
                  </a:cubicBezTo>
                  <a:lnTo>
                    <a:pt x="14212" y="10631"/>
                  </a:lnTo>
                  <a:lnTo>
                    <a:pt x="0" y="10631"/>
                  </a:lnTo>
                  <a:lnTo>
                    <a:pt x="0" y="1"/>
                  </a:lnTo>
                </a:path>
              </a:pathLst>
            </a:custGeom>
            <a:noFill/>
            <a:ln w="25400" cap="rnd" cmpd="sng">
              <a:solidFill>
                <a:srgbClr val="006E6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0599;p81">
              <a:extLst>
                <a:ext uri="{FF2B5EF4-FFF2-40B4-BE49-F238E27FC236}">
                  <a16:creationId xmlns:a16="http://schemas.microsoft.com/office/drawing/2014/main" id="{116443AE-A68E-6575-99F4-94BCD2072664}"/>
                </a:ext>
              </a:extLst>
            </p:cNvPr>
            <p:cNvSpPr/>
            <p:nvPr/>
          </p:nvSpPr>
          <p:spPr>
            <a:xfrm>
              <a:off x="1847875" y="4224937"/>
              <a:ext cx="161119" cy="4"/>
            </a:xfrm>
            <a:custGeom>
              <a:avLst/>
              <a:gdLst/>
              <a:ahLst/>
              <a:cxnLst/>
              <a:rect l="l" t="t" r="r" b="b"/>
              <a:pathLst>
                <a:path w="36535" h="1" fill="none" extrusionOk="0">
                  <a:moveTo>
                    <a:pt x="1" y="0"/>
                  </a:moveTo>
                  <a:lnTo>
                    <a:pt x="36535" y="0"/>
                  </a:lnTo>
                </a:path>
              </a:pathLst>
            </a:custGeom>
            <a:noFill/>
            <a:ln w="25400" cap="rnd" cmpd="sng">
              <a:solidFill>
                <a:srgbClr val="006E6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0600;p81">
              <a:extLst>
                <a:ext uri="{FF2B5EF4-FFF2-40B4-BE49-F238E27FC236}">
                  <a16:creationId xmlns:a16="http://schemas.microsoft.com/office/drawing/2014/main" id="{9B864F7A-9670-7FBB-6641-006C1A3DCE6B}"/>
                </a:ext>
              </a:extLst>
            </p:cNvPr>
            <p:cNvSpPr/>
            <p:nvPr/>
          </p:nvSpPr>
          <p:spPr>
            <a:xfrm>
              <a:off x="1684189" y="4176763"/>
              <a:ext cx="163690" cy="94532"/>
            </a:xfrm>
            <a:custGeom>
              <a:avLst/>
              <a:gdLst/>
              <a:ahLst/>
              <a:cxnLst/>
              <a:rect l="l" t="t" r="r" b="b"/>
              <a:pathLst>
                <a:path w="37118" h="21448" extrusionOk="0">
                  <a:moveTo>
                    <a:pt x="4950" y="1"/>
                  </a:moveTo>
                  <a:cubicBezTo>
                    <a:pt x="2218" y="1"/>
                    <a:pt x="0" y="2679"/>
                    <a:pt x="0" y="5984"/>
                  </a:cubicBezTo>
                  <a:lnTo>
                    <a:pt x="0" y="15461"/>
                  </a:lnTo>
                  <a:cubicBezTo>
                    <a:pt x="0" y="18766"/>
                    <a:pt x="2218" y="21447"/>
                    <a:pt x="4950" y="21447"/>
                  </a:cubicBezTo>
                  <a:lnTo>
                    <a:pt x="32168" y="21447"/>
                  </a:lnTo>
                  <a:cubicBezTo>
                    <a:pt x="34904" y="21447"/>
                    <a:pt x="37118" y="18766"/>
                    <a:pt x="37118" y="15461"/>
                  </a:cubicBezTo>
                  <a:lnTo>
                    <a:pt x="37118" y="5984"/>
                  </a:lnTo>
                  <a:cubicBezTo>
                    <a:pt x="37118" y="2679"/>
                    <a:pt x="34904" y="1"/>
                    <a:pt x="32168" y="1"/>
                  </a:cubicBezTo>
                  <a:close/>
                </a:path>
              </a:pathLst>
            </a:custGeom>
            <a:noFill/>
            <a:ln w="25400" cap="flat" cmpd="sng">
              <a:solidFill>
                <a:srgbClr val="006E6E"/>
              </a:solidFill>
              <a:prstDash val="solid"/>
              <a:miter lim="36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200" dirty="0" err="1"/>
                <a:t>Variants</a:t>
              </a:r>
              <a:endParaRPr sz="1200" dirty="0"/>
            </a:p>
          </p:txBody>
        </p:sp>
        <p:sp>
          <p:nvSpPr>
            <p:cNvPr id="11" name="Google Shape;10601;p81">
              <a:extLst>
                <a:ext uri="{FF2B5EF4-FFF2-40B4-BE49-F238E27FC236}">
                  <a16:creationId xmlns:a16="http://schemas.microsoft.com/office/drawing/2014/main" id="{1232B76E-D0B2-1548-277A-246A564E0034}"/>
                </a:ext>
              </a:extLst>
            </p:cNvPr>
            <p:cNvSpPr/>
            <p:nvPr/>
          </p:nvSpPr>
          <p:spPr>
            <a:xfrm>
              <a:off x="1246916" y="3961205"/>
              <a:ext cx="77612" cy="4"/>
            </a:xfrm>
            <a:custGeom>
              <a:avLst/>
              <a:gdLst/>
              <a:ahLst/>
              <a:cxnLst/>
              <a:rect l="l" t="t" r="r" b="b"/>
              <a:pathLst>
                <a:path w="17599" h="1" fill="none" extrusionOk="0">
                  <a:moveTo>
                    <a:pt x="17598" y="0"/>
                  </a:moveTo>
                  <a:lnTo>
                    <a:pt x="1" y="0"/>
                  </a:lnTo>
                </a:path>
              </a:pathLst>
            </a:custGeom>
            <a:noFill/>
            <a:ln w="25400" cap="rnd" cmpd="sng">
              <a:solidFill>
                <a:srgbClr val="006E6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0602;p81">
              <a:extLst>
                <a:ext uri="{FF2B5EF4-FFF2-40B4-BE49-F238E27FC236}">
                  <a16:creationId xmlns:a16="http://schemas.microsoft.com/office/drawing/2014/main" id="{121A2D4F-4BB2-0F64-69CD-614C136D7701}"/>
                </a:ext>
              </a:extLst>
            </p:cNvPr>
            <p:cNvSpPr/>
            <p:nvPr/>
          </p:nvSpPr>
          <p:spPr>
            <a:xfrm>
              <a:off x="854078" y="3861292"/>
              <a:ext cx="154429" cy="4"/>
            </a:xfrm>
            <a:custGeom>
              <a:avLst/>
              <a:gdLst/>
              <a:ahLst/>
              <a:cxnLst/>
              <a:rect l="l" t="t" r="r" b="b"/>
              <a:pathLst>
                <a:path w="35018" h="1" fill="none" extrusionOk="0">
                  <a:moveTo>
                    <a:pt x="35017" y="1"/>
                  </a:moveTo>
                  <a:lnTo>
                    <a:pt x="1" y="1"/>
                  </a:lnTo>
                </a:path>
              </a:pathLst>
            </a:custGeom>
            <a:noFill/>
            <a:ln w="25400" cap="rnd" cmpd="sng">
              <a:solidFill>
                <a:srgbClr val="006E6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0603;p81">
              <a:extLst>
                <a:ext uri="{FF2B5EF4-FFF2-40B4-BE49-F238E27FC236}">
                  <a16:creationId xmlns:a16="http://schemas.microsoft.com/office/drawing/2014/main" id="{9ED82350-6FD9-0873-4C6B-6B4E90562877}"/>
                </a:ext>
              </a:extLst>
            </p:cNvPr>
            <p:cNvSpPr/>
            <p:nvPr/>
          </p:nvSpPr>
          <p:spPr>
            <a:xfrm>
              <a:off x="1164630" y="3861309"/>
              <a:ext cx="79574" cy="199792"/>
            </a:xfrm>
            <a:custGeom>
              <a:avLst/>
              <a:gdLst/>
              <a:ahLst/>
              <a:cxnLst/>
              <a:rect l="l" t="t" r="r" b="b"/>
              <a:pathLst>
                <a:path w="18044" h="45330" fill="none" extrusionOk="0">
                  <a:moveTo>
                    <a:pt x="0" y="45330"/>
                  </a:moveTo>
                  <a:lnTo>
                    <a:pt x="12418" y="45330"/>
                  </a:lnTo>
                  <a:cubicBezTo>
                    <a:pt x="15150" y="45330"/>
                    <a:pt x="18043" y="42619"/>
                    <a:pt x="18043" y="35634"/>
                  </a:cubicBezTo>
                  <a:lnTo>
                    <a:pt x="18043" y="9697"/>
                  </a:lnTo>
                  <a:cubicBezTo>
                    <a:pt x="18043" y="2711"/>
                    <a:pt x="15150" y="1"/>
                    <a:pt x="12418" y="1"/>
                  </a:cubicBezTo>
                  <a:lnTo>
                    <a:pt x="1715" y="1"/>
                  </a:lnTo>
                </a:path>
              </a:pathLst>
            </a:custGeom>
            <a:noFill/>
            <a:ln w="25400" cap="rnd" cmpd="sng">
              <a:solidFill>
                <a:srgbClr val="006E6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0604;p81">
              <a:extLst>
                <a:ext uri="{FF2B5EF4-FFF2-40B4-BE49-F238E27FC236}">
                  <a16:creationId xmlns:a16="http://schemas.microsoft.com/office/drawing/2014/main" id="{20EBF7EE-A5B3-F8F5-4DE9-B4D97E842A16}"/>
                </a:ext>
              </a:extLst>
            </p:cNvPr>
            <p:cNvSpPr/>
            <p:nvPr/>
          </p:nvSpPr>
          <p:spPr>
            <a:xfrm>
              <a:off x="854078" y="4061097"/>
              <a:ext cx="146866" cy="4"/>
            </a:xfrm>
            <a:custGeom>
              <a:avLst/>
              <a:gdLst/>
              <a:ahLst/>
              <a:cxnLst/>
              <a:rect l="l" t="t" r="r" b="b"/>
              <a:pathLst>
                <a:path w="33303" h="1" fill="none" extrusionOk="0">
                  <a:moveTo>
                    <a:pt x="1" y="1"/>
                  </a:moveTo>
                  <a:lnTo>
                    <a:pt x="33303" y="1"/>
                  </a:lnTo>
                </a:path>
              </a:pathLst>
            </a:custGeom>
            <a:noFill/>
            <a:ln w="25400" cap="rnd" cmpd="sng">
              <a:solidFill>
                <a:srgbClr val="006E6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0605;p81">
              <a:extLst>
                <a:ext uri="{FF2B5EF4-FFF2-40B4-BE49-F238E27FC236}">
                  <a16:creationId xmlns:a16="http://schemas.microsoft.com/office/drawing/2014/main" id="{78CB250C-2428-8B3C-7E0C-540E05F3A441}"/>
                </a:ext>
              </a:extLst>
            </p:cNvPr>
            <p:cNvSpPr/>
            <p:nvPr/>
          </p:nvSpPr>
          <p:spPr>
            <a:xfrm>
              <a:off x="1000939" y="4005884"/>
              <a:ext cx="163695" cy="94514"/>
            </a:xfrm>
            <a:custGeom>
              <a:avLst/>
              <a:gdLst/>
              <a:ahLst/>
              <a:cxnLst/>
              <a:rect l="l" t="t" r="r" b="b"/>
              <a:pathLst>
                <a:path w="37119" h="21444" extrusionOk="0">
                  <a:moveTo>
                    <a:pt x="4947" y="1"/>
                  </a:moveTo>
                  <a:cubicBezTo>
                    <a:pt x="2215" y="1"/>
                    <a:pt x="1" y="2678"/>
                    <a:pt x="1" y="5983"/>
                  </a:cubicBezTo>
                  <a:lnTo>
                    <a:pt x="1" y="15461"/>
                  </a:lnTo>
                  <a:cubicBezTo>
                    <a:pt x="1" y="18766"/>
                    <a:pt x="2215" y="21443"/>
                    <a:pt x="4947" y="21443"/>
                  </a:cubicBezTo>
                  <a:lnTo>
                    <a:pt x="32168" y="21443"/>
                  </a:lnTo>
                  <a:cubicBezTo>
                    <a:pt x="34901" y="21443"/>
                    <a:pt x="37118" y="18766"/>
                    <a:pt x="37118" y="15461"/>
                  </a:cubicBezTo>
                  <a:lnTo>
                    <a:pt x="37118" y="5983"/>
                  </a:lnTo>
                  <a:cubicBezTo>
                    <a:pt x="37118" y="2678"/>
                    <a:pt x="34901" y="1"/>
                    <a:pt x="32168" y="1"/>
                  </a:cubicBezTo>
                  <a:close/>
                </a:path>
              </a:pathLst>
            </a:custGeom>
            <a:noFill/>
            <a:ln w="25400" cap="flat" cmpd="sng">
              <a:solidFill>
                <a:srgbClr val="006E6E"/>
              </a:solidFill>
              <a:prstDash val="solid"/>
              <a:miter lim="36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dirty="0" err="1"/>
                <a:t>Reads</a:t>
              </a:r>
              <a:endParaRPr dirty="0"/>
            </a:p>
          </p:txBody>
        </p:sp>
        <p:sp>
          <p:nvSpPr>
            <p:cNvPr id="16" name="Google Shape;10606;p81">
              <a:extLst>
                <a:ext uri="{FF2B5EF4-FFF2-40B4-BE49-F238E27FC236}">
                  <a16:creationId xmlns:a16="http://schemas.microsoft.com/office/drawing/2014/main" id="{6839B434-E04A-7EC1-3D51-D7B5F686A283}"/>
                </a:ext>
              </a:extLst>
            </p:cNvPr>
            <p:cNvSpPr/>
            <p:nvPr/>
          </p:nvSpPr>
          <p:spPr>
            <a:xfrm>
              <a:off x="1008502" y="3822418"/>
              <a:ext cx="163690" cy="94528"/>
            </a:xfrm>
            <a:custGeom>
              <a:avLst/>
              <a:gdLst/>
              <a:ahLst/>
              <a:cxnLst/>
              <a:rect l="l" t="t" r="r" b="b"/>
              <a:pathLst>
                <a:path w="37118" h="21447" extrusionOk="0">
                  <a:moveTo>
                    <a:pt x="4951" y="0"/>
                  </a:moveTo>
                  <a:cubicBezTo>
                    <a:pt x="2218" y="0"/>
                    <a:pt x="0" y="2678"/>
                    <a:pt x="0" y="5983"/>
                  </a:cubicBezTo>
                  <a:lnTo>
                    <a:pt x="0" y="15460"/>
                  </a:lnTo>
                  <a:cubicBezTo>
                    <a:pt x="0" y="18765"/>
                    <a:pt x="2215" y="21446"/>
                    <a:pt x="4951" y="21446"/>
                  </a:cubicBezTo>
                  <a:lnTo>
                    <a:pt x="32168" y="21446"/>
                  </a:lnTo>
                  <a:cubicBezTo>
                    <a:pt x="34900" y="21446"/>
                    <a:pt x="37118" y="18765"/>
                    <a:pt x="37118" y="15460"/>
                  </a:cubicBezTo>
                  <a:lnTo>
                    <a:pt x="37118" y="5983"/>
                  </a:lnTo>
                  <a:cubicBezTo>
                    <a:pt x="37118" y="2678"/>
                    <a:pt x="34900" y="0"/>
                    <a:pt x="32168" y="0"/>
                  </a:cubicBezTo>
                  <a:close/>
                </a:path>
              </a:pathLst>
            </a:custGeom>
            <a:noFill/>
            <a:ln w="25400" cap="flat" cmpd="sng">
              <a:solidFill>
                <a:srgbClr val="006E6E"/>
              </a:solidFill>
              <a:prstDash val="solid"/>
              <a:miter lim="36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dirty="0" err="1"/>
                <a:t>Genome</a:t>
              </a:r>
              <a:endParaRPr dirty="0"/>
            </a:p>
          </p:txBody>
        </p:sp>
        <p:sp>
          <p:nvSpPr>
            <p:cNvPr id="17" name="Google Shape;10607;p81">
              <a:extLst>
                <a:ext uri="{FF2B5EF4-FFF2-40B4-BE49-F238E27FC236}">
                  <a16:creationId xmlns:a16="http://schemas.microsoft.com/office/drawing/2014/main" id="{EA78DB9D-0E39-B271-9020-00A11C0A6410}"/>
                </a:ext>
              </a:extLst>
            </p:cNvPr>
            <p:cNvSpPr/>
            <p:nvPr/>
          </p:nvSpPr>
          <p:spPr>
            <a:xfrm>
              <a:off x="1603156" y="3961205"/>
              <a:ext cx="77612" cy="4"/>
            </a:xfrm>
            <a:custGeom>
              <a:avLst/>
              <a:gdLst/>
              <a:ahLst/>
              <a:cxnLst/>
              <a:rect l="l" t="t" r="r" b="b"/>
              <a:pathLst>
                <a:path w="17599" h="1" fill="none" extrusionOk="0">
                  <a:moveTo>
                    <a:pt x="1" y="0"/>
                  </a:moveTo>
                  <a:lnTo>
                    <a:pt x="17598" y="0"/>
                  </a:lnTo>
                </a:path>
              </a:pathLst>
            </a:custGeom>
            <a:noFill/>
            <a:ln w="25400" cap="rnd" cmpd="sng">
              <a:solidFill>
                <a:srgbClr val="006E6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0608;p81">
              <a:extLst>
                <a:ext uri="{FF2B5EF4-FFF2-40B4-BE49-F238E27FC236}">
                  <a16:creationId xmlns:a16="http://schemas.microsoft.com/office/drawing/2014/main" id="{1F1739E2-CF55-568C-1B09-FC6B182C2224}"/>
                </a:ext>
              </a:extLst>
            </p:cNvPr>
            <p:cNvSpPr/>
            <p:nvPr/>
          </p:nvSpPr>
          <p:spPr>
            <a:xfrm>
              <a:off x="1926576" y="3861292"/>
              <a:ext cx="144308" cy="4"/>
            </a:xfrm>
            <a:custGeom>
              <a:avLst/>
              <a:gdLst/>
              <a:ahLst/>
              <a:cxnLst/>
              <a:rect l="l" t="t" r="r" b="b"/>
              <a:pathLst>
                <a:path w="32723" h="1" fill="none" extrusionOk="0">
                  <a:moveTo>
                    <a:pt x="1" y="1"/>
                  </a:moveTo>
                  <a:lnTo>
                    <a:pt x="32723" y="1"/>
                  </a:lnTo>
                </a:path>
              </a:pathLst>
            </a:custGeom>
            <a:noFill/>
            <a:ln w="25400" cap="rnd" cmpd="sng">
              <a:solidFill>
                <a:srgbClr val="006E6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0609;p81">
              <a:extLst>
                <a:ext uri="{FF2B5EF4-FFF2-40B4-BE49-F238E27FC236}">
                  <a16:creationId xmlns:a16="http://schemas.microsoft.com/office/drawing/2014/main" id="{BFA6C8AF-E7D2-140B-231D-59A39F185DCA}"/>
                </a:ext>
              </a:extLst>
            </p:cNvPr>
            <p:cNvSpPr/>
            <p:nvPr/>
          </p:nvSpPr>
          <p:spPr>
            <a:xfrm>
              <a:off x="1680763" y="3861309"/>
              <a:ext cx="82127" cy="199792"/>
            </a:xfrm>
            <a:custGeom>
              <a:avLst/>
              <a:gdLst/>
              <a:ahLst/>
              <a:cxnLst/>
              <a:rect l="l" t="t" r="r" b="b"/>
              <a:pathLst>
                <a:path w="18623" h="45330" fill="none" extrusionOk="0">
                  <a:moveTo>
                    <a:pt x="18623" y="45330"/>
                  </a:moveTo>
                  <a:lnTo>
                    <a:pt x="5625" y="45330"/>
                  </a:lnTo>
                  <a:cubicBezTo>
                    <a:pt x="2889" y="45330"/>
                    <a:pt x="0" y="42619"/>
                    <a:pt x="0" y="35634"/>
                  </a:cubicBezTo>
                  <a:lnTo>
                    <a:pt x="0" y="9697"/>
                  </a:lnTo>
                  <a:cubicBezTo>
                    <a:pt x="0" y="2711"/>
                    <a:pt x="2889" y="1"/>
                    <a:pt x="5625" y="1"/>
                  </a:cubicBezTo>
                  <a:lnTo>
                    <a:pt x="18623" y="1"/>
                  </a:lnTo>
                </a:path>
              </a:pathLst>
            </a:custGeom>
            <a:noFill/>
            <a:ln w="25400" cap="rnd" cmpd="sng">
              <a:solidFill>
                <a:srgbClr val="006E6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0610;p81">
              <a:extLst>
                <a:ext uri="{FF2B5EF4-FFF2-40B4-BE49-F238E27FC236}">
                  <a16:creationId xmlns:a16="http://schemas.microsoft.com/office/drawing/2014/main" id="{8397E8E9-BF33-551B-B16B-BCFBDB4C8F3B}"/>
                </a:ext>
              </a:extLst>
            </p:cNvPr>
            <p:cNvSpPr/>
            <p:nvPr/>
          </p:nvSpPr>
          <p:spPr>
            <a:xfrm>
              <a:off x="1926576" y="4061097"/>
              <a:ext cx="144308" cy="4"/>
            </a:xfrm>
            <a:custGeom>
              <a:avLst/>
              <a:gdLst/>
              <a:ahLst/>
              <a:cxnLst/>
              <a:rect l="l" t="t" r="r" b="b"/>
              <a:pathLst>
                <a:path w="32723" h="1" fill="none" extrusionOk="0">
                  <a:moveTo>
                    <a:pt x="32723" y="1"/>
                  </a:moveTo>
                  <a:lnTo>
                    <a:pt x="1" y="1"/>
                  </a:lnTo>
                </a:path>
              </a:pathLst>
            </a:custGeom>
            <a:noFill/>
            <a:ln w="25400" cap="rnd" cmpd="sng">
              <a:solidFill>
                <a:srgbClr val="006E6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0611;p81">
              <a:extLst>
                <a:ext uri="{FF2B5EF4-FFF2-40B4-BE49-F238E27FC236}">
                  <a16:creationId xmlns:a16="http://schemas.microsoft.com/office/drawing/2014/main" id="{5CEC7935-58AD-7CFE-2DCD-13272CFF495D}"/>
                </a:ext>
              </a:extLst>
            </p:cNvPr>
            <p:cNvSpPr/>
            <p:nvPr/>
          </p:nvSpPr>
          <p:spPr>
            <a:xfrm>
              <a:off x="1762436" y="3822418"/>
              <a:ext cx="163677" cy="94528"/>
            </a:xfrm>
            <a:custGeom>
              <a:avLst/>
              <a:gdLst/>
              <a:ahLst/>
              <a:cxnLst/>
              <a:rect l="l" t="t" r="r" b="b"/>
              <a:pathLst>
                <a:path w="37115" h="21447" extrusionOk="0">
                  <a:moveTo>
                    <a:pt x="4951" y="0"/>
                  </a:moveTo>
                  <a:cubicBezTo>
                    <a:pt x="2215" y="0"/>
                    <a:pt x="1" y="2678"/>
                    <a:pt x="1" y="5983"/>
                  </a:cubicBezTo>
                  <a:lnTo>
                    <a:pt x="1" y="15460"/>
                  </a:lnTo>
                  <a:cubicBezTo>
                    <a:pt x="1" y="18765"/>
                    <a:pt x="2215" y="21446"/>
                    <a:pt x="4951" y="21446"/>
                  </a:cubicBezTo>
                  <a:lnTo>
                    <a:pt x="32168" y="21446"/>
                  </a:lnTo>
                  <a:cubicBezTo>
                    <a:pt x="34901" y="21446"/>
                    <a:pt x="37115" y="18765"/>
                    <a:pt x="37115" y="15460"/>
                  </a:cubicBezTo>
                  <a:lnTo>
                    <a:pt x="37115" y="5983"/>
                  </a:lnTo>
                  <a:cubicBezTo>
                    <a:pt x="37115" y="2678"/>
                    <a:pt x="34901" y="0"/>
                    <a:pt x="32168" y="0"/>
                  </a:cubicBezTo>
                  <a:close/>
                </a:path>
              </a:pathLst>
            </a:custGeom>
            <a:noFill/>
            <a:ln w="25400" cap="flat" cmpd="sng">
              <a:solidFill>
                <a:srgbClr val="006E6E"/>
              </a:solidFill>
              <a:prstDash val="solid"/>
              <a:miter lim="36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dirty="0" err="1"/>
                <a:t>Raw</a:t>
              </a:r>
              <a:r>
                <a:rPr lang="it-IT" dirty="0"/>
                <a:t> data</a:t>
              </a:r>
              <a:endParaRPr dirty="0"/>
            </a:p>
          </p:txBody>
        </p:sp>
        <p:sp>
          <p:nvSpPr>
            <p:cNvPr id="22" name="Google Shape;10612;p81">
              <a:extLst>
                <a:ext uri="{FF2B5EF4-FFF2-40B4-BE49-F238E27FC236}">
                  <a16:creationId xmlns:a16="http://schemas.microsoft.com/office/drawing/2014/main" id="{F84E1DF4-AC93-F687-E800-FDC87C446E16}"/>
                </a:ext>
              </a:extLst>
            </p:cNvPr>
            <p:cNvSpPr/>
            <p:nvPr/>
          </p:nvSpPr>
          <p:spPr>
            <a:xfrm>
              <a:off x="1762886" y="4005884"/>
              <a:ext cx="163695" cy="94514"/>
            </a:xfrm>
            <a:custGeom>
              <a:avLst/>
              <a:gdLst/>
              <a:ahLst/>
              <a:cxnLst/>
              <a:rect l="l" t="t" r="r" b="b"/>
              <a:pathLst>
                <a:path w="37119" h="21444" extrusionOk="0">
                  <a:moveTo>
                    <a:pt x="4951" y="1"/>
                  </a:moveTo>
                  <a:cubicBezTo>
                    <a:pt x="2219" y="1"/>
                    <a:pt x="1" y="2678"/>
                    <a:pt x="1" y="5983"/>
                  </a:cubicBezTo>
                  <a:lnTo>
                    <a:pt x="1" y="15461"/>
                  </a:lnTo>
                  <a:cubicBezTo>
                    <a:pt x="1" y="18766"/>
                    <a:pt x="2219" y="21443"/>
                    <a:pt x="4951" y="21443"/>
                  </a:cubicBezTo>
                  <a:lnTo>
                    <a:pt x="32168" y="21443"/>
                  </a:lnTo>
                  <a:cubicBezTo>
                    <a:pt x="34901" y="21443"/>
                    <a:pt x="37119" y="18766"/>
                    <a:pt x="37119" y="15461"/>
                  </a:cubicBezTo>
                  <a:lnTo>
                    <a:pt x="37119" y="5983"/>
                  </a:lnTo>
                  <a:cubicBezTo>
                    <a:pt x="37119" y="2678"/>
                    <a:pt x="34901" y="1"/>
                    <a:pt x="32168" y="1"/>
                  </a:cubicBezTo>
                  <a:close/>
                </a:path>
              </a:pathLst>
            </a:custGeom>
            <a:noFill/>
            <a:ln w="25400" cap="flat" cmpd="sng">
              <a:solidFill>
                <a:srgbClr val="006E6E"/>
              </a:solidFill>
              <a:prstDash val="solid"/>
              <a:miter lim="36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dirty="0"/>
                <a:t>Visual output</a:t>
              </a:r>
              <a:endParaRPr dirty="0"/>
            </a:p>
          </p:txBody>
        </p:sp>
        <p:sp>
          <p:nvSpPr>
            <p:cNvPr id="23" name="Google Shape;10613;p81">
              <a:extLst>
                <a:ext uri="{FF2B5EF4-FFF2-40B4-BE49-F238E27FC236}">
                  <a16:creationId xmlns:a16="http://schemas.microsoft.com/office/drawing/2014/main" id="{C62C09D6-54CF-8882-15FC-01B4D9C3AC8C}"/>
                </a:ext>
              </a:extLst>
            </p:cNvPr>
            <p:cNvSpPr/>
            <p:nvPr/>
          </p:nvSpPr>
          <p:spPr>
            <a:xfrm>
              <a:off x="1325004" y="3820086"/>
              <a:ext cx="278558" cy="278382"/>
            </a:xfrm>
            <a:custGeom>
              <a:avLst/>
              <a:gdLst/>
              <a:ahLst/>
              <a:cxnLst/>
              <a:rect l="l" t="t" r="r" b="b"/>
              <a:pathLst>
                <a:path w="63165" h="63161" fill="none" extrusionOk="0">
                  <a:moveTo>
                    <a:pt x="63165" y="31580"/>
                  </a:moveTo>
                  <a:cubicBezTo>
                    <a:pt x="63165" y="49021"/>
                    <a:pt x="49025" y="63161"/>
                    <a:pt x="31585" y="63161"/>
                  </a:cubicBezTo>
                  <a:cubicBezTo>
                    <a:pt x="14140" y="63161"/>
                    <a:pt x="1" y="49021"/>
                    <a:pt x="1" y="31580"/>
                  </a:cubicBezTo>
                  <a:cubicBezTo>
                    <a:pt x="1" y="14140"/>
                    <a:pt x="14140" y="0"/>
                    <a:pt x="31585" y="0"/>
                  </a:cubicBezTo>
                  <a:cubicBezTo>
                    <a:pt x="49025" y="0"/>
                    <a:pt x="63165" y="14140"/>
                    <a:pt x="63165" y="31580"/>
                  </a:cubicBezTo>
                  <a:close/>
                </a:path>
              </a:pathLst>
            </a:custGeom>
            <a:noFill/>
            <a:ln w="25400" cap="flat" cmpd="sng">
              <a:solidFill>
                <a:srgbClr val="006E6E"/>
              </a:solidFill>
              <a:prstDash val="solid"/>
              <a:miter lim="36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0614;p81">
              <a:extLst>
                <a:ext uri="{FF2B5EF4-FFF2-40B4-BE49-F238E27FC236}">
                  <a16:creationId xmlns:a16="http://schemas.microsoft.com/office/drawing/2014/main" id="{3B4E6D77-57BA-1E27-42E6-D6A87F60E379}"/>
                </a:ext>
              </a:extLst>
            </p:cNvPr>
            <p:cNvSpPr/>
            <p:nvPr/>
          </p:nvSpPr>
          <p:spPr>
            <a:xfrm>
              <a:off x="1235816" y="3689223"/>
              <a:ext cx="134752" cy="171223"/>
            </a:xfrm>
            <a:custGeom>
              <a:avLst/>
              <a:gdLst/>
              <a:ahLst/>
              <a:cxnLst/>
              <a:rect l="l" t="t" r="r" b="b"/>
              <a:pathLst>
                <a:path w="30556" h="38848" fill="none" extrusionOk="0">
                  <a:moveTo>
                    <a:pt x="1" y="1"/>
                  </a:moveTo>
                  <a:lnTo>
                    <a:pt x="12633" y="1"/>
                  </a:lnTo>
                  <a:cubicBezTo>
                    <a:pt x="15723" y="1"/>
                    <a:pt x="16343" y="3466"/>
                    <a:pt x="16343" y="3466"/>
                  </a:cubicBezTo>
                  <a:lnTo>
                    <a:pt x="16343" y="26448"/>
                  </a:lnTo>
                  <a:lnTo>
                    <a:pt x="30556" y="26448"/>
                  </a:lnTo>
                  <a:lnTo>
                    <a:pt x="30556" y="38848"/>
                  </a:lnTo>
                </a:path>
              </a:pathLst>
            </a:custGeom>
            <a:noFill/>
            <a:ln w="25400" cap="rnd" cmpd="sng">
              <a:solidFill>
                <a:srgbClr val="006E6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0615;p81">
              <a:extLst>
                <a:ext uri="{FF2B5EF4-FFF2-40B4-BE49-F238E27FC236}">
                  <a16:creationId xmlns:a16="http://schemas.microsoft.com/office/drawing/2014/main" id="{EFC43B80-18FE-7D26-222F-6853C9B4D79D}"/>
                </a:ext>
              </a:extLst>
            </p:cNvPr>
            <p:cNvSpPr/>
            <p:nvPr/>
          </p:nvSpPr>
          <p:spPr>
            <a:xfrm>
              <a:off x="910512" y="3689223"/>
              <a:ext cx="161618" cy="4"/>
            </a:xfrm>
            <a:custGeom>
              <a:avLst/>
              <a:gdLst/>
              <a:ahLst/>
              <a:cxnLst/>
              <a:rect l="l" t="t" r="r" b="b"/>
              <a:pathLst>
                <a:path w="36648" h="1" fill="none" extrusionOk="0">
                  <a:moveTo>
                    <a:pt x="36648" y="1"/>
                  </a:moveTo>
                  <a:lnTo>
                    <a:pt x="1" y="1"/>
                  </a:lnTo>
                </a:path>
              </a:pathLst>
            </a:custGeom>
            <a:noFill/>
            <a:ln w="25400" cap="rnd" cmpd="sng">
              <a:solidFill>
                <a:srgbClr val="006E6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0616;p81">
              <a:extLst>
                <a:ext uri="{FF2B5EF4-FFF2-40B4-BE49-F238E27FC236}">
                  <a16:creationId xmlns:a16="http://schemas.microsoft.com/office/drawing/2014/main" id="{A62C2ACB-4FDD-935F-6FF1-130F45ABD3E8}"/>
                </a:ext>
              </a:extLst>
            </p:cNvPr>
            <p:cNvSpPr/>
            <p:nvPr/>
          </p:nvSpPr>
          <p:spPr>
            <a:xfrm>
              <a:off x="1072126" y="3642869"/>
              <a:ext cx="163695" cy="94532"/>
            </a:xfrm>
            <a:custGeom>
              <a:avLst/>
              <a:gdLst/>
              <a:ahLst/>
              <a:cxnLst/>
              <a:rect l="l" t="t" r="r" b="b"/>
              <a:pathLst>
                <a:path w="37119" h="21448" extrusionOk="0">
                  <a:moveTo>
                    <a:pt x="4951" y="1"/>
                  </a:moveTo>
                  <a:cubicBezTo>
                    <a:pt x="2219" y="1"/>
                    <a:pt x="1" y="2682"/>
                    <a:pt x="1" y="5987"/>
                  </a:cubicBezTo>
                  <a:lnTo>
                    <a:pt x="1" y="15464"/>
                  </a:lnTo>
                  <a:cubicBezTo>
                    <a:pt x="1" y="18769"/>
                    <a:pt x="2219" y="21447"/>
                    <a:pt x="4951" y="21447"/>
                  </a:cubicBezTo>
                  <a:lnTo>
                    <a:pt x="32172" y="21447"/>
                  </a:lnTo>
                  <a:cubicBezTo>
                    <a:pt x="34904" y="21447"/>
                    <a:pt x="37119" y="18769"/>
                    <a:pt x="37119" y="15464"/>
                  </a:cubicBezTo>
                  <a:lnTo>
                    <a:pt x="37119" y="5987"/>
                  </a:lnTo>
                  <a:cubicBezTo>
                    <a:pt x="37119" y="2682"/>
                    <a:pt x="34904" y="1"/>
                    <a:pt x="32172" y="1"/>
                  </a:cubicBezTo>
                  <a:close/>
                </a:path>
              </a:pathLst>
            </a:custGeom>
            <a:noFill/>
            <a:ln w="25400" cap="flat" cmpd="sng">
              <a:solidFill>
                <a:srgbClr val="006E6E"/>
              </a:solidFill>
              <a:prstDash val="solid"/>
              <a:miter lim="36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/>
              <a:r>
                <a:rPr lang="it-IT" dirty="0"/>
                <a:t>Mode</a:t>
              </a:r>
            </a:p>
          </p:txBody>
        </p:sp>
        <p:sp>
          <p:nvSpPr>
            <p:cNvPr id="27" name="Google Shape;10617;p81">
              <a:extLst>
                <a:ext uri="{FF2B5EF4-FFF2-40B4-BE49-F238E27FC236}">
                  <a16:creationId xmlns:a16="http://schemas.microsoft.com/office/drawing/2014/main" id="{B9B5EE37-4B63-2B9A-9889-7CC64A52F9D1}"/>
                </a:ext>
              </a:extLst>
            </p:cNvPr>
            <p:cNvSpPr/>
            <p:nvPr/>
          </p:nvSpPr>
          <p:spPr>
            <a:xfrm>
              <a:off x="1235913" y="4073301"/>
              <a:ext cx="134655" cy="151640"/>
            </a:xfrm>
            <a:custGeom>
              <a:avLst/>
              <a:gdLst/>
              <a:ahLst/>
              <a:cxnLst/>
              <a:rect l="l" t="t" r="r" b="b"/>
              <a:pathLst>
                <a:path w="30534" h="34405" fill="none" extrusionOk="0">
                  <a:moveTo>
                    <a:pt x="0" y="34404"/>
                  </a:moveTo>
                  <a:lnTo>
                    <a:pt x="12611" y="34404"/>
                  </a:lnTo>
                  <a:cubicBezTo>
                    <a:pt x="15705" y="34404"/>
                    <a:pt x="16325" y="30939"/>
                    <a:pt x="16325" y="30939"/>
                  </a:cubicBezTo>
                  <a:lnTo>
                    <a:pt x="16325" y="7957"/>
                  </a:lnTo>
                  <a:lnTo>
                    <a:pt x="30534" y="7957"/>
                  </a:lnTo>
                  <a:lnTo>
                    <a:pt x="30534" y="1"/>
                  </a:lnTo>
                </a:path>
              </a:pathLst>
            </a:custGeom>
            <a:noFill/>
            <a:ln w="25400" cap="rnd" cmpd="sng">
              <a:solidFill>
                <a:srgbClr val="006E6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0618;p81">
              <a:extLst>
                <a:ext uri="{FF2B5EF4-FFF2-40B4-BE49-F238E27FC236}">
                  <a16:creationId xmlns:a16="http://schemas.microsoft.com/office/drawing/2014/main" id="{03188535-286D-DE45-C794-B342C5600E08}"/>
                </a:ext>
              </a:extLst>
            </p:cNvPr>
            <p:cNvSpPr/>
            <p:nvPr/>
          </p:nvSpPr>
          <p:spPr>
            <a:xfrm>
              <a:off x="910512" y="4224937"/>
              <a:ext cx="161618" cy="4"/>
            </a:xfrm>
            <a:custGeom>
              <a:avLst/>
              <a:gdLst/>
              <a:ahLst/>
              <a:cxnLst/>
              <a:rect l="l" t="t" r="r" b="b"/>
              <a:pathLst>
                <a:path w="36648" h="1" fill="none" extrusionOk="0">
                  <a:moveTo>
                    <a:pt x="36648" y="0"/>
                  </a:moveTo>
                  <a:lnTo>
                    <a:pt x="1" y="0"/>
                  </a:lnTo>
                </a:path>
              </a:pathLst>
            </a:custGeom>
            <a:noFill/>
            <a:ln w="25400" cap="rnd" cmpd="sng">
              <a:solidFill>
                <a:srgbClr val="006E6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0619;p81">
              <a:extLst>
                <a:ext uri="{FF2B5EF4-FFF2-40B4-BE49-F238E27FC236}">
                  <a16:creationId xmlns:a16="http://schemas.microsoft.com/office/drawing/2014/main" id="{1862CCE7-7F24-EFE7-729C-F8C437923D62}"/>
                </a:ext>
              </a:extLst>
            </p:cNvPr>
            <p:cNvSpPr/>
            <p:nvPr/>
          </p:nvSpPr>
          <p:spPr>
            <a:xfrm>
              <a:off x="1072126" y="4176763"/>
              <a:ext cx="163695" cy="94532"/>
            </a:xfrm>
            <a:custGeom>
              <a:avLst/>
              <a:gdLst/>
              <a:ahLst/>
              <a:cxnLst/>
              <a:rect l="l" t="t" r="r" b="b"/>
              <a:pathLst>
                <a:path w="37119" h="21448" extrusionOk="0">
                  <a:moveTo>
                    <a:pt x="4951" y="1"/>
                  </a:moveTo>
                  <a:cubicBezTo>
                    <a:pt x="2219" y="1"/>
                    <a:pt x="1" y="2679"/>
                    <a:pt x="1" y="5984"/>
                  </a:cubicBezTo>
                  <a:lnTo>
                    <a:pt x="1" y="15461"/>
                  </a:lnTo>
                  <a:cubicBezTo>
                    <a:pt x="1" y="18766"/>
                    <a:pt x="2219" y="21447"/>
                    <a:pt x="4951" y="21447"/>
                  </a:cubicBezTo>
                  <a:lnTo>
                    <a:pt x="32172" y="21447"/>
                  </a:lnTo>
                  <a:cubicBezTo>
                    <a:pt x="34904" y="21447"/>
                    <a:pt x="37119" y="18766"/>
                    <a:pt x="37119" y="15461"/>
                  </a:cubicBezTo>
                  <a:lnTo>
                    <a:pt x="37119" y="5984"/>
                  </a:lnTo>
                  <a:cubicBezTo>
                    <a:pt x="37119" y="2679"/>
                    <a:pt x="34904" y="1"/>
                    <a:pt x="32172" y="1"/>
                  </a:cubicBezTo>
                  <a:close/>
                </a:path>
              </a:pathLst>
            </a:custGeom>
            <a:noFill/>
            <a:ln w="25400" cap="flat" cmpd="sng">
              <a:solidFill>
                <a:srgbClr val="006E6E"/>
              </a:solidFill>
              <a:prstDash val="solid"/>
              <a:miter lim="36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200" dirty="0" err="1"/>
                <a:t>Parameters</a:t>
              </a:r>
              <a:endParaRPr sz="1200" dirty="0"/>
            </a:p>
          </p:txBody>
        </p:sp>
        <p:sp>
          <p:nvSpPr>
            <p:cNvPr id="30" name="Google Shape;10620;p81">
              <a:extLst>
                <a:ext uri="{FF2B5EF4-FFF2-40B4-BE49-F238E27FC236}">
                  <a16:creationId xmlns:a16="http://schemas.microsoft.com/office/drawing/2014/main" id="{A47E06F8-4DC9-32C8-773F-3BDCF5FFCACF}"/>
                </a:ext>
              </a:extLst>
            </p:cNvPr>
            <p:cNvSpPr/>
            <p:nvPr/>
          </p:nvSpPr>
          <p:spPr>
            <a:xfrm>
              <a:off x="1562328" y="3689223"/>
              <a:ext cx="128816" cy="171223"/>
            </a:xfrm>
            <a:custGeom>
              <a:avLst/>
              <a:gdLst/>
              <a:ahLst/>
              <a:cxnLst/>
              <a:rect l="l" t="t" r="r" b="b"/>
              <a:pathLst>
                <a:path w="29210" h="38848" fill="none" extrusionOk="0">
                  <a:moveTo>
                    <a:pt x="29209" y="1"/>
                  </a:moveTo>
                  <a:lnTo>
                    <a:pt x="17922" y="1"/>
                  </a:lnTo>
                  <a:cubicBezTo>
                    <a:pt x="14829" y="1"/>
                    <a:pt x="14209" y="3466"/>
                    <a:pt x="14209" y="3466"/>
                  </a:cubicBezTo>
                  <a:lnTo>
                    <a:pt x="14209" y="26448"/>
                  </a:lnTo>
                  <a:lnTo>
                    <a:pt x="0" y="26448"/>
                  </a:lnTo>
                  <a:lnTo>
                    <a:pt x="0" y="38848"/>
                  </a:lnTo>
                </a:path>
              </a:pathLst>
            </a:custGeom>
            <a:noFill/>
            <a:ln w="25400" cap="rnd" cmpd="sng">
              <a:solidFill>
                <a:srgbClr val="006E6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0621;p81">
              <a:extLst>
                <a:ext uri="{FF2B5EF4-FFF2-40B4-BE49-F238E27FC236}">
                  <a16:creationId xmlns:a16="http://schemas.microsoft.com/office/drawing/2014/main" id="{C6C2CE38-B262-AD82-5032-8DC2BD7134EC}"/>
                </a:ext>
              </a:extLst>
            </p:cNvPr>
            <p:cNvSpPr/>
            <p:nvPr/>
          </p:nvSpPr>
          <p:spPr>
            <a:xfrm>
              <a:off x="1854826" y="3689223"/>
              <a:ext cx="154169" cy="4"/>
            </a:xfrm>
            <a:custGeom>
              <a:avLst/>
              <a:gdLst/>
              <a:ahLst/>
              <a:cxnLst/>
              <a:rect l="l" t="t" r="r" b="b"/>
              <a:pathLst>
                <a:path w="34959" h="1" fill="none" extrusionOk="0">
                  <a:moveTo>
                    <a:pt x="1" y="1"/>
                  </a:moveTo>
                  <a:lnTo>
                    <a:pt x="34959" y="1"/>
                  </a:lnTo>
                </a:path>
              </a:pathLst>
            </a:custGeom>
            <a:noFill/>
            <a:ln w="25400" cap="rnd" cmpd="sng">
              <a:solidFill>
                <a:srgbClr val="006E6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0622;p81">
              <a:extLst>
                <a:ext uri="{FF2B5EF4-FFF2-40B4-BE49-F238E27FC236}">
                  <a16:creationId xmlns:a16="http://schemas.microsoft.com/office/drawing/2014/main" id="{C71FC058-FBDA-A5E5-51DC-7E90D6A9B6FC}"/>
                </a:ext>
              </a:extLst>
            </p:cNvPr>
            <p:cNvSpPr/>
            <p:nvPr/>
          </p:nvSpPr>
          <p:spPr>
            <a:xfrm>
              <a:off x="1691140" y="3642869"/>
              <a:ext cx="163690" cy="94532"/>
            </a:xfrm>
            <a:custGeom>
              <a:avLst/>
              <a:gdLst/>
              <a:ahLst/>
              <a:cxnLst/>
              <a:rect l="l" t="t" r="r" b="b"/>
              <a:pathLst>
                <a:path w="37118" h="21448" extrusionOk="0">
                  <a:moveTo>
                    <a:pt x="4947" y="1"/>
                  </a:moveTo>
                  <a:cubicBezTo>
                    <a:pt x="2214" y="1"/>
                    <a:pt x="0" y="2682"/>
                    <a:pt x="0" y="5987"/>
                  </a:cubicBezTo>
                  <a:lnTo>
                    <a:pt x="0" y="15464"/>
                  </a:lnTo>
                  <a:cubicBezTo>
                    <a:pt x="0" y="18769"/>
                    <a:pt x="2214" y="21447"/>
                    <a:pt x="4950" y="21447"/>
                  </a:cubicBezTo>
                  <a:lnTo>
                    <a:pt x="32168" y="21447"/>
                  </a:lnTo>
                  <a:cubicBezTo>
                    <a:pt x="34900" y="21447"/>
                    <a:pt x="37118" y="18769"/>
                    <a:pt x="37118" y="15464"/>
                  </a:cubicBezTo>
                  <a:lnTo>
                    <a:pt x="37118" y="5987"/>
                  </a:lnTo>
                  <a:cubicBezTo>
                    <a:pt x="37118" y="2682"/>
                    <a:pt x="34900" y="1"/>
                    <a:pt x="32168" y="1"/>
                  </a:cubicBezTo>
                  <a:close/>
                </a:path>
              </a:pathLst>
            </a:custGeom>
            <a:noFill/>
            <a:ln w="25400" cap="flat" cmpd="sng">
              <a:solidFill>
                <a:srgbClr val="006E6E"/>
              </a:solidFill>
              <a:prstDash val="solid"/>
              <a:miter lim="36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300" dirty="0" err="1"/>
                <a:t>Optimized</a:t>
              </a:r>
              <a:r>
                <a:rPr lang="it-IT" sz="1300" dirty="0"/>
                <a:t> for</a:t>
              </a:r>
              <a:endParaRPr sz="1300" dirty="0"/>
            </a:p>
          </p:txBody>
        </p:sp>
        <p:sp>
          <p:nvSpPr>
            <p:cNvPr id="34" name="Google Shape;10644;p81">
              <a:extLst>
                <a:ext uri="{FF2B5EF4-FFF2-40B4-BE49-F238E27FC236}">
                  <a16:creationId xmlns:a16="http://schemas.microsoft.com/office/drawing/2014/main" id="{96844873-F51C-FA27-176C-5894C249A689}"/>
                </a:ext>
              </a:extLst>
            </p:cNvPr>
            <p:cNvSpPr/>
            <p:nvPr/>
          </p:nvSpPr>
          <p:spPr>
            <a:xfrm>
              <a:off x="2008060" y="4212384"/>
              <a:ext cx="24537" cy="23585"/>
            </a:xfrm>
            <a:custGeom>
              <a:avLst/>
              <a:gdLst/>
              <a:ahLst/>
              <a:cxnLst/>
              <a:rect l="l" t="t" r="r" b="b"/>
              <a:pathLst>
                <a:path w="5564" h="5351" extrusionOk="0">
                  <a:moveTo>
                    <a:pt x="2887" y="0"/>
                  </a:moveTo>
                  <a:cubicBezTo>
                    <a:pt x="2190" y="0"/>
                    <a:pt x="1506" y="271"/>
                    <a:pt x="996" y="783"/>
                  </a:cubicBezTo>
                  <a:cubicBezTo>
                    <a:pt x="230" y="1550"/>
                    <a:pt x="0" y="2699"/>
                    <a:pt x="416" y="3698"/>
                  </a:cubicBezTo>
                  <a:cubicBezTo>
                    <a:pt x="828" y="4698"/>
                    <a:pt x="1806" y="5351"/>
                    <a:pt x="2886" y="5351"/>
                  </a:cubicBezTo>
                  <a:cubicBezTo>
                    <a:pt x="4363" y="5351"/>
                    <a:pt x="5560" y="4150"/>
                    <a:pt x="5563" y="2677"/>
                  </a:cubicBezTo>
                  <a:cubicBezTo>
                    <a:pt x="5560" y="1593"/>
                    <a:pt x="4911" y="619"/>
                    <a:pt x="3911" y="203"/>
                  </a:cubicBezTo>
                  <a:cubicBezTo>
                    <a:pt x="3580" y="67"/>
                    <a:pt x="3232" y="0"/>
                    <a:pt x="2887" y="0"/>
                  </a:cubicBezTo>
                  <a:close/>
                </a:path>
              </a:pathLst>
            </a:custGeom>
            <a:solidFill>
              <a:schemeClr val="tx2"/>
            </a:solidFill>
            <a:ln w="25400">
              <a:solidFill>
                <a:srgbClr val="006E6E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0645;p81">
              <a:extLst>
                <a:ext uri="{FF2B5EF4-FFF2-40B4-BE49-F238E27FC236}">
                  <a16:creationId xmlns:a16="http://schemas.microsoft.com/office/drawing/2014/main" id="{8C805BB6-1BD5-45B7-D02C-D76F4D353A01}"/>
                </a:ext>
              </a:extLst>
            </p:cNvPr>
            <p:cNvSpPr/>
            <p:nvPr/>
          </p:nvSpPr>
          <p:spPr>
            <a:xfrm>
              <a:off x="1545645" y="4049730"/>
              <a:ext cx="24520" cy="23576"/>
            </a:xfrm>
            <a:custGeom>
              <a:avLst/>
              <a:gdLst/>
              <a:ahLst/>
              <a:cxnLst/>
              <a:rect l="l" t="t" r="r" b="b"/>
              <a:pathLst>
                <a:path w="5560" h="5349" extrusionOk="0">
                  <a:moveTo>
                    <a:pt x="2886" y="1"/>
                  </a:moveTo>
                  <a:cubicBezTo>
                    <a:pt x="1806" y="1"/>
                    <a:pt x="828" y="654"/>
                    <a:pt x="416" y="1653"/>
                  </a:cubicBezTo>
                  <a:cubicBezTo>
                    <a:pt x="0" y="2649"/>
                    <a:pt x="230" y="3802"/>
                    <a:pt x="996" y="4564"/>
                  </a:cubicBezTo>
                  <a:cubicBezTo>
                    <a:pt x="1506" y="5077"/>
                    <a:pt x="2190" y="5349"/>
                    <a:pt x="2886" y="5349"/>
                  </a:cubicBezTo>
                  <a:cubicBezTo>
                    <a:pt x="3232" y="5349"/>
                    <a:pt x="3580" y="5282"/>
                    <a:pt x="3911" y="5144"/>
                  </a:cubicBezTo>
                  <a:cubicBezTo>
                    <a:pt x="4910" y="4732"/>
                    <a:pt x="5560" y="3758"/>
                    <a:pt x="5560" y="2675"/>
                  </a:cubicBezTo>
                  <a:cubicBezTo>
                    <a:pt x="5560" y="1197"/>
                    <a:pt x="4363" y="1"/>
                    <a:pt x="2886" y="1"/>
                  </a:cubicBezTo>
                  <a:close/>
                </a:path>
              </a:pathLst>
            </a:custGeom>
            <a:solidFill>
              <a:schemeClr val="tx2"/>
            </a:solidFill>
            <a:ln w="25400">
              <a:solidFill>
                <a:srgbClr val="006E6E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0646;p81">
              <a:extLst>
                <a:ext uri="{FF2B5EF4-FFF2-40B4-BE49-F238E27FC236}">
                  <a16:creationId xmlns:a16="http://schemas.microsoft.com/office/drawing/2014/main" id="{205476CE-85AB-1C98-7A98-BA966D359189}"/>
                </a:ext>
              </a:extLst>
            </p:cNvPr>
            <p:cNvSpPr/>
            <p:nvPr/>
          </p:nvSpPr>
          <p:spPr>
            <a:xfrm>
              <a:off x="1231521" y="3947489"/>
              <a:ext cx="24524" cy="23576"/>
            </a:xfrm>
            <a:custGeom>
              <a:avLst/>
              <a:gdLst/>
              <a:ahLst/>
              <a:cxnLst/>
              <a:rect l="l" t="t" r="r" b="b"/>
              <a:pathLst>
                <a:path w="5561" h="5349" extrusionOk="0">
                  <a:moveTo>
                    <a:pt x="2886" y="1"/>
                  </a:moveTo>
                  <a:cubicBezTo>
                    <a:pt x="1803" y="1"/>
                    <a:pt x="829" y="650"/>
                    <a:pt x="413" y="1649"/>
                  </a:cubicBezTo>
                  <a:cubicBezTo>
                    <a:pt x="1" y="2649"/>
                    <a:pt x="227" y="3798"/>
                    <a:pt x="993" y="4564"/>
                  </a:cubicBezTo>
                  <a:cubicBezTo>
                    <a:pt x="1505" y="5076"/>
                    <a:pt x="2189" y="5349"/>
                    <a:pt x="2884" y="5349"/>
                  </a:cubicBezTo>
                  <a:cubicBezTo>
                    <a:pt x="3229" y="5349"/>
                    <a:pt x="3576" y="5282"/>
                    <a:pt x="3908" y="5144"/>
                  </a:cubicBezTo>
                  <a:cubicBezTo>
                    <a:pt x="4907" y="4732"/>
                    <a:pt x="5560" y="3758"/>
                    <a:pt x="5560" y="2674"/>
                  </a:cubicBezTo>
                  <a:cubicBezTo>
                    <a:pt x="5560" y="1197"/>
                    <a:pt x="4364" y="1"/>
                    <a:pt x="2886" y="1"/>
                  </a:cubicBezTo>
                  <a:close/>
                </a:path>
              </a:pathLst>
            </a:custGeom>
            <a:solidFill>
              <a:schemeClr val="tx2"/>
            </a:solidFill>
            <a:ln w="25400">
              <a:solidFill>
                <a:srgbClr val="006E6E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0647;p81">
              <a:extLst>
                <a:ext uri="{FF2B5EF4-FFF2-40B4-BE49-F238E27FC236}">
                  <a16:creationId xmlns:a16="http://schemas.microsoft.com/office/drawing/2014/main" id="{EE91DCA6-B377-51FE-78E8-65BA499CD667}"/>
                </a:ext>
              </a:extLst>
            </p:cNvPr>
            <p:cNvSpPr/>
            <p:nvPr/>
          </p:nvSpPr>
          <p:spPr>
            <a:xfrm>
              <a:off x="834100" y="4046742"/>
              <a:ext cx="24520" cy="23580"/>
            </a:xfrm>
            <a:custGeom>
              <a:avLst/>
              <a:gdLst/>
              <a:ahLst/>
              <a:cxnLst/>
              <a:rect l="l" t="t" r="r" b="b"/>
              <a:pathLst>
                <a:path w="5560" h="5350" extrusionOk="0">
                  <a:moveTo>
                    <a:pt x="2674" y="0"/>
                  </a:moveTo>
                  <a:cubicBezTo>
                    <a:pt x="1197" y="0"/>
                    <a:pt x="0" y="1197"/>
                    <a:pt x="0" y="2674"/>
                  </a:cubicBezTo>
                  <a:cubicBezTo>
                    <a:pt x="0" y="3758"/>
                    <a:pt x="653" y="4732"/>
                    <a:pt x="1653" y="5147"/>
                  </a:cubicBezTo>
                  <a:cubicBezTo>
                    <a:pt x="1983" y="5284"/>
                    <a:pt x="2329" y="5350"/>
                    <a:pt x="2673" y="5350"/>
                  </a:cubicBezTo>
                  <a:cubicBezTo>
                    <a:pt x="3369" y="5350"/>
                    <a:pt x="4054" y="5078"/>
                    <a:pt x="4567" y="4567"/>
                  </a:cubicBezTo>
                  <a:cubicBezTo>
                    <a:pt x="5330" y="3801"/>
                    <a:pt x="5559" y="2649"/>
                    <a:pt x="5147" y="1653"/>
                  </a:cubicBezTo>
                  <a:cubicBezTo>
                    <a:pt x="4731" y="653"/>
                    <a:pt x="3757" y="0"/>
                    <a:pt x="2674" y="0"/>
                  </a:cubicBezTo>
                  <a:close/>
                </a:path>
              </a:pathLst>
            </a:custGeom>
            <a:solidFill>
              <a:schemeClr val="tx2"/>
            </a:solidFill>
            <a:ln w="25400">
              <a:solidFill>
                <a:srgbClr val="006E6E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0648;p81">
              <a:extLst>
                <a:ext uri="{FF2B5EF4-FFF2-40B4-BE49-F238E27FC236}">
                  <a16:creationId xmlns:a16="http://schemas.microsoft.com/office/drawing/2014/main" id="{163E95DB-83E8-CBD5-D67C-CB5AE31E4757}"/>
                </a:ext>
              </a:extLst>
            </p:cNvPr>
            <p:cNvSpPr/>
            <p:nvPr/>
          </p:nvSpPr>
          <p:spPr>
            <a:xfrm>
              <a:off x="834100" y="3849652"/>
              <a:ext cx="24520" cy="23580"/>
            </a:xfrm>
            <a:custGeom>
              <a:avLst/>
              <a:gdLst/>
              <a:ahLst/>
              <a:cxnLst/>
              <a:rect l="l" t="t" r="r" b="b"/>
              <a:pathLst>
                <a:path w="5560" h="5350" extrusionOk="0">
                  <a:moveTo>
                    <a:pt x="2674" y="1"/>
                  </a:moveTo>
                  <a:cubicBezTo>
                    <a:pt x="1197" y="1"/>
                    <a:pt x="0" y="1197"/>
                    <a:pt x="0" y="2675"/>
                  </a:cubicBezTo>
                  <a:cubicBezTo>
                    <a:pt x="0" y="3758"/>
                    <a:pt x="653" y="4732"/>
                    <a:pt x="1653" y="5144"/>
                  </a:cubicBezTo>
                  <a:cubicBezTo>
                    <a:pt x="1984" y="5282"/>
                    <a:pt x="2331" y="5349"/>
                    <a:pt x="2676" y="5349"/>
                  </a:cubicBezTo>
                  <a:cubicBezTo>
                    <a:pt x="3371" y="5349"/>
                    <a:pt x="4055" y="5077"/>
                    <a:pt x="4567" y="4564"/>
                  </a:cubicBezTo>
                  <a:cubicBezTo>
                    <a:pt x="5330" y="3802"/>
                    <a:pt x="5559" y="2649"/>
                    <a:pt x="5147" y="1650"/>
                  </a:cubicBezTo>
                  <a:cubicBezTo>
                    <a:pt x="4731" y="650"/>
                    <a:pt x="3757" y="1"/>
                    <a:pt x="2674" y="1"/>
                  </a:cubicBezTo>
                  <a:close/>
                </a:path>
              </a:pathLst>
            </a:custGeom>
            <a:solidFill>
              <a:schemeClr val="tx2"/>
            </a:solidFill>
            <a:ln w="25400">
              <a:solidFill>
                <a:srgbClr val="006E6E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0649;p81">
              <a:extLst>
                <a:ext uri="{FF2B5EF4-FFF2-40B4-BE49-F238E27FC236}">
                  <a16:creationId xmlns:a16="http://schemas.microsoft.com/office/drawing/2014/main" id="{CE35EC68-19E0-21B1-76F3-03C6A900178F}"/>
                </a:ext>
              </a:extLst>
            </p:cNvPr>
            <p:cNvSpPr/>
            <p:nvPr/>
          </p:nvSpPr>
          <p:spPr>
            <a:xfrm>
              <a:off x="1668053" y="3947489"/>
              <a:ext cx="24520" cy="23576"/>
            </a:xfrm>
            <a:custGeom>
              <a:avLst/>
              <a:gdLst/>
              <a:ahLst/>
              <a:cxnLst/>
              <a:rect l="l" t="t" r="r" b="b"/>
              <a:pathLst>
                <a:path w="5560" h="5349" extrusionOk="0">
                  <a:moveTo>
                    <a:pt x="2882" y="1"/>
                  </a:moveTo>
                  <a:cubicBezTo>
                    <a:pt x="1802" y="1"/>
                    <a:pt x="828" y="650"/>
                    <a:pt x="412" y="1649"/>
                  </a:cubicBezTo>
                  <a:cubicBezTo>
                    <a:pt x="0" y="2649"/>
                    <a:pt x="226" y="3798"/>
                    <a:pt x="993" y="4564"/>
                  </a:cubicBezTo>
                  <a:cubicBezTo>
                    <a:pt x="1502" y="5076"/>
                    <a:pt x="2187" y="5349"/>
                    <a:pt x="2883" y="5349"/>
                  </a:cubicBezTo>
                  <a:cubicBezTo>
                    <a:pt x="3228" y="5349"/>
                    <a:pt x="3576" y="5282"/>
                    <a:pt x="3907" y="5144"/>
                  </a:cubicBezTo>
                  <a:cubicBezTo>
                    <a:pt x="4907" y="4732"/>
                    <a:pt x="5556" y="3758"/>
                    <a:pt x="5560" y="2674"/>
                  </a:cubicBezTo>
                  <a:cubicBezTo>
                    <a:pt x="5560" y="1197"/>
                    <a:pt x="4360" y="1"/>
                    <a:pt x="2882" y="1"/>
                  </a:cubicBezTo>
                  <a:close/>
                </a:path>
              </a:pathLst>
            </a:custGeom>
            <a:solidFill>
              <a:schemeClr val="tx2"/>
            </a:solidFill>
            <a:ln w="25400">
              <a:solidFill>
                <a:srgbClr val="006E6E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0650;p81">
              <a:extLst>
                <a:ext uri="{FF2B5EF4-FFF2-40B4-BE49-F238E27FC236}">
                  <a16:creationId xmlns:a16="http://schemas.microsoft.com/office/drawing/2014/main" id="{D0DD3CE2-7DCC-327C-451B-8DF61C085D6A}"/>
                </a:ext>
              </a:extLst>
            </p:cNvPr>
            <p:cNvSpPr/>
            <p:nvPr/>
          </p:nvSpPr>
          <p:spPr>
            <a:xfrm>
              <a:off x="889649" y="3678195"/>
              <a:ext cx="23589" cy="23576"/>
            </a:xfrm>
            <a:custGeom>
              <a:avLst/>
              <a:gdLst/>
              <a:ahLst/>
              <a:cxnLst/>
              <a:rect l="l" t="t" r="r" b="b"/>
              <a:pathLst>
                <a:path w="5349" h="5349" extrusionOk="0">
                  <a:moveTo>
                    <a:pt x="2674" y="0"/>
                  </a:moveTo>
                  <a:cubicBezTo>
                    <a:pt x="1197" y="0"/>
                    <a:pt x="0" y="1197"/>
                    <a:pt x="0" y="2674"/>
                  </a:cubicBezTo>
                  <a:cubicBezTo>
                    <a:pt x="0" y="4152"/>
                    <a:pt x="1197" y="5348"/>
                    <a:pt x="2674" y="5348"/>
                  </a:cubicBezTo>
                  <a:cubicBezTo>
                    <a:pt x="4152" y="5348"/>
                    <a:pt x="5348" y="4152"/>
                    <a:pt x="5348" y="2674"/>
                  </a:cubicBezTo>
                  <a:cubicBezTo>
                    <a:pt x="5348" y="1197"/>
                    <a:pt x="4152" y="0"/>
                    <a:pt x="2674" y="0"/>
                  </a:cubicBezTo>
                  <a:close/>
                </a:path>
              </a:pathLst>
            </a:custGeom>
            <a:solidFill>
              <a:schemeClr val="tx2"/>
            </a:solidFill>
            <a:ln w="25400">
              <a:solidFill>
                <a:srgbClr val="006E6E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0651;p81">
              <a:extLst>
                <a:ext uri="{FF2B5EF4-FFF2-40B4-BE49-F238E27FC236}">
                  <a16:creationId xmlns:a16="http://schemas.microsoft.com/office/drawing/2014/main" id="{EF9F74F2-262F-36BA-A831-C52DB8C4DA2F}"/>
                </a:ext>
              </a:extLst>
            </p:cNvPr>
            <p:cNvSpPr/>
            <p:nvPr/>
          </p:nvSpPr>
          <p:spPr>
            <a:xfrm>
              <a:off x="1357708" y="3848642"/>
              <a:ext cx="24542" cy="23585"/>
            </a:xfrm>
            <a:custGeom>
              <a:avLst/>
              <a:gdLst/>
              <a:ahLst/>
              <a:cxnLst/>
              <a:rect l="l" t="t" r="r" b="b"/>
              <a:pathLst>
                <a:path w="5565" h="5351" extrusionOk="0">
                  <a:moveTo>
                    <a:pt x="2890" y="0"/>
                  </a:moveTo>
                  <a:cubicBezTo>
                    <a:pt x="1807" y="0"/>
                    <a:pt x="833" y="653"/>
                    <a:pt x="417" y="1653"/>
                  </a:cubicBezTo>
                  <a:cubicBezTo>
                    <a:pt x="1" y="2652"/>
                    <a:pt x="231" y="3801"/>
                    <a:pt x="997" y="4567"/>
                  </a:cubicBezTo>
                  <a:cubicBezTo>
                    <a:pt x="1509" y="5080"/>
                    <a:pt x="2193" y="5350"/>
                    <a:pt x="2888" y="5350"/>
                  </a:cubicBezTo>
                  <a:cubicBezTo>
                    <a:pt x="3233" y="5350"/>
                    <a:pt x="3580" y="5284"/>
                    <a:pt x="3912" y="5147"/>
                  </a:cubicBezTo>
                  <a:cubicBezTo>
                    <a:pt x="4911" y="4731"/>
                    <a:pt x="5564" y="3757"/>
                    <a:pt x="5564" y="2678"/>
                  </a:cubicBezTo>
                  <a:cubicBezTo>
                    <a:pt x="5564" y="1200"/>
                    <a:pt x="4364" y="0"/>
                    <a:pt x="2890" y="0"/>
                  </a:cubicBezTo>
                  <a:close/>
                </a:path>
              </a:pathLst>
            </a:custGeom>
            <a:solidFill>
              <a:schemeClr val="tx2"/>
            </a:solidFill>
            <a:ln w="25400">
              <a:solidFill>
                <a:srgbClr val="006E6E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0652;p81">
              <a:extLst>
                <a:ext uri="{FF2B5EF4-FFF2-40B4-BE49-F238E27FC236}">
                  <a16:creationId xmlns:a16="http://schemas.microsoft.com/office/drawing/2014/main" id="{911F5180-44D0-093E-F983-4B8F24C309D2}"/>
                </a:ext>
              </a:extLst>
            </p:cNvPr>
            <p:cNvSpPr/>
            <p:nvPr/>
          </p:nvSpPr>
          <p:spPr>
            <a:xfrm>
              <a:off x="1357708" y="4049730"/>
              <a:ext cx="24542" cy="23585"/>
            </a:xfrm>
            <a:custGeom>
              <a:avLst/>
              <a:gdLst/>
              <a:ahLst/>
              <a:cxnLst/>
              <a:rect l="l" t="t" r="r" b="b"/>
              <a:pathLst>
                <a:path w="5565" h="5351" extrusionOk="0">
                  <a:moveTo>
                    <a:pt x="2890" y="1"/>
                  </a:moveTo>
                  <a:cubicBezTo>
                    <a:pt x="1807" y="1"/>
                    <a:pt x="833" y="654"/>
                    <a:pt x="417" y="1653"/>
                  </a:cubicBezTo>
                  <a:cubicBezTo>
                    <a:pt x="1" y="2653"/>
                    <a:pt x="231" y="3802"/>
                    <a:pt x="997" y="4568"/>
                  </a:cubicBezTo>
                  <a:cubicBezTo>
                    <a:pt x="1510" y="5078"/>
                    <a:pt x="2195" y="5350"/>
                    <a:pt x="2891" y="5350"/>
                  </a:cubicBezTo>
                  <a:cubicBezTo>
                    <a:pt x="3235" y="5350"/>
                    <a:pt x="3581" y="5284"/>
                    <a:pt x="3912" y="5148"/>
                  </a:cubicBezTo>
                  <a:cubicBezTo>
                    <a:pt x="4911" y="4732"/>
                    <a:pt x="5564" y="3758"/>
                    <a:pt x="5564" y="2675"/>
                  </a:cubicBezTo>
                  <a:cubicBezTo>
                    <a:pt x="5564" y="1197"/>
                    <a:pt x="4364" y="1"/>
                    <a:pt x="2890" y="1"/>
                  </a:cubicBezTo>
                  <a:close/>
                </a:path>
              </a:pathLst>
            </a:custGeom>
            <a:solidFill>
              <a:schemeClr val="tx2"/>
            </a:solidFill>
            <a:ln w="25400">
              <a:solidFill>
                <a:srgbClr val="006E6E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0653;p81">
              <a:extLst>
                <a:ext uri="{FF2B5EF4-FFF2-40B4-BE49-F238E27FC236}">
                  <a16:creationId xmlns:a16="http://schemas.microsoft.com/office/drawing/2014/main" id="{8AB0906D-7F80-6B79-4AF0-39163D025C96}"/>
                </a:ext>
              </a:extLst>
            </p:cNvPr>
            <p:cNvSpPr/>
            <p:nvPr/>
          </p:nvSpPr>
          <p:spPr>
            <a:xfrm>
              <a:off x="889649" y="4212384"/>
              <a:ext cx="24520" cy="23585"/>
            </a:xfrm>
            <a:custGeom>
              <a:avLst/>
              <a:gdLst/>
              <a:ahLst/>
              <a:cxnLst/>
              <a:rect l="l" t="t" r="r" b="b"/>
              <a:pathLst>
                <a:path w="5560" h="5351" extrusionOk="0">
                  <a:moveTo>
                    <a:pt x="2674" y="0"/>
                  </a:moveTo>
                  <a:cubicBezTo>
                    <a:pt x="2328" y="0"/>
                    <a:pt x="1980" y="67"/>
                    <a:pt x="1649" y="203"/>
                  </a:cubicBezTo>
                  <a:cubicBezTo>
                    <a:pt x="650" y="619"/>
                    <a:pt x="0" y="1593"/>
                    <a:pt x="0" y="2677"/>
                  </a:cubicBezTo>
                  <a:cubicBezTo>
                    <a:pt x="0" y="4150"/>
                    <a:pt x="1197" y="5351"/>
                    <a:pt x="2674" y="5351"/>
                  </a:cubicBezTo>
                  <a:cubicBezTo>
                    <a:pt x="3754" y="5351"/>
                    <a:pt x="4732" y="4698"/>
                    <a:pt x="5144" y="3698"/>
                  </a:cubicBezTo>
                  <a:cubicBezTo>
                    <a:pt x="5560" y="2699"/>
                    <a:pt x="5330" y="1550"/>
                    <a:pt x="4568" y="783"/>
                  </a:cubicBezTo>
                  <a:cubicBezTo>
                    <a:pt x="4055" y="271"/>
                    <a:pt x="3370" y="0"/>
                    <a:pt x="2674" y="0"/>
                  </a:cubicBezTo>
                  <a:close/>
                </a:path>
              </a:pathLst>
            </a:custGeom>
            <a:solidFill>
              <a:schemeClr val="tx2"/>
            </a:solidFill>
            <a:ln w="25400">
              <a:solidFill>
                <a:srgbClr val="006E6E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0654;p81">
              <a:extLst>
                <a:ext uri="{FF2B5EF4-FFF2-40B4-BE49-F238E27FC236}">
                  <a16:creationId xmlns:a16="http://schemas.microsoft.com/office/drawing/2014/main" id="{CA0B6453-2D49-6153-EE89-DFD666FF7996}"/>
                </a:ext>
              </a:extLst>
            </p:cNvPr>
            <p:cNvSpPr/>
            <p:nvPr/>
          </p:nvSpPr>
          <p:spPr>
            <a:xfrm>
              <a:off x="2008060" y="3678195"/>
              <a:ext cx="24537" cy="23576"/>
            </a:xfrm>
            <a:custGeom>
              <a:avLst/>
              <a:gdLst/>
              <a:ahLst/>
              <a:cxnLst/>
              <a:rect l="l" t="t" r="r" b="b"/>
              <a:pathLst>
                <a:path w="5564" h="5349" extrusionOk="0">
                  <a:moveTo>
                    <a:pt x="2886" y="0"/>
                  </a:moveTo>
                  <a:cubicBezTo>
                    <a:pt x="1806" y="0"/>
                    <a:pt x="828" y="650"/>
                    <a:pt x="416" y="1649"/>
                  </a:cubicBezTo>
                  <a:cubicBezTo>
                    <a:pt x="0" y="2649"/>
                    <a:pt x="230" y="3802"/>
                    <a:pt x="996" y="4564"/>
                  </a:cubicBezTo>
                  <a:cubicBezTo>
                    <a:pt x="1506" y="5076"/>
                    <a:pt x="2190" y="5349"/>
                    <a:pt x="2887" y="5349"/>
                  </a:cubicBezTo>
                  <a:cubicBezTo>
                    <a:pt x="3232" y="5349"/>
                    <a:pt x="3580" y="5282"/>
                    <a:pt x="3911" y="5144"/>
                  </a:cubicBezTo>
                  <a:cubicBezTo>
                    <a:pt x="4911" y="4732"/>
                    <a:pt x="5560" y="3758"/>
                    <a:pt x="5563" y="2674"/>
                  </a:cubicBezTo>
                  <a:cubicBezTo>
                    <a:pt x="5560" y="1197"/>
                    <a:pt x="4363" y="0"/>
                    <a:pt x="2886" y="0"/>
                  </a:cubicBezTo>
                  <a:close/>
                </a:path>
              </a:pathLst>
            </a:custGeom>
            <a:solidFill>
              <a:schemeClr val="tx2"/>
            </a:solidFill>
            <a:ln w="25400">
              <a:solidFill>
                <a:srgbClr val="006E6E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0655;p81">
              <a:extLst>
                <a:ext uri="{FF2B5EF4-FFF2-40B4-BE49-F238E27FC236}">
                  <a16:creationId xmlns:a16="http://schemas.microsoft.com/office/drawing/2014/main" id="{CB51CF02-8384-3279-925A-EFE1611F5AC0}"/>
                </a:ext>
              </a:extLst>
            </p:cNvPr>
            <p:cNvSpPr/>
            <p:nvPr/>
          </p:nvSpPr>
          <p:spPr>
            <a:xfrm>
              <a:off x="1548251" y="3848642"/>
              <a:ext cx="24520" cy="23580"/>
            </a:xfrm>
            <a:custGeom>
              <a:avLst/>
              <a:gdLst/>
              <a:ahLst/>
              <a:cxnLst/>
              <a:rect l="l" t="t" r="r" b="b"/>
              <a:pathLst>
                <a:path w="5560" h="5350" extrusionOk="0">
                  <a:moveTo>
                    <a:pt x="2886" y="0"/>
                  </a:moveTo>
                  <a:cubicBezTo>
                    <a:pt x="1806" y="0"/>
                    <a:pt x="828" y="653"/>
                    <a:pt x="416" y="1653"/>
                  </a:cubicBezTo>
                  <a:cubicBezTo>
                    <a:pt x="0" y="2652"/>
                    <a:pt x="230" y="3801"/>
                    <a:pt x="996" y="4567"/>
                  </a:cubicBezTo>
                  <a:cubicBezTo>
                    <a:pt x="1507" y="5078"/>
                    <a:pt x="2192" y="5350"/>
                    <a:pt x="2890" y="5350"/>
                  </a:cubicBezTo>
                  <a:cubicBezTo>
                    <a:pt x="3234" y="5350"/>
                    <a:pt x="3581" y="5283"/>
                    <a:pt x="3911" y="5147"/>
                  </a:cubicBezTo>
                  <a:cubicBezTo>
                    <a:pt x="4910" y="4731"/>
                    <a:pt x="5560" y="3757"/>
                    <a:pt x="5560" y="2678"/>
                  </a:cubicBezTo>
                  <a:cubicBezTo>
                    <a:pt x="5560" y="1200"/>
                    <a:pt x="4363" y="0"/>
                    <a:pt x="2886" y="0"/>
                  </a:cubicBezTo>
                  <a:close/>
                </a:path>
              </a:pathLst>
            </a:custGeom>
            <a:solidFill>
              <a:schemeClr val="tx2"/>
            </a:solidFill>
            <a:ln w="25400">
              <a:solidFill>
                <a:srgbClr val="006E6E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0656;p81">
              <a:extLst>
                <a:ext uri="{FF2B5EF4-FFF2-40B4-BE49-F238E27FC236}">
                  <a16:creationId xmlns:a16="http://schemas.microsoft.com/office/drawing/2014/main" id="{06776AC6-7AA8-CA18-7522-41C9062CA166}"/>
                </a:ext>
              </a:extLst>
            </p:cNvPr>
            <p:cNvSpPr/>
            <p:nvPr/>
          </p:nvSpPr>
          <p:spPr>
            <a:xfrm>
              <a:off x="2069063" y="3847033"/>
              <a:ext cx="24520" cy="23585"/>
            </a:xfrm>
            <a:custGeom>
              <a:avLst/>
              <a:gdLst/>
              <a:ahLst/>
              <a:cxnLst/>
              <a:rect l="l" t="t" r="r" b="b"/>
              <a:pathLst>
                <a:path w="5560" h="5351" extrusionOk="0">
                  <a:moveTo>
                    <a:pt x="2886" y="0"/>
                  </a:moveTo>
                  <a:cubicBezTo>
                    <a:pt x="1806" y="0"/>
                    <a:pt x="828" y="653"/>
                    <a:pt x="416" y="1653"/>
                  </a:cubicBezTo>
                  <a:cubicBezTo>
                    <a:pt x="0" y="2652"/>
                    <a:pt x="230" y="3801"/>
                    <a:pt x="993" y="4567"/>
                  </a:cubicBezTo>
                  <a:cubicBezTo>
                    <a:pt x="1505" y="5080"/>
                    <a:pt x="2190" y="5351"/>
                    <a:pt x="2887" y="5351"/>
                  </a:cubicBezTo>
                  <a:cubicBezTo>
                    <a:pt x="3232" y="5351"/>
                    <a:pt x="3580" y="5284"/>
                    <a:pt x="3911" y="5148"/>
                  </a:cubicBezTo>
                  <a:cubicBezTo>
                    <a:pt x="4910" y="4732"/>
                    <a:pt x="5560" y="3758"/>
                    <a:pt x="5560" y="2678"/>
                  </a:cubicBezTo>
                  <a:cubicBezTo>
                    <a:pt x="5560" y="1200"/>
                    <a:pt x="4363" y="0"/>
                    <a:pt x="2886" y="0"/>
                  </a:cubicBezTo>
                  <a:close/>
                </a:path>
              </a:pathLst>
            </a:custGeom>
            <a:solidFill>
              <a:schemeClr val="tx2"/>
            </a:solidFill>
            <a:ln w="25400">
              <a:solidFill>
                <a:srgbClr val="006E6E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0657;p81">
              <a:extLst>
                <a:ext uri="{FF2B5EF4-FFF2-40B4-BE49-F238E27FC236}">
                  <a16:creationId xmlns:a16="http://schemas.microsoft.com/office/drawing/2014/main" id="{04B5F4D7-1FA0-F7F2-AE41-7511C6E645A5}"/>
                </a:ext>
              </a:extLst>
            </p:cNvPr>
            <p:cNvSpPr/>
            <p:nvPr/>
          </p:nvSpPr>
          <p:spPr>
            <a:xfrm>
              <a:off x="2069063" y="4046870"/>
              <a:ext cx="24520" cy="23576"/>
            </a:xfrm>
            <a:custGeom>
              <a:avLst/>
              <a:gdLst/>
              <a:ahLst/>
              <a:cxnLst/>
              <a:rect l="l" t="t" r="r" b="b"/>
              <a:pathLst>
                <a:path w="5560" h="5349" extrusionOk="0">
                  <a:moveTo>
                    <a:pt x="2886" y="0"/>
                  </a:moveTo>
                  <a:cubicBezTo>
                    <a:pt x="1806" y="0"/>
                    <a:pt x="828" y="650"/>
                    <a:pt x="416" y="1649"/>
                  </a:cubicBezTo>
                  <a:cubicBezTo>
                    <a:pt x="0" y="2649"/>
                    <a:pt x="230" y="3802"/>
                    <a:pt x="993" y="4564"/>
                  </a:cubicBezTo>
                  <a:cubicBezTo>
                    <a:pt x="1505" y="5076"/>
                    <a:pt x="2190" y="5349"/>
                    <a:pt x="2887" y="5349"/>
                  </a:cubicBezTo>
                  <a:cubicBezTo>
                    <a:pt x="3232" y="5349"/>
                    <a:pt x="3580" y="5282"/>
                    <a:pt x="3911" y="5144"/>
                  </a:cubicBezTo>
                  <a:cubicBezTo>
                    <a:pt x="4910" y="4732"/>
                    <a:pt x="5560" y="3758"/>
                    <a:pt x="5560" y="2674"/>
                  </a:cubicBezTo>
                  <a:cubicBezTo>
                    <a:pt x="5560" y="1197"/>
                    <a:pt x="4363" y="0"/>
                    <a:pt x="2886" y="0"/>
                  </a:cubicBezTo>
                  <a:close/>
                </a:path>
              </a:pathLst>
            </a:custGeom>
            <a:solidFill>
              <a:schemeClr val="tx2"/>
            </a:solidFill>
            <a:ln w="25400">
              <a:solidFill>
                <a:srgbClr val="006E6E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8" name="Titel 1">
            <a:extLst>
              <a:ext uri="{FF2B5EF4-FFF2-40B4-BE49-F238E27FC236}">
                <a16:creationId xmlns:a16="http://schemas.microsoft.com/office/drawing/2014/main" id="{ADB87C30-08F1-C45D-C601-CE266487A7FD}"/>
              </a:ext>
            </a:extLst>
          </p:cNvPr>
          <p:cNvSpPr txBox="1">
            <a:spLocks/>
          </p:cNvSpPr>
          <p:nvPr/>
        </p:nvSpPr>
        <p:spPr>
          <a:xfrm>
            <a:off x="5593580" y="3262118"/>
            <a:ext cx="1106959" cy="36067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ts val="2500"/>
              </a:lnSpc>
              <a:spcBef>
                <a:spcPct val="0"/>
              </a:spcBef>
              <a:buNone/>
              <a:defRPr sz="23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 i="1" dirty="0" err="1"/>
              <a:t>breseq</a:t>
            </a:r>
            <a:endParaRPr lang="de-CH" i="1" dirty="0"/>
          </a:p>
        </p:txBody>
      </p:sp>
      <p:sp>
        <p:nvSpPr>
          <p:cNvPr id="69" name="CasellaDiTesto 68">
            <a:extLst>
              <a:ext uri="{FF2B5EF4-FFF2-40B4-BE49-F238E27FC236}">
                <a16:creationId xmlns:a16="http://schemas.microsoft.com/office/drawing/2014/main" id="{D183B93E-A7CF-3027-1A91-526CD8DC8C9D}"/>
              </a:ext>
            </a:extLst>
          </p:cNvPr>
          <p:cNvSpPr txBox="1"/>
          <p:nvPr/>
        </p:nvSpPr>
        <p:spPr>
          <a:xfrm>
            <a:off x="4147930" y="170953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ts val="2200"/>
              </a:lnSpc>
            </a:pPr>
            <a:endParaRPr lang="it-IT" dirty="0"/>
          </a:p>
        </p:txBody>
      </p:sp>
      <p:sp>
        <p:nvSpPr>
          <p:cNvPr id="70" name="CasellaDiTesto 69">
            <a:extLst>
              <a:ext uri="{FF2B5EF4-FFF2-40B4-BE49-F238E27FC236}">
                <a16:creationId xmlns:a16="http://schemas.microsoft.com/office/drawing/2014/main" id="{573246A9-448E-B603-5208-F66D4F3031F7}"/>
              </a:ext>
            </a:extLst>
          </p:cNvPr>
          <p:cNvSpPr txBox="1"/>
          <p:nvPr/>
        </p:nvSpPr>
        <p:spPr>
          <a:xfrm>
            <a:off x="4346713" y="184867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ts val="2200"/>
              </a:lnSpc>
            </a:pPr>
            <a:endParaRPr lang="it-IT" dirty="0"/>
          </a:p>
        </p:txBody>
      </p:sp>
      <p:sp>
        <p:nvSpPr>
          <p:cNvPr id="71" name="CasellaDiTesto 70">
            <a:extLst>
              <a:ext uri="{FF2B5EF4-FFF2-40B4-BE49-F238E27FC236}">
                <a16:creationId xmlns:a16="http://schemas.microsoft.com/office/drawing/2014/main" id="{32A23E4A-354F-4669-0556-45BFA247EB0E}"/>
              </a:ext>
            </a:extLst>
          </p:cNvPr>
          <p:cNvSpPr txBox="1"/>
          <p:nvPr/>
        </p:nvSpPr>
        <p:spPr>
          <a:xfrm>
            <a:off x="7924800" y="166314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ts val="2200"/>
              </a:lnSpc>
            </a:pPr>
            <a:endParaRPr lang="it-IT" dirty="0"/>
          </a:p>
        </p:txBody>
      </p:sp>
      <p:sp>
        <p:nvSpPr>
          <p:cNvPr id="72" name="CasellaDiTesto 71">
            <a:extLst>
              <a:ext uri="{FF2B5EF4-FFF2-40B4-BE49-F238E27FC236}">
                <a16:creationId xmlns:a16="http://schemas.microsoft.com/office/drawing/2014/main" id="{0DA40A90-AB42-15EA-9482-84F2FC117546}"/>
              </a:ext>
            </a:extLst>
          </p:cNvPr>
          <p:cNvSpPr txBox="1"/>
          <p:nvPr/>
        </p:nvSpPr>
        <p:spPr>
          <a:xfrm>
            <a:off x="7984435" y="496293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ts val="2200"/>
              </a:lnSpc>
            </a:pPr>
            <a:endParaRPr lang="it-IT" dirty="0"/>
          </a:p>
        </p:txBody>
      </p:sp>
      <p:sp>
        <p:nvSpPr>
          <p:cNvPr id="73" name="CasellaDiTesto 72">
            <a:extLst>
              <a:ext uri="{FF2B5EF4-FFF2-40B4-BE49-F238E27FC236}">
                <a16:creationId xmlns:a16="http://schemas.microsoft.com/office/drawing/2014/main" id="{86E16E61-5813-8631-C830-035F80060F6C}"/>
              </a:ext>
            </a:extLst>
          </p:cNvPr>
          <p:cNvSpPr txBox="1"/>
          <p:nvPr/>
        </p:nvSpPr>
        <p:spPr>
          <a:xfrm>
            <a:off x="7706139" y="5108713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ts val="2200"/>
              </a:lnSpc>
            </a:pPr>
            <a:endParaRPr lang="it-IT" dirty="0"/>
          </a:p>
        </p:txBody>
      </p:sp>
      <p:sp>
        <p:nvSpPr>
          <p:cNvPr id="74" name="CasellaDiTesto 73">
            <a:extLst>
              <a:ext uri="{FF2B5EF4-FFF2-40B4-BE49-F238E27FC236}">
                <a16:creationId xmlns:a16="http://schemas.microsoft.com/office/drawing/2014/main" id="{4D6F244C-3F25-2E2E-5B97-10502AC2ED83}"/>
              </a:ext>
            </a:extLst>
          </p:cNvPr>
          <p:cNvSpPr txBox="1"/>
          <p:nvPr/>
        </p:nvSpPr>
        <p:spPr>
          <a:xfrm>
            <a:off x="8216348" y="291547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ts val="2200"/>
              </a:lnSpc>
            </a:pPr>
            <a:endParaRPr lang="it-IT" dirty="0"/>
          </a:p>
        </p:txBody>
      </p:sp>
      <p:sp>
        <p:nvSpPr>
          <p:cNvPr id="75" name="CasellaDiTesto 74">
            <a:extLst>
              <a:ext uri="{FF2B5EF4-FFF2-40B4-BE49-F238E27FC236}">
                <a16:creationId xmlns:a16="http://schemas.microsoft.com/office/drawing/2014/main" id="{00FAAB8F-6177-BFB0-2A48-5F1D54B42717}"/>
              </a:ext>
            </a:extLst>
          </p:cNvPr>
          <p:cNvSpPr txBox="1"/>
          <p:nvPr/>
        </p:nvSpPr>
        <p:spPr>
          <a:xfrm>
            <a:off x="8342243" y="393589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ts val="2200"/>
              </a:lnSpc>
            </a:pPr>
            <a:endParaRPr lang="it-IT" dirty="0"/>
          </a:p>
        </p:txBody>
      </p:sp>
      <p:sp>
        <p:nvSpPr>
          <p:cNvPr id="76" name="CasellaDiTesto 75">
            <a:extLst>
              <a:ext uri="{FF2B5EF4-FFF2-40B4-BE49-F238E27FC236}">
                <a16:creationId xmlns:a16="http://schemas.microsoft.com/office/drawing/2014/main" id="{902B2720-A038-8E5A-EC1E-6BBC69636C86}"/>
              </a:ext>
            </a:extLst>
          </p:cNvPr>
          <p:cNvSpPr txBox="1"/>
          <p:nvPr/>
        </p:nvSpPr>
        <p:spPr>
          <a:xfrm>
            <a:off x="7865165" y="178241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ts val="2200"/>
              </a:lnSpc>
            </a:pPr>
            <a:endParaRPr lang="it-IT" dirty="0"/>
          </a:p>
        </p:txBody>
      </p:sp>
      <p:sp>
        <p:nvSpPr>
          <p:cNvPr id="78" name="Titel 1">
            <a:extLst>
              <a:ext uri="{FF2B5EF4-FFF2-40B4-BE49-F238E27FC236}">
                <a16:creationId xmlns:a16="http://schemas.microsoft.com/office/drawing/2014/main" id="{E7DE8898-42EF-74DF-D5B0-CDE4C892CB10}"/>
              </a:ext>
            </a:extLst>
          </p:cNvPr>
          <p:cNvSpPr txBox="1">
            <a:spLocks/>
          </p:cNvSpPr>
          <p:nvPr/>
        </p:nvSpPr>
        <p:spPr>
          <a:xfrm>
            <a:off x="479003" y="1194737"/>
            <a:ext cx="1674807" cy="104954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ts val="2500"/>
              </a:lnSpc>
              <a:spcBef>
                <a:spcPct val="0"/>
              </a:spcBef>
              <a:buNone/>
              <a:defRPr sz="23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1400" b="0" dirty="0"/>
              <a:t>Standard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1400" dirty="0" err="1"/>
              <a:t>Polymorphism</a:t>
            </a:r>
            <a:br>
              <a:rPr lang="de-CH" sz="1400" dirty="0"/>
            </a:br>
            <a:r>
              <a:rPr lang="de-CH" sz="1400" dirty="0"/>
              <a:t>(-p)</a:t>
            </a:r>
          </a:p>
        </p:txBody>
      </p:sp>
      <p:sp>
        <p:nvSpPr>
          <p:cNvPr id="80" name="Titel 1">
            <a:extLst>
              <a:ext uri="{FF2B5EF4-FFF2-40B4-BE49-F238E27FC236}">
                <a16:creationId xmlns:a16="http://schemas.microsoft.com/office/drawing/2014/main" id="{4C4E6537-7EA7-C42D-266B-7E3C14006FDE}"/>
              </a:ext>
            </a:extLst>
          </p:cNvPr>
          <p:cNvSpPr txBox="1">
            <a:spLocks/>
          </p:cNvSpPr>
          <p:nvPr/>
        </p:nvSpPr>
        <p:spPr>
          <a:xfrm>
            <a:off x="511705" y="2538855"/>
            <a:ext cx="1674807" cy="70881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ts val="2500"/>
              </a:lnSpc>
              <a:spcBef>
                <a:spcPct val="0"/>
              </a:spcBef>
              <a:buNone/>
              <a:defRPr sz="23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de-CH" sz="1400" b="0" dirty="0"/>
              <a:t>Genbank </a:t>
            </a:r>
            <a:r>
              <a:rPr lang="de-CH" sz="1400" b="0" dirty="0" err="1"/>
              <a:t>file</a:t>
            </a:r>
            <a:r>
              <a:rPr lang="de-CH" sz="1400" b="0" dirty="0"/>
              <a:t> (.</a:t>
            </a:r>
            <a:r>
              <a:rPr lang="de-CH" sz="1400" b="0" dirty="0" err="1"/>
              <a:t>gbk</a:t>
            </a:r>
            <a:r>
              <a:rPr lang="de-CH" sz="1400" b="0" dirty="0"/>
              <a:t>) </a:t>
            </a:r>
            <a:r>
              <a:rPr lang="de-CH" sz="1400" b="0" dirty="0" err="1"/>
              <a:t>from</a:t>
            </a:r>
            <a:r>
              <a:rPr lang="de-CH" sz="1400" b="0" dirty="0"/>
              <a:t> the original sample</a:t>
            </a:r>
            <a:endParaRPr lang="de-CH" sz="1400" dirty="0"/>
          </a:p>
        </p:txBody>
      </p:sp>
      <p:sp>
        <p:nvSpPr>
          <p:cNvPr id="86" name="Titel 1">
            <a:extLst>
              <a:ext uri="{FF2B5EF4-FFF2-40B4-BE49-F238E27FC236}">
                <a16:creationId xmlns:a16="http://schemas.microsoft.com/office/drawing/2014/main" id="{06DFD843-F601-3D16-46BF-4F7C7F00C1E1}"/>
              </a:ext>
            </a:extLst>
          </p:cNvPr>
          <p:cNvSpPr txBox="1">
            <a:spLocks/>
          </p:cNvSpPr>
          <p:nvPr/>
        </p:nvSpPr>
        <p:spPr>
          <a:xfrm>
            <a:off x="454327" y="3851715"/>
            <a:ext cx="1674807" cy="57934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ts val="2500"/>
              </a:lnSpc>
              <a:spcBef>
                <a:spcPct val="0"/>
              </a:spcBef>
              <a:buNone/>
              <a:defRPr sz="23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de-CH" sz="1400" b="0" dirty="0"/>
              <a:t>.fastq.gz </a:t>
            </a:r>
            <a:r>
              <a:rPr lang="de-CH" sz="1400" b="0" dirty="0" err="1"/>
              <a:t>files</a:t>
            </a:r>
            <a:r>
              <a:rPr lang="de-CH" sz="1400" b="0" dirty="0"/>
              <a:t> </a:t>
            </a:r>
            <a:r>
              <a:rPr lang="de-CH" sz="1400" b="0" dirty="0" err="1"/>
              <a:t>with</a:t>
            </a:r>
            <a:r>
              <a:rPr lang="de-CH" sz="1400" b="0" dirty="0"/>
              <a:t> the </a:t>
            </a:r>
            <a:r>
              <a:rPr lang="de-CH" sz="1400" b="0" dirty="0" err="1"/>
              <a:t>mapped</a:t>
            </a:r>
            <a:r>
              <a:rPr lang="de-CH" sz="1400" b="0" dirty="0"/>
              <a:t> </a:t>
            </a:r>
            <a:r>
              <a:rPr lang="de-CH" sz="1400" b="0" dirty="0" err="1"/>
              <a:t>reads</a:t>
            </a:r>
            <a:endParaRPr lang="de-CH" sz="1400" dirty="0"/>
          </a:p>
        </p:txBody>
      </p:sp>
      <p:sp>
        <p:nvSpPr>
          <p:cNvPr id="88" name="Titel 1">
            <a:extLst>
              <a:ext uri="{FF2B5EF4-FFF2-40B4-BE49-F238E27FC236}">
                <a16:creationId xmlns:a16="http://schemas.microsoft.com/office/drawing/2014/main" id="{AA6ED7AA-5093-E2AF-972B-B286F427D87C}"/>
              </a:ext>
            </a:extLst>
          </p:cNvPr>
          <p:cNvSpPr txBox="1">
            <a:spLocks/>
          </p:cNvSpPr>
          <p:nvPr/>
        </p:nvSpPr>
        <p:spPr>
          <a:xfrm>
            <a:off x="9718015" y="1275664"/>
            <a:ext cx="1994982" cy="88768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ts val="2500"/>
              </a:lnSpc>
              <a:spcBef>
                <a:spcPct val="0"/>
              </a:spcBef>
              <a:buNone/>
              <a:defRPr sz="23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de-CH" sz="1400" b="0" dirty="0"/>
              <a:t>Haploid </a:t>
            </a:r>
            <a:r>
              <a:rPr lang="de-CH" sz="1400" b="0" dirty="0" err="1"/>
              <a:t>genomes</a:t>
            </a:r>
            <a:r>
              <a:rPr lang="de-CH" sz="1400" b="0" dirty="0"/>
              <a:t> </a:t>
            </a:r>
            <a:r>
              <a:rPr lang="de-CH" sz="1400" b="0" dirty="0" err="1"/>
              <a:t>with</a:t>
            </a:r>
            <a:r>
              <a:rPr lang="de-CH" sz="1400" b="0" dirty="0"/>
              <a:t> a </a:t>
            </a:r>
            <a:r>
              <a:rPr lang="de-CH" sz="1400" b="0" dirty="0" err="1"/>
              <a:t>mean</a:t>
            </a:r>
            <a:r>
              <a:rPr lang="de-CH" sz="1400" b="0" dirty="0"/>
              <a:t> </a:t>
            </a:r>
            <a:r>
              <a:rPr lang="de-CH" sz="1400" b="0" dirty="0" err="1"/>
              <a:t>coverage</a:t>
            </a:r>
            <a:r>
              <a:rPr lang="de-CH" sz="1400" b="0" dirty="0"/>
              <a:t> of 40 (</a:t>
            </a:r>
            <a:r>
              <a:rPr lang="de-CH" sz="1400" dirty="0"/>
              <a:t>120</a:t>
            </a:r>
            <a:r>
              <a:rPr lang="de-CH" sz="1400" b="0" dirty="0"/>
              <a:t>) </a:t>
            </a:r>
            <a:r>
              <a:rPr lang="de-CH" sz="1400" b="0" dirty="0" err="1"/>
              <a:t>reads</a:t>
            </a:r>
            <a:r>
              <a:rPr lang="de-CH" sz="1400" b="0" dirty="0"/>
              <a:t> per </a:t>
            </a:r>
            <a:r>
              <a:rPr lang="de-CH" sz="1400" b="0" dirty="0" err="1"/>
              <a:t>base</a:t>
            </a:r>
            <a:r>
              <a:rPr lang="de-CH" sz="1400" b="0" dirty="0"/>
              <a:t>;</a:t>
            </a:r>
          </a:p>
          <a:p>
            <a:pPr>
              <a:lnSpc>
                <a:spcPct val="100000"/>
              </a:lnSpc>
            </a:pPr>
            <a:r>
              <a:rPr lang="de-CH" sz="1400" b="0" dirty="0" err="1"/>
              <a:t>max</a:t>
            </a:r>
            <a:r>
              <a:rPr lang="de-CH" sz="1400" b="0" dirty="0"/>
              <a:t> 1000bp </a:t>
            </a:r>
            <a:r>
              <a:rPr lang="de-CH" sz="1400" b="0" dirty="0" err="1"/>
              <a:t>reads</a:t>
            </a:r>
            <a:endParaRPr lang="de-CH" sz="1400" dirty="0"/>
          </a:p>
        </p:txBody>
      </p:sp>
      <p:sp>
        <p:nvSpPr>
          <p:cNvPr id="92" name="Titel 1">
            <a:extLst>
              <a:ext uri="{FF2B5EF4-FFF2-40B4-BE49-F238E27FC236}">
                <a16:creationId xmlns:a16="http://schemas.microsoft.com/office/drawing/2014/main" id="{278AB811-68E3-0E88-99FC-60E289F28212}"/>
              </a:ext>
            </a:extLst>
          </p:cNvPr>
          <p:cNvSpPr txBox="1">
            <a:spLocks/>
          </p:cNvSpPr>
          <p:nvPr/>
        </p:nvSpPr>
        <p:spPr>
          <a:xfrm>
            <a:off x="10177304" y="2460880"/>
            <a:ext cx="1674807" cy="9254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ts val="2500"/>
              </a:lnSpc>
              <a:spcBef>
                <a:spcPct val="0"/>
              </a:spcBef>
              <a:buNone/>
              <a:defRPr sz="23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CH" sz="1400" b="0" dirty="0"/>
              <a:t>.</a:t>
            </a:r>
            <a:r>
              <a:rPr lang="de-CH" sz="1400" b="0" dirty="0" err="1"/>
              <a:t>gd</a:t>
            </a:r>
            <a:r>
              <a:rPr lang="de-CH" sz="1400" b="0" dirty="0"/>
              <a:t> </a:t>
            </a:r>
            <a:r>
              <a:rPr lang="de-CH" sz="1400" b="0" dirty="0" err="1"/>
              <a:t>files</a:t>
            </a:r>
            <a:r>
              <a:rPr lang="de-CH" sz="1400" b="0" dirty="0"/>
              <a:t> for </a:t>
            </a:r>
            <a:r>
              <a:rPr lang="de-CH" sz="1400" dirty="0" err="1"/>
              <a:t>data</a:t>
            </a:r>
            <a:r>
              <a:rPr lang="de-CH" sz="1400" b="0" dirty="0"/>
              <a:t> </a:t>
            </a:r>
            <a:r>
              <a:rPr lang="de-CH" sz="1400" dirty="0" err="1"/>
              <a:t>analysis</a:t>
            </a:r>
            <a:endParaRPr lang="de-CH" sz="1400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CH" sz="1400" b="0" dirty="0"/>
              <a:t>.</a:t>
            </a:r>
            <a:r>
              <a:rPr lang="de-CH" sz="1400" b="0" dirty="0" err="1"/>
              <a:t>fasta</a:t>
            </a:r>
            <a:r>
              <a:rPr lang="de-CH" sz="1400" b="0" dirty="0"/>
              <a:t>, .bam., .</a:t>
            </a:r>
            <a:r>
              <a:rPr lang="de-CH" sz="1400" b="0" dirty="0" err="1"/>
              <a:t>gff</a:t>
            </a:r>
            <a:r>
              <a:rPr lang="de-CH" sz="1400" b="0" dirty="0"/>
              <a:t> </a:t>
            </a:r>
            <a:r>
              <a:rPr lang="de-CH" sz="1400" b="0" dirty="0" err="1"/>
              <a:t>files</a:t>
            </a:r>
            <a:r>
              <a:rPr lang="de-CH" sz="1400" b="0" dirty="0"/>
              <a:t> for </a:t>
            </a:r>
            <a:r>
              <a:rPr lang="de-CH" sz="1400" dirty="0"/>
              <a:t>IGV</a:t>
            </a:r>
            <a:endParaRPr lang="de-CH" sz="1400" b="0" dirty="0"/>
          </a:p>
        </p:txBody>
      </p:sp>
      <p:sp>
        <p:nvSpPr>
          <p:cNvPr id="94" name="Titel 1">
            <a:extLst>
              <a:ext uri="{FF2B5EF4-FFF2-40B4-BE49-F238E27FC236}">
                <a16:creationId xmlns:a16="http://schemas.microsoft.com/office/drawing/2014/main" id="{1C81FBDE-5A1E-4561-4453-D784BBD9F66A}"/>
              </a:ext>
            </a:extLst>
          </p:cNvPr>
          <p:cNvSpPr txBox="1">
            <a:spLocks/>
          </p:cNvSpPr>
          <p:nvPr/>
        </p:nvSpPr>
        <p:spPr>
          <a:xfrm>
            <a:off x="10158549" y="3590420"/>
            <a:ext cx="1674807" cy="110422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ts val="2500"/>
              </a:lnSpc>
              <a:spcBef>
                <a:spcPct val="0"/>
              </a:spcBef>
              <a:buNone/>
              <a:defRPr sz="23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CH" sz="1400" b="0" dirty="0"/>
              <a:t>Index.html for </a:t>
            </a:r>
            <a:r>
              <a:rPr lang="de-CH" sz="1400" dirty="0"/>
              <a:t>variant </a:t>
            </a:r>
            <a:r>
              <a:rPr lang="de-CH" sz="1400" dirty="0" err="1"/>
              <a:t>calling</a:t>
            </a:r>
            <a:endParaRPr lang="de-CH" sz="1400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CH" sz="1400" b="0" dirty="0"/>
              <a:t>Summary.html for </a:t>
            </a:r>
            <a:r>
              <a:rPr lang="de-CH" sz="1400" dirty="0" err="1"/>
              <a:t>coverage</a:t>
            </a:r>
            <a:r>
              <a:rPr lang="de-CH" sz="1400" dirty="0"/>
              <a:t> and </a:t>
            </a:r>
            <a:r>
              <a:rPr lang="de-CH" sz="1400" dirty="0" err="1"/>
              <a:t>statistics</a:t>
            </a:r>
            <a:endParaRPr lang="de-CH" sz="1400" b="0" dirty="0"/>
          </a:p>
        </p:txBody>
      </p:sp>
      <p:sp>
        <p:nvSpPr>
          <p:cNvPr id="96" name="Titel 1">
            <a:extLst>
              <a:ext uri="{FF2B5EF4-FFF2-40B4-BE49-F238E27FC236}">
                <a16:creationId xmlns:a16="http://schemas.microsoft.com/office/drawing/2014/main" id="{EFF854ED-67CB-0AF9-3B27-2A95E75063E9}"/>
              </a:ext>
            </a:extLst>
          </p:cNvPr>
          <p:cNvSpPr txBox="1">
            <a:spLocks/>
          </p:cNvSpPr>
          <p:nvPr/>
        </p:nvSpPr>
        <p:spPr>
          <a:xfrm>
            <a:off x="9541535" y="4926179"/>
            <a:ext cx="2311726" cy="9254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ts val="2500"/>
              </a:lnSpc>
              <a:spcBef>
                <a:spcPct val="0"/>
              </a:spcBef>
              <a:buNone/>
              <a:defRPr sz="23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CH" sz="1400" dirty="0"/>
              <a:t>Read </a:t>
            </a:r>
            <a:r>
              <a:rPr lang="de-CH" sz="1400" dirty="0" err="1"/>
              <a:t>alignments</a:t>
            </a:r>
            <a:r>
              <a:rPr lang="de-CH" sz="1400" dirty="0"/>
              <a:t> (RA)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CH" sz="1400" b="0" dirty="0"/>
              <a:t>Missing </a:t>
            </a:r>
            <a:r>
              <a:rPr lang="de-CH" sz="1400" b="0" dirty="0" err="1"/>
              <a:t>coverage</a:t>
            </a:r>
            <a:r>
              <a:rPr lang="de-CH" sz="1400" b="0" dirty="0"/>
              <a:t> (MC)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CH" sz="1400" b="0" dirty="0"/>
              <a:t>New </a:t>
            </a:r>
            <a:r>
              <a:rPr lang="de-CH" sz="1400" b="0" dirty="0" err="1"/>
              <a:t>junctions</a:t>
            </a:r>
            <a:r>
              <a:rPr lang="de-CH" sz="1400" b="0" dirty="0"/>
              <a:t> (JC)</a:t>
            </a:r>
          </a:p>
        </p:txBody>
      </p:sp>
      <p:sp>
        <p:nvSpPr>
          <p:cNvPr id="100" name="Titel 1">
            <a:extLst>
              <a:ext uri="{FF2B5EF4-FFF2-40B4-BE49-F238E27FC236}">
                <a16:creationId xmlns:a16="http://schemas.microsoft.com/office/drawing/2014/main" id="{3D933708-315F-B491-55AD-4D09A8B22952}"/>
              </a:ext>
            </a:extLst>
          </p:cNvPr>
          <p:cNvSpPr txBox="1">
            <a:spLocks/>
          </p:cNvSpPr>
          <p:nvPr/>
        </p:nvSpPr>
        <p:spPr>
          <a:xfrm>
            <a:off x="518428" y="4755301"/>
            <a:ext cx="2213701" cy="13113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ts val="2500"/>
              </a:lnSpc>
              <a:spcBef>
                <a:spcPct val="0"/>
              </a:spcBef>
              <a:buNone/>
              <a:defRPr sz="23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de-CH" sz="1400" b="0" dirty="0" err="1"/>
              <a:t>Frequency</a:t>
            </a:r>
            <a:r>
              <a:rPr lang="de-CH" sz="1400" b="0" dirty="0"/>
              <a:t> and score </a:t>
            </a:r>
            <a:r>
              <a:rPr lang="de-CH" sz="1400" b="0" dirty="0" err="1"/>
              <a:t>cutoffs</a:t>
            </a:r>
            <a:r>
              <a:rPr lang="de-CH" sz="1400" b="0" dirty="0"/>
              <a:t>, </a:t>
            </a:r>
            <a:r>
              <a:rPr lang="de-CH" sz="1400" b="0" dirty="0" err="1"/>
              <a:t>minimum</a:t>
            </a:r>
            <a:r>
              <a:rPr lang="de-CH" sz="1400" b="0" dirty="0"/>
              <a:t> total/variant </a:t>
            </a:r>
            <a:r>
              <a:rPr lang="de-CH" sz="1400" b="0" dirty="0" err="1"/>
              <a:t>coverage</a:t>
            </a:r>
            <a:r>
              <a:rPr lang="de-CH" sz="1400" b="0" dirty="0"/>
              <a:t>, </a:t>
            </a:r>
            <a:r>
              <a:rPr lang="de-CH" sz="1400" b="0" dirty="0" err="1"/>
              <a:t>noindels</a:t>
            </a:r>
            <a:r>
              <a:rPr lang="de-CH" sz="1400" b="0" dirty="0"/>
              <a:t> </a:t>
            </a:r>
            <a:r>
              <a:rPr lang="de-CH" sz="1400" b="0" dirty="0" err="1"/>
              <a:t>close</a:t>
            </a:r>
            <a:r>
              <a:rPr lang="de-CH" sz="1400" b="0" dirty="0"/>
              <a:t> to RAs, </a:t>
            </a:r>
            <a:r>
              <a:rPr lang="de-CH" sz="1400" b="0" dirty="0" err="1"/>
              <a:t>cutoff</a:t>
            </a:r>
            <a:r>
              <a:rPr lang="de-CH" sz="1400" b="0" dirty="0"/>
              <a:t> for </a:t>
            </a:r>
            <a:r>
              <a:rPr lang="de-CH" sz="1400" b="0" dirty="0" err="1"/>
              <a:t>Fisher’s</a:t>
            </a:r>
            <a:r>
              <a:rPr lang="de-CH" sz="1400" b="0" dirty="0"/>
              <a:t> </a:t>
            </a:r>
            <a:r>
              <a:rPr lang="de-CH" sz="1400" b="0" dirty="0" err="1"/>
              <a:t>test</a:t>
            </a:r>
            <a:r>
              <a:rPr lang="de-CH" sz="1400" b="0" dirty="0"/>
              <a:t> on </a:t>
            </a:r>
            <a:r>
              <a:rPr lang="de-CH" sz="1400" b="0" dirty="0" err="1"/>
              <a:t>bias</a:t>
            </a:r>
            <a:r>
              <a:rPr lang="de-CH" sz="1400" b="0" dirty="0"/>
              <a:t>.</a:t>
            </a:r>
            <a:endParaRPr lang="de-CH" sz="1400" dirty="0"/>
          </a:p>
        </p:txBody>
      </p:sp>
      <p:sp>
        <p:nvSpPr>
          <p:cNvPr id="101" name="Datumsplatzhalter 3">
            <a:extLst>
              <a:ext uri="{FF2B5EF4-FFF2-40B4-BE49-F238E27FC236}">
                <a16:creationId xmlns:a16="http://schemas.microsoft.com/office/drawing/2014/main" id="{C86154C4-59F1-655B-0C30-2FA18437D4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800" y="6524626"/>
            <a:ext cx="2878667" cy="180000"/>
          </a:xfrm>
        </p:spPr>
        <p:txBody>
          <a:bodyPr/>
          <a:lstStyle/>
          <a:p>
            <a:r>
              <a:rPr lang="de-CH" dirty="0"/>
              <a:t>Tommaso Cappelli, 24.08.2026</a:t>
            </a:r>
          </a:p>
        </p:txBody>
      </p:sp>
    </p:spTree>
    <p:extLst>
      <p:ext uri="{BB962C8B-B14F-4D97-AF65-F5344CB8AC3E}">
        <p14:creationId xmlns:p14="http://schemas.microsoft.com/office/powerpoint/2010/main" val="13103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E56D3-6DBF-25AE-F783-BAFE48EA6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084A3B-DFD6-1181-D112-68710915A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The </a:t>
            </a:r>
            <a:r>
              <a:rPr lang="de-CH" dirty="0" err="1"/>
              <a:t>deactivation</a:t>
            </a:r>
            <a:r>
              <a:rPr lang="de-CH" dirty="0"/>
              <a:t> of </a:t>
            </a:r>
            <a:r>
              <a:rPr lang="de-CH" i="1" dirty="0" err="1"/>
              <a:t>rpoS</a:t>
            </a:r>
            <a:r>
              <a:rPr lang="de-CH" i="1" dirty="0"/>
              <a:t> </a:t>
            </a:r>
            <a:r>
              <a:rPr lang="de-CH" dirty="0" err="1"/>
              <a:t>upregulates</a:t>
            </a:r>
            <a:r>
              <a:rPr lang="de-CH" dirty="0"/>
              <a:t> the </a:t>
            </a:r>
            <a:r>
              <a:rPr lang="de-CH" dirty="0" err="1"/>
              <a:t>duplication</a:t>
            </a:r>
            <a:r>
              <a:rPr lang="de-CH" dirty="0"/>
              <a:t> rate.</a:t>
            </a:r>
            <a:br>
              <a:rPr lang="de-CH" dirty="0"/>
            </a:br>
            <a:r>
              <a:rPr lang="de-CH" sz="1600" dirty="0"/>
              <a:t>Lineage 2 , 0.82-0.85 – Growth rate </a:t>
            </a:r>
            <a:r>
              <a:rPr lang="de-CH" sz="1600" dirty="0" err="1"/>
              <a:t>consistently</a:t>
            </a:r>
            <a:r>
              <a:rPr lang="de-CH" sz="1600" dirty="0"/>
              <a:t> high in </a:t>
            </a:r>
            <a:r>
              <a:rPr lang="de-CH" sz="1600" dirty="0" err="1"/>
              <a:t>succinate</a:t>
            </a:r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70F659-6DEA-2D9F-FEB7-19A76A93E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de-CH"/>
              <a:t>Universität Basel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B9865AB-A719-EB62-6642-0E36DD31F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11826-9277-4232-A2B5-17D05DFC7392}" type="slidenum">
              <a:rPr lang="de-CH" smtClean="0"/>
              <a:pPr/>
              <a:t>6</a:t>
            </a:fld>
            <a:endParaRPr lang="de-CH" dirty="0"/>
          </a:p>
        </p:txBody>
      </p:sp>
      <p:cxnSp>
        <p:nvCxnSpPr>
          <p:cNvPr id="8" name="Gerade Verbindung 7">
            <a:extLst>
              <a:ext uri="{FF2B5EF4-FFF2-40B4-BE49-F238E27FC236}">
                <a16:creationId xmlns:a16="http://schemas.microsoft.com/office/drawing/2014/main" id="{3499FEA5-5DEF-34E9-2BC6-3C170AA096D3}"/>
              </a:ext>
            </a:extLst>
          </p:cNvPr>
          <p:cNvCxnSpPr/>
          <p:nvPr/>
        </p:nvCxnSpPr>
        <p:spPr>
          <a:xfrm>
            <a:off x="334800" y="1520825"/>
            <a:ext cx="11521840" cy="0"/>
          </a:xfrm>
          <a:prstGeom prst="line">
            <a:avLst/>
          </a:prstGeom>
          <a:ln w="254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magine 9">
            <a:extLst>
              <a:ext uri="{FF2B5EF4-FFF2-40B4-BE49-F238E27FC236}">
                <a16:creationId xmlns:a16="http://schemas.microsoft.com/office/drawing/2014/main" id="{6B2E8562-F48D-7564-9D89-333E0DF1C6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76" y="1772816"/>
            <a:ext cx="6398544" cy="1351012"/>
          </a:xfrm>
          <a:prstGeom prst="rect">
            <a:avLst/>
          </a:prstGeom>
        </p:spPr>
      </p:pic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4F5E7A53-36F9-D7C6-8E36-E19198681EC5}"/>
              </a:ext>
            </a:extLst>
          </p:cNvPr>
          <p:cNvSpPr txBox="1">
            <a:spLocks/>
          </p:cNvSpPr>
          <p:nvPr/>
        </p:nvSpPr>
        <p:spPr>
          <a:xfrm>
            <a:off x="8016244" y="2236623"/>
            <a:ext cx="3648721" cy="342462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22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ts val="22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ts val="22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ts val="22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ts val="22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CH" sz="1600" dirty="0"/>
              <a:t>In all 3 </a:t>
            </a:r>
            <a:r>
              <a:rPr lang="de-CH" sz="1600" dirty="0" err="1"/>
              <a:t>samples</a:t>
            </a:r>
            <a:r>
              <a:rPr lang="de-CH" sz="1600" dirty="0"/>
              <a:t> of the </a:t>
            </a:r>
            <a:r>
              <a:rPr lang="de-CH" sz="1600" dirty="0" err="1"/>
              <a:t>lineage</a:t>
            </a:r>
            <a:r>
              <a:rPr lang="de-CH" sz="1600" dirty="0"/>
              <a:t> </a:t>
            </a:r>
            <a:r>
              <a:rPr lang="de-CH" sz="1600" dirty="0" err="1"/>
              <a:t>we</a:t>
            </a:r>
            <a:r>
              <a:rPr lang="de-CH" sz="1600" dirty="0"/>
              <a:t> </a:t>
            </a:r>
            <a:r>
              <a:rPr lang="de-CH" sz="1600" dirty="0" err="1"/>
              <a:t>can</a:t>
            </a:r>
            <a:r>
              <a:rPr lang="de-CH" sz="1600" dirty="0"/>
              <a:t> </a:t>
            </a:r>
            <a:r>
              <a:rPr lang="de-CH" sz="1600" dirty="0" err="1"/>
              <a:t>immediately</a:t>
            </a:r>
            <a:r>
              <a:rPr lang="de-CH" sz="1600" dirty="0"/>
              <a:t> </a:t>
            </a:r>
            <a:r>
              <a:rPr lang="de-CH" sz="1600" dirty="0" err="1"/>
              <a:t>notice</a:t>
            </a:r>
            <a:r>
              <a:rPr lang="de-CH" sz="1600" dirty="0"/>
              <a:t> a dominant </a:t>
            </a:r>
            <a:r>
              <a:rPr lang="de-CH" sz="1600" dirty="0" err="1"/>
              <a:t>mutation</a:t>
            </a:r>
            <a:r>
              <a:rPr lang="de-CH" sz="1600" dirty="0"/>
              <a:t> on the </a:t>
            </a:r>
            <a:r>
              <a:rPr lang="de-CH" sz="1600" dirty="0" err="1"/>
              <a:t>gene</a:t>
            </a:r>
            <a:r>
              <a:rPr lang="de-CH" sz="1600" dirty="0"/>
              <a:t> </a:t>
            </a:r>
            <a:r>
              <a:rPr lang="de-CH" sz="1600" i="1" dirty="0" err="1"/>
              <a:t>rpoS</a:t>
            </a:r>
            <a:r>
              <a:rPr lang="de-CH" sz="1600" dirty="0"/>
              <a:t>, </a:t>
            </a:r>
            <a:r>
              <a:rPr lang="de-CH" sz="1600" dirty="0" err="1"/>
              <a:t>that</a:t>
            </a:r>
            <a:r>
              <a:rPr lang="de-CH" sz="1600" dirty="0"/>
              <a:t> </a:t>
            </a:r>
            <a:r>
              <a:rPr lang="de-CH" sz="1600" dirty="0" err="1"/>
              <a:t>deactivates</a:t>
            </a:r>
            <a:r>
              <a:rPr lang="de-CH" sz="1600" dirty="0"/>
              <a:t> it by </a:t>
            </a:r>
            <a:r>
              <a:rPr lang="de-CH" sz="1600" dirty="0" err="1"/>
              <a:t>creating</a:t>
            </a:r>
            <a:r>
              <a:rPr lang="de-CH" sz="1600" dirty="0"/>
              <a:t> an </a:t>
            </a:r>
            <a:r>
              <a:rPr lang="de-CH" sz="1600" dirty="0" err="1"/>
              <a:t>ending</a:t>
            </a:r>
            <a:r>
              <a:rPr lang="de-CH" sz="1600" dirty="0"/>
              <a:t> </a:t>
            </a:r>
            <a:r>
              <a:rPr lang="de-CH" sz="1600" dirty="0" err="1"/>
              <a:t>sequence</a:t>
            </a:r>
            <a:r>
              <a:rPr lang="de-CH" sz="1600" dirty="0"/>
              <a:t>.</a:t>
            </a:r>
          </a:p>
          <a:p>
            <a:endParaRPr lang="de-CH" sz="1600" dirty="0"/>
          </a:p>
          <a:p>
            <a:r>
              <a:rPr lang="de-CH" sz="1600" i="1" dirty="0" err="1"/>
              <a:t>rpoS</a:t>
            </a:r>
            <a:r>
              <a:rPr lang="de-CH" sz="1600" i="1" dirty="0"/>
              <a:t> </a:t>
            </a:r>
            <a:r>
              <a:rPr lang="de-CH" sz="1600" dirty="0" err="1"/>
              <a:t>protein</a:t>
            </a:r>
            <a:r>
              <a:rPr lang="de-CH" sz="1600" dirty="0"/>
              <a:t>, </a:t>
            </a:r>
            <a:r>
              <a:rPr lang="it-IT" sz="1600" dirty="0" err="1"/>
              <a:t>σ</a:t>
            </a:r>
            <a:r>
              <a:rPr lang="it-IT" sz="1600" baseline="30000" dirty="0" err="1"/>
              <a:t>S</a:t>
            </a:r>
            <a:r>
              <a:rPr lang="it-IT" sz="1600" dirty="0"/>
              <a:t>, </a:t>
            </a:r>
            <a:r>
              <a:rPr lang="de-CH" sz="1600" dirty="0" err="1"/>
              <a:t>binds</a:t>
            </a:r>
            <a:r>
              <a:rPr lang="de-CH" sz="1600" dirty="0"/>
              <a:t> to RNA </a:t>
            </a:r>
            <a:r>
              <a:rPr lang="de-CH" sz="1600" dirty="0" err="1"/>
              <a:t>polymerase</a:t>
            </a:r>
            <a:r>
              <a:rPr lang="de-CH" sz="1600" dirty="0"/>
              <a:t> </a:t>
            </a:r>
            <a:r>
              <a:rPr lang="de-CH" sz="1600" dirty="0" err="1"/>
              <a:t>instead</a:t>
            </a:r>
            <a:r>
              <a:rPr lang="de-CH" sz="1600" dirty="0"/>
              <a:t> of </a:t>
            </a:r>
            <a:r>
              <a:rPr lang="it-IT" sz="1600" dirty="0"/>
              <a:t>σ</a:t>
            </a:r>
            <a:r>
              <a:rPr lang="it-IT" sz="1600" baseline="30000" dirty="0"/>
              <a:t>70</a:t>
            </a:r>
            <a:r>
              <a:rPr lang="de-CH" sz="1600" dirty="0"/>
              <a:t> and </a:t>
            </a:r>
            <a:r>
              <a:rPr lang="de-CH" sz="1600" dirty="0" err="1"/>
              <a:t>regulates</a:t>
            </a:r>
            <a:r>
              <a:rPr lang="de-CH" sz="1600" dirty="0"/>
              <a:t> the </a:t>
            </a:r>
            <a:r>
              <a:rPr lang="de-CH" sz="1600" dirty="0" err="1"/>
              <a:t>default</a:t>
            </a:r>
            <a:r>
              <a:rPr lang="de-CH" sz="1600" dirty="0"/>
              <a:t> stress </a:t>
            </a:r>
            <a:r>
              <a:rPr lang="de-CH" sz="1600" dirty="0" err="1"/>
              <a:t>response</a:t>
            </a:r>
            <a:r>
              <a:rPr lang="de-CH" sz="1600" dirty="0"/>
              <a:t>.</a:t>
            </a:r>
          </a:p>
          <a:p>
            <a:endParaRPr lang="de-CH" sz="1600" dirty="0"/>
          </a:p>
          <a:p>
            <a:r>
              <a:rPr lang="de-CH" sz="1600" dirty="0" err="1"/>
              <a:t>Deactivating</a:t>
            </a:r>
            <a:r>
              <a:rPr lang="de-CH" sz="1600" dirty="0"/>
              <a:t> the stress </a:t>
            </a:r>
            <a:r>
              <a:rPr lang="de-CH" sz="1600" dirty="0" err="1"/>
              <a:t>response</a:t>
            </a:r>
            <a:r>
              <a:rPr lang="de-CH" sz="1600" dirty="0"/>
              <a:t> </a:t>
            </a:r>
            <a:r>
              <a:rPr lang="de-CH" sz="1600" dirty="0" err="1"/>
              <a:t>increases</a:t>
            </a:r>
            <a:r>
              <a:rPr lang="de-CH" sz="1600" dirty="0"/>
              <a:t> the </a:t>
            </a:r>
            <a:r>
              <a:rPr lang="de-CH" sz="1600" dirty="0" err="1"/>
              <a:t>growth</a:t>
            </a:r>
            <a:r>
              <a:rPr lang="de-CH" sz="1600" dirty="0"/>
              <a:t> </a:t>
            </a:r>
            <a:r>
              <a:rPr lang="de-CH" sz="1600" dirty="0" err="1"/>
              <a:t>rates</a:t>
            </a:r>
            <a:endParaRPr lang="de-CH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CH" sz="1600" b="1" dirty="0"/>
              <a:t>Genome </a:t>
            </a:r>
            <a:r>
              <a:rPr lang="de-CH" sz="1600" b="1" dirty="0" err="1"/>
              <a:t>evolution</a:t>
            </a:r>
            <a:endParaRPr lang="de-CH" sz="1600" b="1" dirty="0"/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FADAE70E-6905-CE9F-5291-B6753ECEE6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93" y="3123828"/>
            <a:ext cx="5595509" cy="2807080"/>
          </a:xfrm>
          <a:prstGeom prst="rect">
            <a:avLst/>
          </a:prstGeom>
        </p:spPr>
      </p:pic>
      <p:sp>
        <p:nvSpPr>
          <p:cNvPr id="15" name="Datumsplatzhalter 3">
            <a:extLst>
              <a:ext uri="{FF2B5EF4-FFF2-40B4-BE49-F238E27FC236}">
                <a16:creationId xmlns:a16="http://schemas.microsoft.com/office/drawing/2014/main" id="{70B446DA-6DB7-8A69-15D4-1888EB7FCC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800" y="6524626"/>
            <a:ext cx="2878667" cy="180000"/>
          </a:xfrm>
        </p:spPr>
        <p:txBody>
          <a:bodyPr/>
          <a:lstStyle/>
          <a:p>
            <a:r>
              <a:rPr lang="de-CH" dirty="0"/>
              <a:t>Tommaso Cappelli, 24.08.2026</a:t>
            </a:r>
          </a:p>
        </p:txBody>
      </p:sp>
    </p:spTree>
    <p:extLst>
      <p:ext uri="{BB962C8B-B14F-4D97-AF65-F5344CB8AC3E}">
        <p14:creationId xmlns:p14="http://schemas.microsoft.com/office/powerpoint/2010/main" val="1254563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2472D-1EEC-459A-E8A6-C7A4D67BC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F85ABC-190D-0D8D-ACEF-247C24F0C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Variant </a:t>
            </a:r>
            <a:r>
              <a:rPr lang="de-CH" dirty="0" err="1"/>
              <a:t>calling</a:t>
            </a:r>
            <a:r>
              <a:rPr lang="de-CH" dirty="0"/>
              <a:t> </a:t>
            </a:r>
            <a:r>
              <a:rPr lang="de-CH" dirty="0" err="1"/>
              <a:t>doesn’t</a:t>
            </a:r>
            <a:r>
              <a:rPr lang="de-CH" dirty="0"/>
              <a:t> </a:t>
            </a:r>
            <a:r>
              <a:rPr lang="de-CH" dirty="0" err="1"/>
              <a:t>always</a:t>
            </a:r>
            <a:r>
              <a:rPr lang="de-CH" dirty="0"/>
              <a:t> </a:t>
            </a:r>
            <a:r>
              <a:rPr lang="de-CH" dirty="0" err="1"/>
              <a:t>tell</a:t>
            </a:r>
            <a:r>
              <a:rPr lang="de-CH" dirty="0"/>
              <a:t> the </a:t>
            </a:r>
            <a:r>
              <a:rPr lang="de-CH" dirty="0" err="1"/>
              <a:t>full</a:t>
            </a:r>
            <a:r>
              <a:rPr lang="de-CH" dirty="0"/>
              <a:t> </a:t>
            </a:r>
            <a:r>
              <a:rPr lang="de-CH" dirty="0" err="1"/>
              <a:t>story</a:t>
            </a:r>
            <a:br>
              <a:rPr lang="de-CH" dirty="0"/>
            </a:br>
            <a:r>
              <a:rPr lang="de-CH" sz="1600" dirty="0"/>
              <a:t>Lineage 3 , .39 </a:t>
            </a:r>
            <a:r>
              <a:rPr lang="de-CH" sz="1600" dirty="0" err="1"/>
              <a:t>vs</a:t>
            </a:r>
            <a:r>
              <a:rPr lang="de-CH" sz="1600" dirty="0"/>
              <a:t> .81  – Spike in </a:t>
            </a:r>
            <a:r>
              <a:rPr lang="de-CH" sz="1600" dirty="0" err="1"/>
              <a:t>growth</a:t>
            </a:r>
            <a:r>
              <a:rPr lang="de-CH" sz="1600" dirty="0"/>
              <a:t> rate for the 2nd sample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01F03FA-48B5-902C-8B8F-917D03B2C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de-CH"/>
              <a:t>Universität Basel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F06F982-945C-11EC-45A7-2AEC18832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11826-9277-4232-A2B5-17D05DFC7392}" type="slidenum">
              <a:rPr lang="de-CH" smtClean="0"/>
              <a:pPr/>
              <a:t>7</a:t>
            </a:fld>
            <a:endParaRPr lang="de-CH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73905257-0D3F-1DEE-C396-47320677A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056" y="2283210"/>
            <a:ext cx="4307307" cy="4104270"/>
          </a:xfrm>
          <a:prstGeom prst="rect">
            <a:avLst/>
          </a:prstGeom>
        </p:spPr>
      </p:pic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5B68248B-B2A9-C063-64C0-58F2FED480F2}"/>
              </a:ext>
            </a:extLst>
          </p:cNvPr>
          <p:cNvSpPr txBox="1">
            <a:spLocks/>
          </p:cNvSpPr>
          <p:nvPr/>
        </p:nvSpPr>
        <p:spPr>
          <a:xfrm>
            <a:off x="398093" y="1175632"/>
            <a:ext cx="11098507" cy="118596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22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ts val="22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ts val="22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ts val="22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ts val="22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CH" dirty="0"/>
              <a:t>GLU and SUC2 sample </a:t>
            </a:r>
            <a:r>
              <a:rPr lang="de-CH" dirty="0" err="1"/>
              <a:t>have</a:t>
            </a:r>
            <a:r>
              <a:rPr lang="de-CH" dirty="0"/>
              <a:t> NO </a:t>
            </a:r>
            <a:r>
              <a:rPr lang="de-CH" dirty="0" err="1"/>
              <a:t>predicted</a:t>
            </a:r>
            <a:r>
              <a:rPr lang="de-CH" dirty="0"/>
              <a:t> </a:t>
            </a:r>
            <a:r>
              <a:rPr lang="de-CH" dirty="0" err="1"/>
              <a:t>mutation</a:t>
            </a:r>
            <a:r>
              <a:rPr lang="de-CH" dirty="0"/>
              <a:t> </a:t>
            </a:r>
            <a:r>
              <a:rPr lang="de-CH" dirty="0" err="1"/>
              <a:t>over</a:t>
            </a:r>
            <a:r>
              <a:rPr lang="de-CH" dirty="0"/>
              <a:t> 10%.</a:t>
            </a:r>
          </a:p>
          <a:p>
            <a:r>
              <a:rPr lang="de-CH" dirty="0"/>
              <a:t>Looking at the </a:t>
            </a:r>
            <a:r>
              <a:rPr lang="de-CH" b="1" dirty="0" err="1"/>
              <a:t>coverage</a:t>
            </a:r>
            <a:r>
              <a:rPr lang="de-CH" b="1" dirty="0"/>
              <a:t> </a:t>
            </a:r>
            <a:r>
              <a:rPr lang="de-CH" b="1" dirty="0" err="1"/>
              <a:t>profile</a:t>
            </a:r>
            <a:r>
              <a:rPr lang="de-CH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/>
              <a:t>The 1</a:t>
            </a:r>
            <a:r>
              <a:rPr lang="de-CH" baseline="30000" dirty="0"/>
              <a:t>st</a:t>
            </a:r>
            <a:r>
              <a:rPr lang="de-CH" dirty="0"/>
              <a:t> </a:t>
            </a:r>
            <a:r>
              <a:rPr lang="de-CH" dirty="0" err="1"/>
              <a:t>succinate</a:t>
            </a:r>
            <a:r>
              <a:rPr lang="de-CH" dirty="0"/>
              <a:t> </a:t>
            </a:r>
            <a:r>
              <a:rPr lang="de-CH" dirty="0" err="1"/>
              <a:t>coverage</a:t>
            </a:r>
            <a:r>
              <a:rPr lang="de-CH" dirty="0"/>
              <a:t> </a:t>
            </a:r>
            <a:r>
              <a:rPr lang="de-CH" dirty="0" err="1"/>
              <a:t>profile</a:t>
            </a:r>
            <a:r>
              <a:rPr lang="de-CH" dirty="0"/>
              <a:t> feature a </a:t>
            </a:r>
            <a:r>
              <a:rPr lang="de-CH" dirty="0" err="1"/>
              <a:t>singular</a:t>
            </a:r>
            <a:r>
              <a:rPr lang="de-CH" dirty="0"/>
              <a:t> V-</a:t>
            </a:r>
            <a:r>
              <a:rPr lang="de-CH" dirty="0" err="1"/>
              <a:t>shape</a:t>
            </a:r>
            <a:r>
              <a:rPr lang="de-CH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/>
              <a:t>The 2</a:t>
            </a:r>
            <a:r>
              <a:rPr lang="de-CH" baseline="30000" dirty="0"/>
              <a:t>nd</a:t>
            </a:r>
            <a:r>
              <a:rPr lang="de-CH" dirty="0"/>
              <a:t> </a:t>
            </a:r>
            <a:r>
              <a:rPr lang="de-CH" dirty="0" err="1"/>
              <a:t>features</a:t>
            </a:r>
            <a:r>
              <a:rPr lang="de-CH" dirty="0"/>
              <a:t> a </a:t>
            </a:r>
            <a:r>
              <a:rPr lang="de-CH" dirty="0" err="1"/>
              <a:t>new</a:t>
            </a:r>
            <a:r>
              <a:rPr lang="de-CH" dirty="0"/>
              <a:t> </a:t>
            </a:r>
            <a:r>
              <a:rPr lang="de-CH" dirty="0" err="1"/>
              <a:t>spike</a:t>
            </a:r>
            <a:r>
              <a:rPr lang="de-CH" dirty="0"/>
              <a:t> (</a:t>
            </a:r>
            <a:r>
              <a:rPr lang="de-CH" dirty="0" err="1"/>
              <a:t>mean</a:t>
            </a:r>
            <a:r>
              <a:rPr lang="de-CH" dirty="0"/>
              <a:t> </a:t>
            </a:r>
            <a:r>
              <a:rPr lang="de-CH" dirty="0" err="1"/>
              <a:t>coverage</a:t>
            </a:r>
            <a:r>
              <a:rPr lang="de-CH" dirty="0"/>
              <a:t> </a:t>
            </a:r>
            <a:r>
              <a:rPr lang="de-CH" dirty="0" err="1"/>
              <a:t>has</a:t>
            </a:r>
            <a:r>
              <a:rPr lang="de-CH" dirty="0"/>
              <a:t> </a:t>
            </a:r>
            <a:r>
              <a:rPr lang="de-CH" dirty="0" err="1"/>
              <a:t>doubled</a:t>
            </a:r>
            <a:r>
              <a:rPr lang="de-CH" dirty="0"/>
              <a:t>) of </a:t>
            </a:r>
            <a:r>
              <a:rPr lang="de-CH" dirty="0" err="1"/>
              <a:t>around</a:t>
            </a:r>
            <a:r>
              <a:rPr lang="de-CH" dirty="0"/>
              <a:t> </a:t>
            </a:r>
            <a:r>
              <a:rPr lang="de-CH" b="1" dirty="0"/>
              <a:t>60kb</a:t>
            </a:r>
            <a:r>
              <a:rPr lang="de-CH" dirty="0"/>
              <a:t>.</a:t>
            </a: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895C9ACC-690E-7539-894B-7F038BCAF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472" y="2361594"/>
            <a:ext cx="4157011" cy="3946352"/>
          </a:xfrm>
          <a:prstGeom prst="rect">
            <a:avLst/>
          </a:prstGeom>
        </p:spPr>
      </p:pic>
      <p:sp>
        <p:nvSpPr>
          <p:cNvPr id="13" name="Datumsplatzhalter 3">
            <a:extLst>
              <a:ext uri="{FF2B5EF4-FFF2-40B4-BE49-F238E27FC236}">
                <a16:creationId xmlns:a16="http://schemas.microsoft.com/office/drawing/2014/main" id="{F08C993B-926F-44E4-FEDB-EA10E0C860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800" y="6524626"/>
            <a:ext cx="2878667" cy="180000"/>
          </a:xfrm>
        </p:spPr>
        <p:txBody>
          <a:bodyPr/>
          <a:lstStyle/>
          <a:p>
            <a:r>
              <a:rPr lang="de-CH" dirty="0"/>
              <a:t>Tommaso Cappelli, 24.08.2026</a:t>
            </a:r>
          </a:p>
        </p:txBody>
      </p:sp>
      <p:sp>
        <p:nvSpPr>
          <p:cNvPr id="8" name="Freccia a sinistra 7">
            <a:extLst>
              <a:ext uri="{FF2B5EF4-FFF2-40B4-BE49-F238E27FC236}">
                <a16:creationId xmlns:a16="http://schemas.microsoft.com/office/drawing/2014/main" id="{38420CB0-603A-C22A-FEE7-2D6DADBA5FE0}"/>
              </a:ext>
            </a:extLst>
          </p:cNvPr>
          <p:cNvSpPr/>
          <p:nvPr/>
        </p:nvSpPr>
        <p:spPr>
          <a:xfrm rot="12535442">
            <a:off x="1938146" y="4890226"/>
            <a:ext cx="1512168" cy="216024"/>
          </a:xfrm>
          <a:prstGeom prst="lef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 err="1"/>
          </a:p>
        </p:txBody>
      </p:sp>
      <p:sp>
        <p:nvSpPr>
          <p:cNvPr id="11" name="Freccia a sinistra 10">
            <a:extLst>
              <a:ext uri="{FF2B5EF4-FFF2-40B4-BE49-F238E27FC236}">
                <a16:creationId xmlns:a16="http://schemas.microsoft.com/office/drawing/2014/main" id="{CE369256-E629-7A6B-3ADD-3A34FCA6B653}"/>
              </a:ext>
            </a:extLst>
          </p:cNvPr>
          <p:cNvSpPr/>
          <p:nvPr/>
        </p:nvSpPr>
        <p:spPr>
          <a:xfrm rot="9064558" flipH="1">
            <a:off x="3821679" y="4933333"/>
            <a:ext cx="1512168" cy="216024"/>
          </a:xfrm>
          <a:prstGeom prst="lef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 err="1"/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D027CB14-5D7A-859E-F172-1C1776A32B69}"/>
              </a:ext>
            </a:extLst>
          </p:cNvPr>
          <p:cNvSpPr/>
          <p:nvPr/>
        </p:nvSpPr>
        <p:spPr>
          <a:xfrm>
            <a:off x="8400256" y="3308275"/>
            <a:ext cx="648072" cy="2376264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 err="1"/>
          </a:p>
        </p:txBody>
      </p:sp>
    </p:spTree>
    <p:extLst>
      <p:ext uri="{BB962C8B-B14F-4D97-AF65-F5344CB8AC3E}">
        <p14:creationId xmlns:p14="http://schemas.microsoft.com/office/powerpoint/2010/main" val="3131624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2E6D1-6EC5-5132-A7A9-252DC25AE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5D7E95-A1CF-B779-F776-2B76E5037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Variant </a:t>
            </a:r>
            <a:r>
              <a:rPr lang="de-CH" dirty="0" err="1"/>
              <a:t>calling</a:t>
            </a:r>
            <a:r>
              <a:rPr lang="de-CH" dirty="0"/>
              <a:t> </a:t>
            </a:r>
            <a:r>
              <a:rPr lang="de-CH" dirty="0" err="1"/>
              <a:t>tracks</a:t>
            </a:r>
            <a:r>
              <a:rPr lang="de-CH" dirty="0"/>
              <a:t> down the v-</a:t>
            </a:r>
            <a:r>
              <a:rPr lang="de-CH" dirty="0" err="1"/>
              <a:t>shape</a:t>
            </a:r>
            <a:r>
              <a:rPr lang="de-CH" dirty="0"/>
              <a:t> of the </a:t>
            </a:r>
            <a:r>
              <a:rPr lang="de-CH" dirty="0" err="1"/>
              <a:t>first</a:t>
            </a:r>
            <a:r>
              <a:rPr lang="de-CH" dirty="0"/>
              <a:t> </a:t>
            </a:r>
            <a:r>
              <a:rPr lang="de-CH" dirty="0" err="1"/>
              <a:t>coverage</a:t>
            </a:r>
            <a:r>
              <a:rPr lang="de-CH" dirty="0"/>
              <a:t>.</a:t>
            </a:r>
            <a:br>
              <a:rPr lang="de-CH" dirty="0"/>
            </a:br>
            <a:r>
              <a:rPr lang="de-CH" sz="1600" dirty="0"/>
              <a:t>Lineage 3, .39 </a:t>
            </a:r>
            <a:r>
              <a:rPr lang="de-CH" sz="1600" dirty="0" err="1"/>
              <a:t>vs</a:t>
            </a:r>
            <a:r>
              <a:rPr lang="de-CH" sz="1600" dirty="0"/>
              <a:t> .81 – V-</a:t>
            </a:r>
            <a:r>
              <a:rPr lang="de-CH" sz="1600" dirty="0" err="1"/>
              <a:t>shape</a:t>
            </a:r>
            <a:r>
              <a:rPr lang="de-CH" sz="1600" dirty="0"/>
              <a:t> for the 1st sample</a:t>
            </a:r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2328BB4-1A87-FA5D-5EA1-2F1754134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de-CH"/>
              <a:t>Universität Basel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FDB4CDD-9FF6-E793-1BCC-6AC15B7E1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11826-9277-4232-A2B5-17D05DFC7392}" type="slidenum">
              <a:rPr lang="de-CH" smtClean="0"/>
              <a:pPr/>
              <a:t>8</a:t>
            </a:fld>
            <a:endParaRPr lang="de-CH" dirty="0"/>
          </a:p>
        </p:txBody>
      </p:sp>
      <p:cxnSp>
        <p:nvCxnSpPr>
          <p:cNvPr id="8" name="Gerade Verbindung 7">
            <a:extLst>
              <a:ext uri="{FF2B5EF4-FFF2-40B4-BE49-F238E27FC236}">
                <a16:creationId xmlns:a16="http://schemas.microsoft.com/office/drawing/2014/main" id="{7AD255D2-29C4-5E2D-5B52-EBB918B93CED}"/>
              </a:ext>
            </a:extLst>
          </p:cNvPr>
          <p:cNvCxnSpPr/>
          <p:nvPr/>
        </p:nvCxnSpPr>
        <p:spPr>
          <a:xfrm>
            <a:off x="334800" y="1520825"/>
            <a:ext cx="11521840" cy="0"/>
          </a:xfrm>
          <a:prstGeom prst="line">
            <a:avLst/>
          </a:prstGeom>
          <a:ln w="254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CC12CF93-23C7-A596-D1A4-F94775375CEF}"/>
              </a:ext>
            </a:extLst>
          </p:cNvPr>
          <p:cNvSpPr txBox="1">
            <a:spLocks/>
          </p:cNvSpPr>
          <p:nvPr/>
        </p:nvSpPr>
        <p:spPr>
          <a:xfrm>
            <a:off x="210898" y="1880900"/>
            <a:ext cx="5813094" cy="45004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22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ts val="22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ts val="22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ts val="22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ts val="22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The </a:t>
            </a:r>
            <a:r>
              <a:rPr lang="it-IT" sz="1600" dirty="0" err="1"/>
              <a:t>only</a:t>
            </a:r>
            <a:r>
              <a:rPr lang="it-IT" sz="1600" dirty="0"/>
              <a:t> </a:t>
            </a:r>
            <a:r>
              <a:rPr lang="it-IT" sz="1600" dirty="0" err="1"/>
              <a:t>striking</a:t>
            </a:r>
            <a:r>
              <a:rPr lang="it-IT" sz="1600" dirty="0"/>
              <a:t> </a:t>
            </a:r>
            <a:r>
              <a:rPr lang="it-IT" sz="1600" dirty="0" err="1"/>
              <a:t>mutation</a:t>
            </a:r>
            <a:r>
              <a:rPr lang="it-IT" sz="1600" dirty="0"/>
              <a:t> </a:t>
            </a:r>
            <a:r>
              <a:rPr lang="it-IT" sz="1600" dirty="0" err="1"/>
              <a:t>that</a:t>
            </a:r>
            <a:r>
              <a:rPr lang="it-IT" sz="1600" dirty="0"/>
              <a:t> </a:t>
            </a:r>
            <a:r>
              <a:rPr lang="it-IT" sz="1600" dirty="0" err="1"/>
              <a:t>appears</a:t>
            </a:r>
            <a:r>
              <a:rPr lang="it-IT" sz="1600" dirty="0"/>
              <a:t> in the 1</a:t>
            </a:r>
            <a:r>
              <a:rPr lang="it-IT" sz="1600" baseline="30000" dirty="0"/>
              <a:t>st</a:t>
            </a:r>
            <a:r>
              <a:rPr lang="it-IT" sz="1600" dirty="0"/>
              <a:t> </a:t>
            </a:r>
            <a:r>
              <a:rPr lang="it-IT" sz="1600" dirty="0" err="1"/>
              <a:t>succinate</a:t>
            </a:r>
            <a:r>
              <a:rPr lang="it-IT" sz="1600" dirty="0"/>
              <a:t> sample for </a:t>
            </a:r>
            <a:r>
              <a:rPr lang="it-IT" sz="1600" dirty="0" err="1"/>
              <a:t>this</a:t>
            </a:r>
            <a:r>
              <a:rPr lang="it-IT" sz="1600" dirty="0"/>
              <a:t> </a:t>
            </a:r>
            <a:r>
              <a:rPr lang="it-IT" sz="1600" dirty="0" err="1"/>
              <a:t>weil</a:t>
            </a:r>
            <a:r>
              <a:rPr lang="it-IT" sz="1600" dirty="0"/>
              <a:t> </a:t>
            </a:r>
            <a:r>
              <a:rPr lang="it-IT" sz="1600" dirty="0" err="1"/>
              <a:t>is</a:t>
            </a:r>
            <a:r>
              <a:rPr lang="it-IT" sz="1600" dirty="0"/>
              <a:t> </a:t>
            </a:r>
            <a:r>
              <a:rPr lang="it-IT" sz="1600" dirty="0" err="1"/>
              <a:t>another</a:t>
            </a:r>
            <a:r>
              <a:rPr lang="it-IT" sz="1600" dirty="0"/>
              <a:t> SNV, </a:t>
            </a:r>
            <a:r>
              <a:rPr lang="it-IT" sz="1600" dirty="0" err="1"/>
              <a:t>that</a:t>
            </a:r>
            <a:r>
              <a:rPr lang="it-IT" sz="1600" dirty="0"/>
              <a:t> </a:t>
            </a:r>
            <a:r>
              <a:rPr lang="it-IT" sz="1600" dirty="0" err="1"/>
              <a:t>creates</a:t>
            </a:r>
            <a:r>
              <a:rPr lang="it-IT" sz="1600" dirty="0"/>
              <a:t> a stop </a:t>
            </a:r>
            <a:r>
              <a:rPr lang="it-IT" sz="1600" dirty="0" err="1"/>
              <a:t>codon</a:t>
            </a:r>
            <a:r>
              <a:rPr lang="it-IT" sz="1600" dirty="0"/>
              <a:t> in </a:t>
            </a:r>
            <a:r>
              <a:rPr lang="it-IT" sz="1600" i="1" dirty="0" err="1"/>
              <a:t>dksA</a:t>
            </a:r>
            <a:r>
              <a:rPr lang="it-IT" sz="1600" i="1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6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i="1" dirty="0" err="1"/>
              <a:t>DksA</a:t>
            </a:r>
            <a:r>
              <a:rPr lang="it-IT" sz="1600" i="1" dirty="0"/>
              <a:t>, (p)</a:t>
            </a:r>
            <a:r>
              <a:rPr lang="it-IT" sz="1600" i="1" dirty="0" err="1"/>
              <a:t>ppGpp</a:t>
            </a:r>
            <a:r>
              <a:rPr lang="it-IT" sz="1600" i="1" dirty="0"/>
              <a:t> -&gt; </a:t>
            </a:r>
            <a:r>
              <a:rPr lang="it-IT" sz="1600" dirty="0" err="1"/>
              <a:t>binding</a:t>
            </a:r>
            <a:r>
              <a:rPr lang="it-IT" sz="1600" dirty="0"/>
              <a:t> </a:t>
            </a:r>
            <a:r>
              <a:rPr lang="it-IT" sz="1600" dirty="0" err="1"/>
              <a:t>factors</a:t>
            </a:r>
            <a:r>
              <a:rPr lang="it-IT" sz="1600" dirty="0"/>
              <a:t> to RNAP, </a:t>
            </a:r>
            <a:r>
              <a:rPr lang="it-IT" sz="1600" dirty="0" err="1"/>
              <a:t>that</a:t>
            </a:r>
            <a:r>
              <a:rPr lang="it-IT" sz="1600" dirty="0"/>
              <a:t> </a:t>
            </a:r>
            <a:r>
              <a:rPr lang="it-IT" sz="1600" b="1" dirty="0"/>
              <a:t>links </a:t>
            </a:r>
            <a:r>
              <a:rPr lang="it-IT" sz="1600" b="1" dirty="0" err="1"/>
              <a:t>σ</a:t>
            </a:r>
            <a:r>
              <a:rPr lang="it-IT" sz="1600" b="1" baseline="30000" dirty="0" err="1"/>
              <a:t>S</a:t>
            </a:r>
            <a:r>
              <a:rPr lang="it-IT" sz="1600" b="1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600" b="1" i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sz="1600" dirty="0"/>
              <a:t>Up-</a:t>
            </a:r>
            <a:r>
              <a:rPr lang="it-IT" sz="1600" dirty="0" err="1"/>
              <a:t>regulation</a:t>
            </a:r>
            <a:r>
              <a:rPr lang="it-IT" sz="1600" dirty="0"/>
              <a:t> </a:t>
            </a:r>
            <a:r>
              <a:rPr lang="it-IT" sz="1600" b="1" dirty="0"/>
              <a:t>survival-</a:t>
            </a:r>
            <a:r>
              <a:rPr lang="it-IT" sz="1600" b="1" dirty="0" err="1"/>
              <a:t>related</a:t>
            </a:r>
            <a:r>
              <a:rPr lang="it-IT" sz="1600" b="1" dirty="0"/>
              <a:t> </a:t>
            </a:r>
            <a:r>
              <a:rPr lang="it-IT" sz="1600" b="1" dirty="0" err="1"/>
              <a:t>genes</a:t>
            </a:r>
            <a:r>
              <a:rPr lang="it-IT" sz="1600" b="1" dirty="0"/>
              <a:t> </a:t>
            </a:r>
            <a:br>
              <a:rPr lang="it-IT" sz="1600" b="1" dirty="0"/>
            </a:br>
            <a:r>
              <a:rPr lang="it-IT" sz="1600" dirty="0"/>
              <a:t>(</a:t>
            </a:r>
            <a:r>
              <a:rPr lang="it-IT" sz="1600" dirty="0" err="1"/>
              <a:t>shrinkage</a:t>
            </a:r>
            <a:r>
              <a:rPr lang="it-IT" sz="1600" dirty="0"/>
              <a:t>, </a:t>
            </a:r>
            <a:r>
              <a:rPr lang="it-IT" sz="1600" dirty="0" err="1"/>
              <a:t>succinate</a:t>
            </a:r>
            <a:r>
              <a:rPr lang="it-IT" sz="1600" dirty="0"/>
              <a:t> breakdown).</a:t>
            </a:r>
            <a:endParaRPr lang="it-IT" sz="16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it-IT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sz="1600" dirty="0" err="1"/>
              <a:t>Growth</a:t>
            </a:r>
            <a:r>
              <a:rPr lang="it-IT" sz="1600" dirty="0"/>
              <a:t> rate </a:t>
            </a:r>
            <a:r>
              <a:rPr lang="it-IT" sz="1600" dirty="0" err="1"/>
              <a:t>doesn’t</a:t>
            </a:r>
            <a:r>
              <a:rPr lang="it-IT" sz="1600" dirty="0"/>
              <a:t> </a:t>
            </a:r>
            <a:r>
              <a:rPr lang="it-IT" sz="1600" dirty="0" err="1"/>
              <a:t>seem</a:t>
            </a:r>
            <a:r>
              <a:rPr lang="it-IT" sz="1600" dirty="0"/>
              <a:t> to </a:t>
            </a:r>
            <a:r>
              <a:rPr lang="it-IT" sz="1600" dirty="0" err="1"/>
              <a:t>increase</a:t>
            </a:r>
            <a:endParaRPr lang="it-IT" sz="1600" dirty="0"/>
          </a:p>
          <a:p>
            <a:r>
              <a:rPr lang="it-IT" sz="1600" dirty="0"/>
              <a:t>     -&gt; overall </a:t>
            </a:r>
            <a:r>
              <a:rPr lang="it-IT" sz="1600" dirty="0" err="1"/>
              <a:t>biological</a:t>
            </a:r>
            <a:r>
              <a:rPr lang="it-IT" sz="1600" dirty="0"/>
              <a:t> picture </a:t>
            </a:r>
            <a:r>
              <a:rPr lang="it-IT" sz="1600" dirty="0" err="1"/>
              <a:t>still</a:t>
            </a:r>
            <a:r>
              <a:rPr lang="it-IT" sz="1600" dirty="0"/>
              <a:t> </a:t>
            </a:r>
            <a:r>
              <a:rPr lang="it-IT" sz="1600" dirty="0" err="1"/>
              <a:t>uncertain</a:t>
            </a:r>
            <a:r>
              <a:rPr lang="it-IT" sz="1600" dirty="0"/>
              <a:t>.</a:t>
            </a:r>
          </a:p>
          <a:p>
            <a:endParaRPr lang="it-IT" dirty="0"/>
          </a:p>
          <a:p>
            <a:endParaRPr lang="it-IT" dirty="0"/>
          </a:p>
        </p:txBody>
      </p:sp>
      <p:sp>
        <p:nvSpPr>
          <p:cNvPr id="23" name="Datumsplatzhalter 3">
            <a:extLst>
              <a:ext uri="{FF2B5EF4-FFF2-40B4-BE49-F238E27FC236}">
                <a16:creationId xmlns:a16="http://schemas.microsoft.com/office/drawing/2014/main" id="{2DFBCE6F-04A4-946A-3E8E-2F917325EF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800" y="6524626"/>
            <a:ext cx="2878667" cy="180000"/>
          </a:xfrm>
        </p:spPr>
        <p:txBody>
          <a:bodyPr/>
          <a:lstStyle/>
          <a:p>
            <a:r>
              <a:rPr lang="de-CH" dirty="0"/>
              <a:t>Tommaso Cappelli, 24.08.2026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40B186C1-DB78-0184-467A-F40FB1FA92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0920" y="5157192"/>
            <a:ext cx="5366522" cy="866117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FFF9DCF7-61B6-D347-3B7C-DBB9E9C681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0176" y="1703093"/>
            <a:ext cx="3314675" cy="3272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746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8F64D-24B6-CF45-4149-42C36DC3C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498C84-0A77-929E-AF0E-D40DFBDEB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The </a:t>
            </a:r>
            <a:r>
              <a:rPr lang="de-CH" dirty="0" err="1"/>
              <a:t>duplication</a:t>
            </a:r>
            <a:r>
              <a:rPr lang="de-CH" dirty="0"/>
              <a:t> of </a:t>
            </a:r>
            <a:r>
              <a:rPr lang="de-CH" i="1" dirty="0" err="1"/>
              <a:t>rssB</a:t>
            </a:r>
            <a:r>
              <a:rPr lang="de-CH" i="1" dirty="0"/>
              <a:t> </a:t>
            </a:r>
            <a:r>
              <a:rPr lang="de-CH" dirty="0" err="1"/>
              <a:t>affects</a:t>
            </a:r>
            <a:r>
              <a:rPr lang="de-CH" dirty="0"/>
              <a:t> the </a:t>
            </a:r>
            <a:r>
              <a:rPr lang="de-CH" dirty="0" err="1"/>
              <a:t>influence</a:t>
            </a:r>
            <a:r>
              <a:rPr lang="de-CH" dirty="0"/>
              <a:t> of </a:t>
            </a:r>
            <a:r>
              <a:rPr lang="de-CH" i="1" dirty="0" err="1"/>
              <a:t>rpoS</a:t>
            </a:r>
            <a:r>
              <a:rPr lang="de-CH" dirty="0"/>
              <a:t>.</a:t>
            </a:r>
            <a:br>
              <a:rPr lang="de-CH" dirty="0"/>
            </a:br>
            <a:r>
              <a:rPr lang="de-CH" sz="1600" dirty="0"/>
              <a:t>Lineage 3, .39 </a:t>
            </a:r>
            <a:r>
              <a:rPr lang="de-CH" sz="1600" dirty="0" err="1"/>
              <a:t>vs</a:t>
            </a:r>
            <a:r>
              <a:rPr lang="de-CH" sz="1600" dirty="0"/>
              <a:t> .81 – Spike in </a:t>
            </a:r>
            <a:r>
              <a:rPr lang="de-CH" sz="1600" dirty="0" err="1"/>
              <a:t>growth</a:t>
            </a:r>
            <a:r>
              <a:rPr lang="de-CH" sz="1600" dirty="0"/>
              <a:t> rate for the 2nd sample</a:t>
            </a:r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BF5BE45-FB11-EF3D-E3CA-FCE1DE751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de-CH"/>
              <a:t>Universität Basel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07DAD04-F9C9-4612-AF4B-E8C77394E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11826-9277-4232-A2B5-17D05DFC7392}" type="slidenum">
              <a:rPr lang="de-CH" smtClean="0"/>
              <a:pPr/>
              <a:t>9</a:t>
            </a:fld>
            <a:endParaRPr lang="de-CH" dirty="0"/>
          </a:p>
        </p:txBody>
      </p:sp>
      <p:cxnSp>
        <p:nvCxnSpPr>
          <p:cNvPr id="8" name="Gerade Verbindung 7">
            <a:extLst>
              <a:ext uri="{FF2B5EF4-FFF2-40B4-BE49-F238E27FC236}">
                <a16:creationId xmlns:a16="http://schemas.microsoft.com/office/drawing/2014/main" id="{F2125EEB-8F64-CD31-1FF4-CF9AD70122C4}"/>
              </a:ext>
            </a:extLst>
          </p:cNvPr>
          <p:cNvCxnSpPr/>
          <p:nvPr/>
        </p:nvCxnSpPr>
        <p:spPr>
          <a:xfrm>
            <a:off x="334800" y="1412776"/>
            <a:ext cx="11521840" cy="0"/>
          </a:xfrm>
          <a:prstGeom prst="line">
            <a:avLst/>
          </a:prstGeom>
          <a:ln w="254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B22116B1-3143-75E4-81F8-3FFA4F411726}"/>
              </a:ext>
            </a:extLst>
          </p:cNvPr>
          <p:cNvSpPr txBox="1">
            <a:spLocks/>
          </p:cNvSpPr>
          <p:nvPr/>
        </p:nvSpPr>
        <p:spPr>
          <a:xfrm>
            <a:off x="551384" y="2636912"/>
            <a:ext cx="6005138" cy="25922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22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ts val="22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ts val="22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ts val="22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ts val="22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CH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/>
              <a:t>The </a:t>
            </a:r>
            <a:r>
              <a:rPr lang="de-CH" dirty="0" err="1"/>
              <a:t>inside</a:t>
            </a:r>
            <a:r>
              <a:rPr lang="de-CH" dirty="0"/>
              <a:t> </a:t>
            </a:r>
            <a:r>
              <a:rPr lang="de-CH" dirty="0" err="1"/>
              <a:t>region</a:t>
            </a:r>
            <a:r>
              <a:rPr lang="de-CH" dirty="0"/>
              <a:t> </a:t>
            </a:r>
            <a:r>
              <a:rPr lang="de-CH" dirty="0" err="1"/>
              <a:t>has</a:t>
            </a:r>
            <a:r>
              <a:rPr lang="de-CH" dirty="0"/>
              <a:t> x2 </a:t>
            </a:r>
            <a:r>
              <a:rPr lang="de-CH" dirty="0" err="1"/>
              <a:t>coverage</a:t>
            </a:r>
            <a:r>
              <a:rPr lang="de-CH" dirty="0"/>
              <a:t> as the </a:t>
            </a:r>
            <a:r>
              <a:rPr lang="de-CH" dirty="0" err="1"/>
              <a:t>rest</a:t>
            </a:r>
            <a:r>
              <a:rPr lang="de-CH" dirty="0"/>
              <a:t> of the </a:t>
            </a:r>
            <a:r>
              <a:rPr lang="de-CH" dirty="0" err="1"/>
              <a:t>genome</a:t>
            </a:r>
            <a:r>
              <a:rPr lang="de-CH" dirty="0"/>
              <a:t>, and it </a:t>
            </a:r>
            <a:r>
              <a:rPr lang="de-CH" dirty="0" err="1"/>
              <a:t>contains</a:t>
            </a:r>
            <a:r>
              <a:rPr lang="de-CH" dirty="0"/>
              <a:t> </a:t>
            </a:r>
            <a:r>
              <a:rPr lang="de-CH" i="1" dirty="0" err="1"/>
              <a:t>rssB</a:t>
            </a:r>
            <a:r>
              <a:rPr lang="de-CH" i="1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CH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i="1" dirty="0" err="1"/>
              <a:t>rssB</a:t>
            </a:r>
            <a:r>
              <a:rPr lang="it-IT" i="1" dirty="0"/>
              <a:t> </a:t>
            </a:r>
            <a:r>
              <a:rPr lang="it-IT" dirty="0" err="1"/>
              <a:t>decreases</a:t>
            </a:r>
            <a:r>
              <a:rPr lang="it-IT" i="1" dirty="0"/>
              <a:t> </a:t>
            </a:r>
            <a:r>
              <a:rPr lang="it-IT" i="1" dirty="0" err="1"/>
              <a:t>rpoS</a:t>
            </a:r>
            <a:r>
              <a:rPr lang="it-IT" i="1" dirty="0"/>
              <a:t> </a:t>
            </a:r>
            <a:r>
              <a:rPr lang="it-IT" dirty="0"/>
              <a:t>activity, </a:t>
            </a:r>
            <a:r>
              <a:rPr lang="it-IT" dirty="0" err="1"/>
              <a:t>since</a:t>
            </a:r>
            <a:r>
              <a:rPr lang="it-IT" dirty="0"/>
              <a:t> </a:t>
            </a:r>
            <a:r>
              <a:rPr lang="it-IT" dirty="0" err="1"/>
              <a:t>σ</a:t>
            </a:r>
            <a:r>
              <a:rPr lang="it-IT" baseline="30000" dirty="0" err="1"/>
              <a:t>S</a:t>
            </a:r>
            <a:r>
              <a:rPr lang="it-IT" baseline="30000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degradated</a:t>
            </a:r>
            <a:r>
              <a:rPr lang="it-IT" dirty="0"/>
              <a:t> more </a:t>
            </a:r>
            <a:r>
              <a:rPr lang="it-IT" dirty="0" err="1"/>
              <a:t>often</a:t>
            </a:r>
            <a:r>
              <a:rPr lang="it-IT" dirty="0"/>
              <a:t> by </a:t>
            </a:r>
            <a:r>
              <a:rPr lang="it-IT" dirty="0" err="1"/>
              <a:t>ClpXP</a:t>
            </a:r>
            <a:r>
              <a:rPr lang="it-IT" dirty="0"/>
              <a:t> thanks to the </a:t>
            </a:r>
            <a:r>
              <a:rPr lang="it-IT" dirty="0" err="1"/>
              <a:t>adaptor</a:t>
            </a:r>
            <a:r>
              <a:rPr lang="it-IT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/>
              <a:t>1900bp </a:t>
            </a:r>
            <a:r>
              <a:rPr lang="de-CH" b="1" dirty="0" err="1">
                <a:solidFill>
                  <a:srgbClr val="006E6E"/>
                </a:solidFill>
              </a:rPr>
              <a:t>spikes</a:t>
            </a:r>
            <a:r>
              <a:rPr lang="de-CH" dirty="0"/>
              <a:t> at the </a:t>
            </a:r>
            <a:r>
              <a:rPr lang="de-CH" dirty="0" err="1"/>
              <a:t>borders</a:t>
            </a:r>
            <a:r>
              <a:rPr lang="de-CH" dirty="0"/>
              <a:t> </a:t>
            </a:r>
            <a:r>
              <a:rPr lang="de-CH" dirty="0" err="1"/>
              <a:t>are</a:t>
            </a:r>
            <a:r>
              <a:rPr lang="de-CH" dirty="0"/>
              <a:t> due to </a:t>
            </a:r>
            <a:r>
              <a:rPr lang="de-CH" dirty="0" err="1"/>
              <a:t>copies</a:t>
            </a:r>
            <a:r>
              <a:rPr lang="de-CH" dirty="0"/>
              <a:t> of the same </a:t>
            </a:r>
            <a:r>
              <a:rPr lang="de-CH" dirty="0" err="1"/>
              <a:t>insertion</a:t>
            </a:r>
            <a:r>
              <a:rPr lang="de-CH" dirty="0"/>
              <a:t> </a:t>
            </a:r>
            <a:r>
              <a:rPr lang="de-CH" dirty="0" err="1"/>
              <a:t>sequences</a:t>
            </a:r>
            <a:r>
              <a:rPr lang="de-CH" dirty="0"/>
              <a:t>.</a:t>
            </a:r>
          </a:p>
          <a:p>
            <a:br>
              <a:rPr lang="it-IT" dirty="0"/>
            </a:br>
            <a:endParaRPr lang="de-CH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86EA867A-6055-6914-280C-A427EC5DAB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8128" y="1718211"/>
            <a:ext cx="4608512" cy="4666541"/>
          </a:xfrm>
          <a:prstGeom prst="rect">
            <a:avLst/>
          </a:prstGeom>
        </p:spPr>
      </p:pic>
      <p:sp>
        <p:nvSpPr>
          <p:cNvPr id="20" name="Datumsplatzhalter 3">
            <a:extLst>
              <a:ext uri="{FF2B5EF4-FFF2-40B4-BE49-F238E27FC236}">
                <a16:creationId xmlns:a16="http://schemas.microsoft.com/office/drawing/2014/main" id="{99CA2D2C-6B54-A15B-D438-84B05B4CB278}"/>
              </a:ext>
            </a:extLst>
          </p:cNvPr>
          <p:cNvSpPr txBox="1">
            <a:spLocks/>
          </p:cNvSpPr>
          <p:nvPr/>
        </p:nvSpPr>
        <p:spPr>
          <a:xfrm>
            <a:off x="7248128" y="2348880"/>
            <a:ext cx="2878667" cy="180000"/>
          </a:xfrm>
          <a:prstGeom prst="rect">
            <a:avLst/>
          </a:prstGeom>
        </p:spPr>
        <p:txBody>
          <a:bodyPr vert="horz" lIns="0" tIns="21600" rIns="0" bIns="0" rtlCol="0" anchor="t" anchorCtr="0"/>
          <a:lstStyle>
            <a:defPPr>
              <a:defRPr lang="de-DE"/>
            </a:defPPr>
            <a:lvl1pPr marL="0" algn="l" defTabSz="914400" rtl="0" eaLnBrk="1" latinLnBrk="0" hangingPunct="1">
              <a:defRPr sz="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CH" sz="800" dirty="0"/>
              <a:t>0-1900</a:t>
            </a:r>
          </a:p>
        </p:txBody>
      </p:sp>
      <p:sp>
        <p:nvSpPr>
          <p:cNvPr id="23" name="Datumsplatzhalter 3">
            <a:extLst>
              <a:ext uri="{FF2B5EF4-FFF2-40B4-BE49-F238E27FC236}">
                <a16:creationId xmlns:a16="http://schemas.microsoft.com/office/drawing/2014/main" id="{1C879315-02F4-D72B-EFEB-B95A2964F2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800" y="6524626"/>
            <a:ext cx="2878667" cy="180000"/>
          </a:xfrm>
        </p:spPr>
        <p:txBody>
          <a:bodyPr/>
          <a:lstStyle/>
          <a:p>
            <a:r>
              <a:rPr lang="de-CH" dirty="0"/>
              <a:t>Tommaso Cappelli, 24.08.2026</a:t>
            </a:r>
          </a:p>
        </p:txBody>
      </p:sp>
    </p:spTree>
    <p:extLst>
      <p:ext uri="{BB962C8B-B14F-4D97-AF65-F5344CB8AC3E}">
        <p14:creationId xmlns:p14="http://schemas.microsoft.com/office/powerpoint/2010/main" val="3898492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91BEB-7BD0-ABFB-7A17-D9244C23E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C5E0E9-98F7-7759-03FC-D9476A0FA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An </a:t>
            </a:r>
            <a:r>
              <a:rPr lang="de-CH" dirty="0" err="1"/>
              <a:t>incredibly</a:t>
            </a:r>
            <a:r>
              <a:rPr lang="de-CH" dirty="0"/>
              <a:t> </a:t>
            </a:r>
            <a:r>
              <a:rPr lang="de-CH" dirty="0" err="1"/>
              <a:t>wide</a:t>
            </a:r>
            <a:r>
              <a:rPr lang="de-CH" dirty="0"/>
              <a:t> </a:t>
            </a:r>
            <a:r>
              <a:rPr lang="de-CH" dirty="0" err="1"/>
              <a:t>region</a:t>
            </a:r>
            <a:r>
              <a:rPr lang="de-CH" dirty="0"/>
              <a:t> </a:t>
            </a:r>
            <a:r>
              <a:rPr lang="de-CH" dirty="0" err="1"/>
              <a:t>doubles</a:t>
            </a:r>
            <a:r>
              <a:rPr lang="de-CH" dirty="0"/>
              <a:t> </a:t>
            </a:r>
            <a:r>
              <a:rPr lang="de-CH" dirty="0" err="1"/>
              <a:t>its</a:t>
            </a:r>
            <a:r>
              <a:rPr lang="de-CH" dirty="0"/>
              <a:t> </a:t>
            </a:r>
            <a:r>
              <a:rPr lang="de-CH" dirty="0" err="1"/>
              <a:t>coverage</a:t>
            </a:r>
            <a:r>
              <a:rPr lang="de-CH" dirty="0"/>
              <a:t>.</a:t>
            </a:r>
            <a:br>
              <a:rPr lang="de-CH" dirty="0"/>
            </a:br>
            <a:r>
              <a:rPr lang="de-CH" sz="1600" dirty="0"/>
              <a:t>Lineage 1 – </a:t>
            </a:r>
            <a:r>
              <a:rPr lang="de-CH" sz="1600" dirty="0" err="1"/>
              <a:t>growth</a:t>
            </a:r>
            <a:r>
              <a:rPr lang="de-CH" sz="1600" dirty="0"/>
              <a:t> </a:t>
            </a:r>
            <a:r>
              <a:rPr lang="de-CH" sz="1600" dirty="0" err="1"/>
              <a:t>rates</a:t>
            </a:r>
            <a:r>
              <a:rPr lang="de-CH" sz="1600" dirty="0"/>
              <a:t> 0.55-0.71</a:t>
            </a:r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A905C35-102B-9C4E-5748-908CA3E15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de-CH"/>
              <a:t>Universität Basel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F6E4B9C-C3D4-F4F2-293F-95F55E580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11826-9277-4232-A2B5-17D05DFC7392}" type="slidenum">
              <a:rPr lang="de-CH" smtClean="0"/>
              <a:pPr/>
              <a:t>10</a:t>
            </a:fld>
            <a:endParaRPr lang="de-CH" dirty="0"/>
          </a:p>
        </p:txBody>
      </p:sp>
      <p:cxnSp>
        <p:nvCxnSpPr>
          <p:cNvPr id="8" name="Gerade Verbindung 7">
            <a:extLst>
              <a:ext uri="{FF2B5EF4-FFF2-40B4-BE49-F238E27FC236}">
                <a16:creationId xmlns:a16="http://schemas.microsoft.com/office/drawing/2014/main" id="{58F3B89B-C793-1F5E-8913-867F5F3C4A9E}"/>
              </a:ext>
            </a:extLst>
          </p:cNvPr>
          <p:cNvCxnSpPr/>
          <p:nvPr/>
        </p:nvCxnSpPr>
        <p:spPr>
          <a:xfrm>
            <a:off x="334800" y="1520825"/>
            <a:ext cx="11521840" cy="0"/>
          </a:xfrm>
          <a:prstGeom prst="line">
            <a:avLst/>
          </a:prstGeom>
          <a:ln w="254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magine 6">
            <a:extLst>
              <a:ext uri="{FF2B5EF4-FFF2-40B4-BE49-F238E27FC236}">
                <a16:creationId xmlns:a16="http://schemas.microsoft.com/office/drawing/2014/main" id="{2DEA0C95-660D-32A9-24D2-3D4503A9A0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10" y="1734070"/>
            <a:ext cx="11424592" cy="3857157"/>
          </a:xfrm>
          <a:prstGeom prst="rect">
            <a:avLst/>
          </a:prstGeom>
        </p:spPr>
      </p:pic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5506EBCC-F930-DDD4-E508-2AB73708C6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800" y="6524626"/>
            <a:ext cx="2878667" cy="180000"/>
          </a:xfrm>
        </p:spPr>
        <p:txBody>
          <a:bodyPr/>
          <a:lstStyle/>
          <a:p>
            <a:r>
              <a:rPr lang="de-CH" dirty="0"/>
              <a:t>Tommaso Cappelli, 24.08.2026</a:t>
            </a:r>
          </a:p>
        </p:txBody>
      </p:sp>
    </p:spTree>
    <p:extLst>
      <p:ext uri="{BB962C8B-B14F-4D97-AF65-F5344CB8AC3E}">
        <p14:creationId xmlns:p14="http://schemas.microsoft.com/office/powerpoint/2010/main" val="22507424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2F7F4-D24C-D7AC-EA5B-439031120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0EA0D4-9E1C-7C02-3203-E45FAFF48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76" y="404664"/>
            <a:ext cx="11521840" cy="755936"/>
          </a:xfrm>
        </p:spPr>
        <p:txBody>
          <a:bodyPr/>
          <a:lstStyle/>
          <a:p>
            <a:r>
              <a:rPr lang="de-CH" dirty="0"/>
              <a:t>The </a:t>
            </a:r>
            <a:r>
              <a:rPr lang="de-CH" dirty="0" err="1"/>
              <a:t>variants</a:t>
            </a:r>
            <a:r>
              <a:rPr lang="de-CH" dirty="0"/>
              <a:t> </a:t>
            </a:r>
            <a:r>
              <a:rPr lang="de-CH" dirty="0" err="1"/>
              <a:t>from</a:t>
            </a:r>
            <a:r>
              <a:rPr lang="de-CH" dirty="0"/>
              <a:t> </a:t>
            </a:r>
            <a:r>
              <a:rPr lang="de-CH" dirty="0" err="1"/>
              <a:t>lineage</a:t>
            </a:r>
            <a:r>
              <a:rPr lang="de-CH" dirty="0"/>
              <a:t> 1 </a:t>
            </a:r>
            <a:r>
              <a:rPr lang="de-CH" dirty="0" err="1"/>
              <a:t>aren’t</a:t>
            </a:r>
            <a:r>
              <a:rPr lang="de-CH" dirty="0"/>
              <a:t> </a:t>
            </a:r>
            <a:r>
              <a:rPr lang="de-CH" dirty="0" err="1"/>
              <a:t>correlated</a:t>
            </a:r>
            <a:r>
              <a:rPr lang="de-CH" dirty="0"/>
              <a:t> </a:t>
            </a:r>
            <a:r>
              <a:rPr lang="de-CH" dirty="0" err="1"/>
              <a:t>with</a:t>
            </a:r>
            <a:r>
              <a:rPr lang="de-CH" dirty="0"/>
              <a:t> the </a:t>
            </a:r>
            <a:r>
              <a:rPr lang="de-CH" dirty="0" err="1"/>
              <a:t>growth</a:t>
            </a:r>
            <a:r>
              <a:rPr lang="de-CH" dirty="0"/>
              <a:t> </a:t>
            </a:r>
            <a:r>
              <a:rPr lang="de-CH" dirty="0" err="1"/>
              <a:t>rates</a:t>
            </a:r>
            <a:r>
              <a:rPr lang="de-CH" dirty="0"/>
              <a:t>.</a:t>
            </a:r>
            <a:br>
              <a:rPr lang="de-CH" dirty="0"/>
            </a:br>
            <a:r>
              <a:rPr lang="de-CH" sz="1600" dirty="0"/>
              <a:t>Lineage 1 – </a:t>
            </a:r>
            <a:r>
              <a:rPr lang="de-CH" sz="1600" dirty="0" err="1"/>
              <a:t>growth</a:t>
            </a:r>
            <a:r>
              <a:rPr lang="de-CH" sz="1600" dirty="0"/>
              <a:t> </a:t>
            </a:r>
            <a:r>
              <a:rPr lang="de-CH" sz="1600" dirty="0" err="1"/>
              <a:t>rates</a:t>
            </a:r>
            <a:r>
              <a:rPr lang="de-CH" sz="1600" dirty="0"/>
              <a:t> 0.55-0.71; </a:t>
            </a:r>
            <a:r>
              <a:rPr lang="de-CH" sz="1600" dirty="0" err="1"/>
              <a:t>predicted</a:t>
            </a:r>
            <a:r>
              <a:rPr lang="de-CH" sz="1600" dirty="0"/>
              <a:t> </a:t>
            </a:r>
            <a:r>
              <a:rPr lang="de-CH" sz="1600" dirty="0" err="1"/>
              <a:t>mutations</a:t>
            </a:r>
            <a:r>
              <a:rPr lang="de-CH" sz="1600" dirty="0"/>
              <a:t> in SUC2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B187595-58EE-45AE-7FF4-1097B5DC7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de-CH"/>
              <a:t>Universität Basel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29BD52A-D17B-621C-26EC-C79BD8DD4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11826-9277-4232-A2B5-17D05DFC7392}" type="slidenum">
              <a:rPr lang="de-CH" smtClean="0"/>
              <a:pPr/>
              <a:t>11</a:t>
            </a:fld>
            <a:endParaRPr lang="de-CH" dirty="0"/>
          </a:p>
        </p:txBody>
      </p:sp>
      <p:cxnSp>
        <p:nvCxnSpPr>
          <p:cNvPr id="8" name="Gerade Verbindung 7">
            <a:extLst>
              <a:ext uri="{FF2B5EF4-FFF2-40B4-BE49-F238E27FC236}">
                <a16:creationId xmlns:a16="http://schemas.microsoft.com/office/drawing/2014/main" id="{C84E0AE4-5562-5364-D307-8CC31CC8DD10}"/>
              </a:ext>
            </a:extLst>
          </p:cNvPr>
          <p:cNvCxnSpPr/>
          <p:nvPr/>
        </p:nvCxnSpPr>
        <p:spPr>
          <a:xfrm>
            <a:off x="334800" y="1520825"/>
            <a:ext cx="11521840" cy="0"/>
          </a:xfrm>
          <a:prstGeom prst="line">
            <a:avLst/>
          </a:prstGeom>
          <a:ln w="254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5151B992-898B-5B8E-5700-FB876862DE29}"/>
              </a:ext>
            </a:extLst>
          </p:cNvPr>
          <p:cNvSpPr txBox="1">
            <a:spLocks/>
          </p:cNvSpPr>
          <p:nvPr/>
        </p:nvSpPr>
        <p:spPr>
          <a:xfrm>
            <a:off x="767128" y="1700808"/>
            <a:ext cx="10657183" cy="9797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22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ts val="22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ts val="22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ts val="22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ts val="22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 err="1"/>
              <a:t>Smg</a:t>
            </a:r>
            <a:r>
              <a:rPr lang="de-CH" dirty="0"/>
              <a:t> </a:t>
            </a:r>
            <a:r>
              <a:rPr lang="de-CH" dirty="0" err="1"/>
              <a:t>is</a:t>
            </a:r>
            <a:r>
              <a:rPr lang="de-CH" dirty="0"/>
              <a:t> the </a:t>
            </a:r>
            <a:r>
              <a:rPr lang="de-CH" dirty="0" err="1"/>
              <a:t>only</a:t>
            </a:r>
            <a:r>
              <a:rPr lang="de-CH" dirty="0"/>
              <a:t> high </a:t>
            </a:r>
            <a:r>
              <a:rPr lang="de-CH" dirty="0" err="1"/>
              <a:t>frequency</a:t>
            </a:r>
            <a:r>
              <a:rPr lang="de-CH" dirty="0"/>
              <a:t> </a:t>
            </a:r>
            <a:r>
              <a:rPr lang="de-CH" dirty="0" err="1"/>
              <a:t>mutation</a:t>
            </a:r>
            <a:r>
              <a:rPr lang="de-CH" dirty="0"/>
              <a:t> </a:t>
            </a:r>
            <a:r>
              <a:rPr lang="de-CH" dirty="0" err="1"/>
              <a:t>that</a:t>
            </a:r>
            <a:r>
              <a:rPr lang="de-CH" dirty="0"/>
              <a:t> </a:t>
            </a:r>
            <a:r>
              <a:rPr lang="de-CH" dirty="0" err="1"/>
              <a:t>has</a:t>
            </a:r>
            <a:r>
              <a:rPr lang="de-CH" dirty="0"/>
              <a:t> </a:t>
            </a:r>
            <a:r>
              <a:rPr lang="de-CH" dirty="0" err="1"/>
              <a:t>developed</a:t>
            </a:r>
            <a:r>
              <a:rPr lang="de-CH" dirty="0"/>
              <a:t> </a:t>
            </a:r>
            <a:r>
              <a:rPr lang="de-CH" dirty="0" err="1"/>
              <a:t>significantly</a:t>
            </a:r>
            <a:r>
              <a:rPr lang="de-CH" dirty="0"/>
              <a:t>  in the second </a:t>
            </a:r>
            <a:r>
              <a:rPr lang="de-CH" dirty="0" err="1"/>
              <a:t>succinate</a:t>
            </a:r>
            <a:r>
              <a:rPr lang="de-CH" dirty="0"/>
              <a:t> sample.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dirty="0"/>
              <a:t>Lower </a:t>
            </a:r>
            <a:r>
              <a:rPr lang="de-CH" dirty="0" err="1"/>
              <a:t>frequency</a:t>
            </a:r>
            <a:r>
              <a:rPr lang="de-CH" dirty="0"/>
              <a:t> </a:t>
            </a:r>
            <a:r>
              <a:rPr lang="de-CH" dirty="0" err="1"/>
              <a:t>mutations</a:t>
            </a:r>
            <a:r>
              <a:rPr lang="de-CH" dirty="0"/>
              <a:t> </a:t>
            </a:r>
            <a:r>
              <a:rPr lang="de-CH" dirty="0" err="1"/>
              <a:t>seem</a:t>
            </a:r>
            <a:r>
              <a:rPr lang="de-CH" dirty="0"/>
              <a:t> to </a:t>
            </a:r>
            <a:r>
              <a:rPr lang="de-CH" dirty="0" err="1"/>
              <a:t>appear</a:t>
            </a:r>
            <a:r>
              <a:rPr lang="de-CH" dirty="0"/>
              <a:t> in «</a:t>
            </a:r>
            <a:r>
              <a:rPr lang="de-CH" dirty="0" err="1"/>
              <a:t>hotspots</a:t>
            </a:r>
            <a:r>
              <a:rPr lang="de-CH" dirty="0"/>
              <a:t>».</a:t>
            </a:r>
          </a:p>
        </p:txBody>
      </p:sp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2A02F14A-A44F-A290-985E-100F170F6C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800" y="6524626"/>
            <a:ext cx="2878667" cy="180000"/>
          </a:xfrm>
        </p:spPr>
        <p:txBody>
          <a:bodyPr/>
          <a:lstStyle/>
          <a:p>
            <a:r>
              <a:rPr lang="de-CH" dirty="0"/>
              <a:t>Tommaso Cappelli, 24.08.2026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5AE30DA0-8666-2B1B-1FFA-009140A6F0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6789" y="2972425"/>
            <a:ext cx="4257327" cy="3336625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87F0CF4-D091-B229-3EF3-853BEF6D0377}"/>
              </a:ext>
            </a:extLst>
          </p:cNvPr>
          <p:cNvSpPr txBox="1">
            <a:spLocks/>
          </p:cNvSpPr>
          <p:nvPr/>
        </p:nvSpPr>
        <p:spPr>
          <a:xfrm>
            <a:off x="7320136" y="2734926"/>
            <a:ext cx="2878667" cy="180000"/>
          </a:xfrm>
          <a:prstGeom prst="rect">
            <a:avLst/>
          </a:prstGeom>
        </p:spPr>
        <p:txBody>
          <a:bodyPr vert="horz" lIns="0" tIns="21600" rIns="0" bIns="0" rtlCol="0" anchor="t" anchorCtr="0"/>
          <a:lstStyle>
            <a:defPPr>
              <a:defRPr lang="de-DE"/>
            </a:defPPr>
            <a:lvl1pPr marL="0" algn="l" defTabSz="914400" rtl="0" eaLnBrk="1" latinLnBrk="0" hangingPunct="1">
              <a:defRPr sz="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CH" sz="1000" dirty="0" err="1"/>
              <a:t>No</a:t>
            </a:r>
            <a:r>
              <a:rPr lang="de-CH" sz="1000" dirty="0"/>
              <a:t> </a:t>
            </a:r>
            <a:r>
              <a:rPr lang="de-CH" sz="1000" dirty="0" err="1"/>
              <a:t>filters</a:t>
            </a:r>
            <a:r>
              <a:rPr lang="de-CH" sz="1000" dirty="0"/>
              <a:t> (5% wall) on variant </a:t>
            </a:r>
            <a:r>
              <a:rPr lang="de-CH" sz="1000" dirty="0" err="1"/>
              <a:t>calling</a:t>
            </a:r>
            <a:endParaRPr lang="de-CH" sz="1000" dirty="0"/>
          </a:p>
        </p:txBody>
      </p:sp>
      <p:sp>
        <p:nvSpPr>
          <p:cNvPr id="12" name="Datumsplatzhalter 3">
            <a:extLst>
              <a:ext uri="{FF2B5EF4-FFF2-40B4-BE49-F238E27FC236}">
                <a16:creationId xmlns:a16="http://schemas.microsoft.com/office/drawing/2014/main" id="{FC3EE2B0-E56A-7613-5490-CDAABBEB0F22}"/>
              </a:ext>
            </a:extLst>
          </p:cNvPr>
          <p:cNvSpPr txBox="1">
            <a:spLocks/>
          </p:cNvSpPr>
          <p:nvPr/>
        </p:nvSpPr>
        <p:spPr>
          <a:xfrm>
            <a:off x="1940725" y="2646467"/>
            <a:ext cx="2878667" cy="180000"/>
          </a:xfrm>
          <a:prstGeom prst="rect">
            <a:avLst/>
          </a:prstGeom>
        </p:spPr>
        <p:txBody>
          <a:bodyPr vert="horz" lIns="0" tIns="21600" rIns="0" bIns="0" rtlCol="0" anchor="t" anchorCtr="0"/>
          <a:lstStyle>
            <a:defPPr>
              <a:defRPr lang="de-DE"/>
            </a:defPPr>
            <a:lvl1pPr marL="0" algn="l" defTabSz="914400" rtl="0" eaLnBrk="1" latinLnBrk="0" hangingPunct="1">
              <a:defRPr sz="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CH" sz="1000" dirty="0" err="1"/>
              <a:t>Variants</a:t>
            </a:r>
            <a:r>
              <a:rPr lang="de-CH" sz="1000" dirty="0"/>
              <a:t> in </a:t>
            </a:r>
            <a:r>
              <a:rPr lang="de-CH" sz="1000" dirty="0" err="1"/>
              <a:t>lineage</a:t>
            </a:r>
            <a:r>
              <a:rPr lang="de-CH" sz="1000" dirty="0"/>
              <a:t> 1.</a:t>
            </a:r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CEEBFD02-F2E6-8A4F-1FD4-0C2033BFFD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84" y="2886326"/>
            <a:ext cx="3857149" cy="3236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9116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85B7A-F120-4A26-51ED-44BA29089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9F4E3C-572B-7951-44F4-DD176ACEE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76" y="404664"/>
            <a:ext cx="11521840" cy="755936"/>
          </a:xfrm>
        </p:spPr>
        <p:txBody>
          <a:bodyPr/>
          <a:lstStyle/>
          <a:p>
            <a:r>
              <a:rPr lang="de-CH" dirty="0"/>
              <a:t>Final </a:t>
            </a:r>
            <a:r>
              <a:rPr lang="de-CH" dirty="0" err="1"/>
              <a:t>summary</a:t>
            </a:r>
            <a:r>
              <a:rPr lang="de-CH" dirty="0"/>
              <a:t> – </a:t>
            </a:r>
            <a:r>
              <a:rPr lang="de-CH" dirty="0" err="1"/>
              <a:t>biological</a:t>
            </a:r>
            <a:r>
              <a:rPr lang="de-CH" dirty="0"/>
              <a:t> </a:t>
            </a:r>
            <a:r>
              <a:rPr lang="de-CH" dirty="0" err="1"/>
              <a:t>picture</a:t>
            </a:r>
            <a:br>
              <a:rPr lang="de-CH" dirty="0"/>
            </a:br>
            <a:r>
              <a:rPr lang="de-CH" sz="1600" dirty="0" err="1"/>
              <a:t>Hypotesis</a:t>
            </a:r>
            <a:r>
              <a:rPr lang="de-CH" sz="1600" dirty="0"/>
              <a:t> of the </a:t>
            </a:r>
            <a:r>
              <a:rPr lang="de-CH" sz="1600" dirty="0" err="1"/>
              <a:t>adaptation</a:t>
            </a:r>
            <a:r>
              <a:rPr lang="de-CH" sz="1600" dirty="0"/>
              <a:t> </a:t>
            </a:r>
            <a:r>
              <a:rPr lang="de-CH" sz="1600" dirty="0" err="1"/>
              <a:t>process</a:t>
            </a:r>
            <a:r>
              <a:rPr lang="de-CH" sz="1600" dirty="0"/>
              <a:t> of B8 to </a:t>
            </a:r>
            <a:r>
              <a:rPr lang="de-CH" sz="1600" dirty="0" err="1"/>
              <a:t>succinate</a:t>
            </a:r>
            <a:r>
              <a:rPr lang="de-CH" sz="1600" dirty="0"/>
              <a:t>.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7035B3A-5623-E120-CBBE-4C356C87F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de-CH"/>
              <a:t>Universität Basel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08C3CBA-2DB0-565C-15DC-A394AB60D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11826-9277-4232-A2B5-17D05DFC7392}" type="slidenum">
              <a:rPr lang="de-CH" smtClean="0"/>
              <a:pPr/>
              <a:t>12</a:t>
            </a:fld>
            <a:endParaRPr lang="de-CH" dirty="0"/>
          </a:p>
        </p:txBody>
      </p:sp>
      <p:cxnSp>
        <p:nvCxnSpPr>
          <p:cNvPr id="8" name="Gerade Verbindung 7">
            <a:extLst>
              <a:ext uri="{FF2B5EF4-FFF2-40B4-BE49-F238E27FC236}">
                <a16:creationId xmlns:a16="http://schemas.microsoft.com/office/drawing/2014/main" id="{1ED969D3-DA40-0F56-B31B-87D306731C14}"/>
              </a:ext>
            </a:extLst>
          </p:cNvPr>
          <p:cNvCxnSpPr/>
          <p:nvPr/>
        </p:nvCxnSpPr>
        <p:spPr>
          <a:xfrm>
            <a:off x="334800" y="1520825"/>
            <a:ext cx="11521840" cy="0"/>
          </a:xfrm>
          <a:prstGeom prst="line">
            <a:avLst/>
          </a:prstGeom>
          <a:ln w="254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3">
            <a:extLst>
              <a:ext uri="{FF2B5EF4-FFF2-40B4-BE49-F238E27FC236}">
                <a16:creationId xmlns:a16="http://schemas.microsoft.com/office/drawing/2014/main" id="{C1113434-61D6-DD27-3831-1CE9601E8C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800" y="6524626"/>
            <a:ext cx="2878667" cy="180000"/>
          </a:xfrm>
        </p:spPr>
        <p:txBody>
          <a:bodyPr/>
          <a:lstStyle/>
          <a:p>
            <a:r>
              <a:rPr lang="de-CH" dirty="0"/>
              <a:t>Tommaso Cappelli, 24.08.2026</a:t>
            </a:r>
          </a:p>
        </p:txBody>
      </p:sp>
      <p:grpSp>
        <p:nvGrpSpPr>
          <p:cNvPr id="7" name="Google Shape;12531;p86">
            <a:extLst>
              <a:ext uri="{FF2B5EF4-FFF2-40B4-BE49-F238E27FC236}">
                <a16:creationId xmlns:a16="http://schemas.microsoft.com/office/drawing/2014/main" id="{9E7E2203-4CFE-D979-CC47-91DBFF83DB67}"/>
              </a:ext>
            </a:extLst>
          </p:cNvPr>
          <p:cNvGrpSpPr>
            <a:grpSpLocks noChangeAspect="1"/>
          </p:cNvGrpSpPr>
          <p:nvPr/>
        </p:nvGrpSpPr>
        <p:grpSpPr>
          <a:xfrm>
            <a:off x="1876090" y="1690217"/>
            <a:ext cx="288032" cy="553016"/>
            <a:chOff x="4969421" y="2902852"/>
            <a:chExt cx="185109" cy="355406"/>
          </a:xfrm>
          <a:solidFill>
            <a:srgbClr val="D20537"/>
          </a:solidFill>
        </p:grpSpPr>
        <p:sp>
          <p:nvSpPr>
            <p:cNvPr id="9" name="Google Shape;12532;p86">
              <a:extLst>
                <a:ext uri="{FF2B5EF4-FFF2-40B4-BE49-F238E27FC236}">
                  <a16:creationId xmlns:a16="http://schemas.microsoft.com/office/drawing/2014/main" id="{D3D0B15D-A3DE-F074-9AE2-964DBACC03C1}"/>
                </a:ext>
              </a:extLst>
            </p:cNvPr>
            <p:cNvSpPr/>
            <p:nvPr/>
          </p:nvSpPr>
          <p:spPr>
            <a:xfrm>
              <a:off x="5022906" y="3084138"/>
              <a:ext cx="16310" cy="15959"/>
            </a:xfrm>
            <a:custGeom>
              <a:avLst/>
              <a:gdLst/>
              <a:ahLst/>
              <a:cxnLst/>
              <a:rect l="l" t="t" r="r" b="b"/>
              <a:pathLst>
                <a:path w="512" h="501" extrusionOk="0">
                  <a:moveTo>
                    <a:pt x="262" y="1"/>
                  </a:moveTo>
                  <a:cubicBezTo>
                    <a:pt x="119" y="1"/>
                    <a:pt x="0" y="120"/>
                    <a:pt x="0" y="251"/>
                  </a:cubicBezTo>
                  <a:cubicBezTo>
                    <a:pt x="0" y="406"/>
                    <a:pt x="119" y="501"/>
                    <a:pt x="262" y="501"/>
                  </a:cubicBezTo>
                  <a:cubicBezTo>
                    <a:pt x="393" y="501"/>
                    <a:pt x="512" y="382"/>
                    <a:pt x="512" y="251"/>
                  </a:cubicBezTo>
                  <a:cubicBezTo>
                    <a:pt x="512" y="120"/>
                    <a:pt x="405" y="13"/>
                    <a:pt x="262" y="1"/>
                  </a:cubicBezTo>
                  <a:close/>
                </a:path>
              </a:pathLst>
            </a:custGeom>
            <a:grpFill/>
            <a:ln>
              <a:solidFill>
                <a:srgbClr val="D20537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2533;p86">
              <a:extLst>
                <a:ext uri="{FF2B5EF4-FFF2-40B4-BE49-F238E27FC236}">
                  <a16:creationId xmlns:a16="http://schemas.microsoft.com/office/drawing/2014/main" id="{A4C72D1F-4CC7-52DA-33F8-41630ADDD298}"/>
                </a:ext>
              </a:extLst>
            </p:cNvPr>
            <p:cNvSpPr/>
            <p:nvPr/>
          </p:nvSpPr>
          <p:spPr>
            <a:xfrm>
              <a:off x="5086998" y="3107265"/>
              <a:ext cx="13284" cy="13315"/>
            </a:xfrm>
            <a:custGeom>
              <a:avLst/>
              <a:gdLst/>
              <a:ahLst/>
              <a:cxnLst/>
              <a:rect l="l" t="t" r="r" b="b"/>
              <a:pathLst>
                <a:path w="417" h="418" extrusionOk="0">
                  <a:moveTo>
                    <a:pt x="221" y="0"/>
                  </a:moveTo>
                  <a:cubicBezTo>
                    <a:pt x="215" y="0"/>
                    <a:pt x="209" y="0"/>
                    <a:pt x="203" y="1"/>
                  </a:cubicBezTo>
                  <a:cubicBezTo>
                    <a:pt x="84" y="1"/>
                    <a:pt x="0" y="96"/>
                    <a:pt x="0" y="215"/>
                  </a:cubicBezTo>
                  <a:cubicBezTo>
                    <a:pt x="0" y="334"/>
                    <a:pt x="84" y="418"/>
                    <a:pt x="203" y="418"/>
                  </a:cubicBezTo>
                  <a:cubicBezTo>
                    <a:pt x="334" y="418"/>
                    <a:pt x="417" y="334"/>
                    <a:pt x="417" y="215"/>
                  </a:cubicBezTo>
                  <a:cubicBezTo>
                    <a:pt x="417" y="92"/>
                    <a:pt x="322" y="0"/>
                    <a:pt x="221" y="0"/>
                  </a:cubicBezTo>
                  <a:close/>
                </a:path>
              </a:pathLst>
            </a:custGeom>
            <a:grpFill/>
            <a:ln>
              <a:solidFill>
                <a:srgbClr val="D20537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2534;p86">
              <a:extLst>
                <a:ext uri="{FF2B5EF4-FFF2-40B4-BE49-F238E27FC236}">
                  <a16:creationId xmlns:a16="http://schemas.microsoft.com/office/drawing/2014/main" id="{70CC23B7-C41B-CCD4-F172-2D4BA9BEFB74}"/>
                </a:ext>
              </a:extLst>
            </p:cNvPr>
            <p:cNvSpPr/>
            <p:nvPr/>
          </p:nvSpPr>
          <p:spPr>
            <a:xfrm>
              <a:off x="5039566" y="3205092"/>
              <a:ext cx="13315" cy="13347"/>
            </a:xfrm>
            <a:custGeom>
              <a:avLst/>
              <a:gdLst/>
              <a:ahLst/>
              <a:cxnLst/>
              <a:rect l="l" t="t" r="r" b="b"/>
              <a:pathLst>
                <a:path w="418" h="419" extrusionOk="0">
                  <a:moveTo>
                    <a:pt x="225" y="1"/>
                  </a:moveTo>
                  <a:cubicBezTo>
                    <a:pt x="218" y="1"/>
                    <a:pt x="211" y="1"/>
                    <a:pt x="203" y="2"/>
                  </a:cubicBezTo>
                  <a:cubicBezTo>
                    <a:pt x="84" y="2"/>
                    <a:pt x="1" y="85"/>
                    <a:pt x="1" y="204"/>
                  </a:cubicBezTo>
                  <a:cubicBezTo>
                    <a:pt x="1" y="323"/>
                    <a:pt x="84" y="419"/>
                    <a:pt x="203" y="419"/>
                  </a:cubicBezTo>
                  <a:cubicBezTo>
                    <a:pt x="334" y="419"/>
                    <a:pt x="418" y="323"/>
                    <a:pt x="418" y="204"/>
                  </a:cubicBezTo>
                  <a:cubicBezTo>
                    <a:pt x="418" y="92"/>
                    <a:pt x="343" y="1"/>
                    <a:pt x="225" y="1"/>
                  </a:cubicBezTo>
                  <a:close/>
                </a:path>
              </a:pathLst>
            </a:custGeom>
            <a:grpFill/>
            <a:ln>
              <a:solidFill>
                <a:srgbClr val="D20537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2535;p86">
              <a:extLst>
                <a:ext uri="{FF2B5EF4-FFF2-40B4-BE49-F238E27FC236}">
                  <a16:creationId xmlns:a16="http://schemas.microsoft.com/office/drawing/2014/main" id="{C5902DB3-64A8-28F2-A020-60A0DB29A3FE}"/>
                </a:ext>
              </a:extLst>
            </p:cNvPr>
            <p:cNvSpPr/>
            <p:nvPr/>
          </p:nvSpPr>
          <p:spPr>
            <a:xfrm>
              <a:off x="5086998" y="3175530"/>
              <a:ext cx="13284" cy="13315"/>
            </a:xfrm>
            <a:custGeom>
              <a:avLst/>
              <a:gdLst/>
              <a:ahLst/>
              <a:cxnLst/>
              <a:rect l="l" t="t" r="r" b="b"/>
              <a:pathLst>
                <a:path w="417" h="418" extrusionOk="0">
                  <a:moveTo>
                    <a:pt x="219" y="0"/>
                  </a:moveTo>
                  <a:cubicBezTo>
                    <a:pt x="214" y="0"/>
                    <a:pt x="208" y="1"/>
                    <a:pt x="203" y="1"/>
                  </a:cubicBezTo>
                  <a:cubicBezTo>
                    <a:pt x="84" y="1"/>
                    <a:pt x="0" y="96"/>
                    <a:pt x="0" y="215"/>
                  </a:cubicBezTo>
                  <a:cubicBezTo>
                    <a:pt x="0" y="323"/>
                    <a:pt x="84" y="418"/>
                    <a:pt x="203" y="418"/>
                  </a:cubicBezTo>
                  <a:cubicBezTo>
                    <a:pt x="334" y="418"/>
                    <a:pt x="417" y="323"/>
                    <a:pt x="417" y="215"/>
                  </a:cubicBezTo>
                  <a:cubicBezTo>
                    <a:pt x="417" y="103"/>
                    <a:pt x="320" y="0"/>
                    <a:pt x="219" y="0"/>
                  </a:cubicBezTo>
                  <a:close/>
                </a:path>
              </a:pathLst>
            </a:custGeom>
            <a:grpFill/>
            <a:ln>
              <a:solidFill>
                <a:srgbClr val="D20537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2536;p86">
              <a:extLst>
                <a:ext uri="{FF2B5EF4-FFF2-40B4-BE49-F238E27FC236}">
                  <a16:creationId xmlns:a16="http://schemas.microsoft.com/office/drawing/2014/main" id="{74DF261A-0892-2973-4FFB-61E7FCA9CCE4}"/>
                </a:ext>
              </a:extLst>
            </p:cNvPr>
            <p:cNvSpPr/>
            <p:nvPr/>
          </p:nvSpPr>
          <p:spPr>
            <a:xfrm>
              <a:off x="5033131" y="3137623"/>
              <a:ext cx="17106" cy="17106"/>
            </a:xfrm>
            <a:custGeom>
              <a:avLst/>
              <a:gdLst/>
              <a:ahLst/>
              <a:cxnLst/>
              <a:rect l="l" t="t" r="r" b="b"/>
              <a:pathLst>
                <a:path w="537" h="537" extrusionOk="0">
                  <a:moveTo>
                    <a:pt x="262" y="1"/>
                  </a:moveTo>
                  <a:cubicBezTo>
                    <a:pt x="120" y="1"/>
                    <a:pt x="1" y="120"/>
                    <a:pt x="1" y="274"/>
                  </a:cubicBezTo>
                  <a:cubicBezTo>
                    <a:pt x="1" y="417"/>
                    <a:pt x="120" y="536"/>
                    <a:pt x="262" y="536"/>
                  </a:cubicBezTo>
                  <a:cubicBezTo>
                    <a:pt x="417" y="536"/>
                    <a:pt x="536" y="417"/>
                    <a:pt x="536" y="274"/>
                  </a:cubicBezTo>
                  <a:cubicBezTo>
                    <a:pt x="536" y="120"/>
                    <a:pt x="417" y="1"/>
                    <a:pt x="262" y="1"/>
                  </a:cubicBezTo>
                  <a:close/>
                </a:path>
              </a:pathLst>
            </a:custGeom>
            <a:grpFill/>
            <a:ln>
              <a:solidFill>
                <a:srgbClr val="D20537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2537;p86">
              <a:extLst>
                <a:ext uri="{FF2B5EF4-FFF2-40B4-BE49-F238E27FC236}">
                  <a16:creationId xmlns:a16="http://schemas.microsoft.com/office/drawing/2014/main" id="{A4D73DC1-6200-2781-C97A-C2CDE08C86C3}"/>
                </a:ext>
              </a:extLst>
            </p:cNvPr>
            <p:cNvSpPr/>
            <p:nvPr/>
          </p:nvSpPr>
          <p:spPr>
            <a:xfrm>
              <a:off x="4969421" y="2902852"/>
              <a:ext cx="185109" cy="355406"/>
            </a:xfrm>
            <a:custGeom>
              <a:avLst/>
              <a:gdLst/>
              <a:ahLst/>
              <a:cxnLst/>
              <a:rect l="l" t="t" r="r" b="b"/>
              <a:pathLst>
                <a:path w="5811" h="11157" extrusionOk="0">
                  <a:moveTo>
                    <a:pt x="1916" y="4904"/>
                  </a:moveTo>
                  <a:cubicBezTo>
                    <a:pt x="2183" y="4904"/>
                    <a:pt x="2490" y="4967"/>
                    <a:pt x="2810" y="5156"/>
                  </a:cubicBezTo>
                  <a:cubicBezTo>
                    <a:pt x="3108" y="5335"/>
                    <a:pt x="3426" y="5421"/>
                    <a:pt x="3748" y="5421"/>
                  </a:cubicBezTo>
                  <a:cubicBezTo>
                    <a:pt x="4069" y="5421"/>
                    <a:pt x="4394" y="5335"/>
                    <a:pt x="4703" y="5168"/>
                  </a:cubicBezTo>
                  <a:lnTo>
                    <a:pt x="4703" y="9025"/>
                  </a:lnTo>
                  <a:cubicBezTo>
                    <a:pt x="4703" y="10026"/>
                    <a:pt x="3906" y="10823"/>
                    <a:pt x="2905" y="10823"/>
                  </a:cubicBezTo>
                  <a:cubicBezTo>
                    <a:pt x="1905" y="10823"/>
                    <a:pt x="1108" y="10026"/>
                    <a:pt x="1108" y="9025"/>
                  </a:cubicBezTo>
                  <a:lnTo>
                    <a:pt x="1108" y="5108"/>
                  </a:lnTo>
                  <a:cubicBezTo>
                    <a:pt x="1228" y="5038"/>
                    <a:pt x="1528" y="4904"/>
                    <a:pt x="1916" y="4904"/>
                  </a:cubicBezTo>
                  <a:close/>
                  <a:moveTo>
                    <a:pt x="512" y="1"/>
                  </a:moveTo>
                  <a:cubicBezTo>
                    <a:pt x="226" y="1"/>
                    <a:pt x="0" y="227"/>
                    <a:pt x="0" y="513"/>
                  </a:cubicBezTo>
                  <a:lnTo>
                    <a:pt x="0" y="834"/>
                  </a:lnTo>
                  <a:cubicBezTo>
                    <a:pt x="0" y="1120"/>
                    <a:pt x="226" y="1346"/>
                    <a:pt x="512" y="1346"/>
                  </a:cubicBezTo>
                  <a:lnTo>
                    <a:pt x="774" y="1346"/>
                  </a:lnTo>
                  <a:lnTo>
                    <a:pt x="774" y="9025"/>
                  </a:lnTo>
                  <a:cubicBezTo>
                    <a:pt x="774" y="10204"/>
                    <a:pt x="1727" y="11157"/>
                    <a:pt x="2905" y="11157"/>
                  </a:cubicBezTo>
                  <a:cubicBezTo>
                    <a:pt x="4084" y="11157"/>
                    <a:pt x="5037" y="10204"/>
                    <a:pt x="5037" y="9025"/>
                  </a:cubicBezTo>
                  <a:lnTo>
                    <a:pt x="5037" y="3441"/>
                  </a:lnTo>
                  <a:cubicBezTo>
                    <a:pt x="5037" y="3358"/>
                    <a:pt x="4953" y="3275"/>
                    <a:pt x="4870" y="3275"/>
                  </a:cubicBezTo>
                  <a:cubicBezTo>
                    <a:pt x="4775" y="3275"/>
                    <a:pt x="4703" y="3358"/>
                    <a:pt x="4703" y="3441"/>
                  </a:cubicBezTo>
                  <a:lnTo>
                    <a:pt x="4703" y="4787"/>
                  </a:lnTo>
                  <a:cubicBezTo>
                    <a:pt x="4571" y="4873"/>
                    <a:pt x="4209" y="5081"/>
                    <a:pt x="3757" y="5081"/>
                  </a:cubicBezTo>
                  <a:cubicBezTo>
                    <a:pt x="3519" y="5081"/>
                    <a:pt x="3256" y="5023"/>
                    <a:pt x="2989" y="4858"/>
                  </a:cubicBezTo>
                  <a:cubicBezTo>
                    <a:pt x="2617" y="4633"/>
                    <a:pt x="2259" y="4557"/>
                    <a:pt x="1945" y="4557"/>
                  </a:cubicBezTo>
                  <a:cubicBezTo>
                    <a:pt x="1596" y="4557"/>
                    <a:pt x="1302" y="4651"/>
                    <a:pt x="1108" y="4739"/>
                  </a:cubicBezTo>
                  <a:lnTo>
                    <a:pt x="1108" y="1334"/>
                  </a:lnTo>
                  <a:lnTo>
                    <a:pt x="4703" y="1334"/>
                  </a:lnTo>
                  <a:lnTo>
                    <a:pt x="4703" y="2560"/>
                  </a:lnTo>
                  <a:cubicBezTo>
                    <a:pt x="4703" y="2656"/>
                    <a:pt x="4775" y="2727"/>
                    <a:pt x="4870" y="2727"/>
                  </a:cubicBezTo>
                  <a:cubicBezTo>
                    <a:pt x="4953" y="2727"/>
                    <a:pt x="5037" y="2656"/>
                    <a:pt x="5037" y="2560"/>
                  </a:cubicBezTo>
                  <a:lnTo>
                    <a:pt x="5037" y="1334"/>
                  </a:lnTo>
                  <a:lnTo>
                    <a:pt x="5299" y="1334"/>
                  </a:lnTo>
                  <a:cubicBezTo>
                    <a:pt x="5584" y="1334"/>
                    <a:pt x="5811" y="1108"/>
                    <a:pt x="5811" y="822"/>
                  </a:cubicBezTo>
                  <a:lnTo>
                    <a:pt x="5811" y="501"/>
                  </a:lnTo>
                  <a:cubicBezTo>
                    <a:pt x="5787" y="227"/>
                    <a:pt x="5549" y="1"/>
                    <a:pt x="5287" y="1"/>
                  </a:cubicBezTo>
                  <a:lnTo>
                    <a:pt x="1822" y="1"/>
                  </a:lnTo>
                  <a:cubicBezTo>
                    <a:pt x="1727" y="1"/>
                    <a:pt x="1655" y="84"/>
                    <a:pt x="1655" y="167"/>
                  </a:cubicBezTo>
                  <a:cubicBezTo>
                    <a:pt x="1655" y="263"/>
                    <a:pt x="1727" y="334"/>
                    <a:pt x="1822" y="334"/>
                  </a:cubicBezTo>
                  <a:lnTo>
                    <a:pt x="5287" y="334"/>
                  </a:lnTo>
                  <a:cubicBezTo>
                    <a:pt x="5394" y="334"/>
                    <a:pt x="5465" y="405"/>
                    <a:pt x="5465" y="513"/>
                  </a:cubicBezTo>
                  <a:lnTo>
                    <a:pt x="5465" y="834"/>
                  </a:lnTo>
                  <a:cubicBezTo>
                    <a:pt x="5465" y="941"/>
                    <a:pt x="5394" y="1013"/>
                    <a:pt x="5287" y="1013"/>
                  </a:cubicBezTo>
                  <a:lnTo>
                    <a:pt x="512" y="1013"/>
                  </a:lnTo>
                  <a:cubicBezTo>
                    <a:pt x="405" y="1013"/>
                    <a:pt x="334" y="941"/>
                    <a:pt x="334" y="834"/>
                  </a:cubicBezTo>
                  <a:lnTo>
                    <a:pt x="334" y="513"/>
                  </a:lnTo>
                  <a:cubicBezTo>
                    <a:pt x="334" y="405"/>
                    <a:pt x="405" y="334"/>
                    <a:pt x="512" y="334"/>
                  </a:cubicBezTo>
                  <a:lnTo>
                    <a:pt x="941" y="334"/>
                  </a:lnTo>
                  <a:cubicBezTo>
                    <a:pt x="1024" y="334"/>
                    <a:pt x="1108" y="263"/>
                    <a:pt x="1108" y="167"/>
                  </a:cubicBezTo>
                  <a:cubicBezTo>
                    <a:pt x="1108" y="84"/>
                    <a:pt x="1024" y="1"/>
                    <a:pt x="941" y="1"/>
                  </a:cubicBezTo>
                  <a:close/>
                </a:path>
              </a:pathLst>
            </a:custGeom>
            <a:grpFill/>
            <a:ln>
              <a:solidFill>
                <a:srgbClr val="D20537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9" name="Google Shape;12531;p86">
            <a:extLst>
              <a:ext uri="{FF2B5EF4-FFF2-40B4-BE49-F238E27FC236}">
                <a16:creationId xmlns:a16="http://schemas.microsoft.com/office/drawing/2014/main" id="{ED064859-0EBD-A171-B0ED-A1124A659DD8}"/>
              </a:ext>
            </a:extLst>
          </p:cNvPr>
          <p:cNvGrpSpPr>
            <a:grpSpLocks noChangeAspect="1"/>
          </p:cNvGrpSpPr>
          <p:nvPr/>
        </p:nvGrpSpPr>
        <p:grpSpPr>
          <a:xfrm>
            <a:off x="825574" y="1690217"/>
            <a:ext cx="288032" cy="553016"/>
            <a:chOff x="4969421" y="2902852"/>
            <a:chExt cx="185109" cy="355406"/>
          </a:xfrm>
          <a:solidFill>
            <a:srgbClr val="002060"/>
          </a:solidFill>
        </p:grpSpPr>
        <p:sp>
          <p:nvSpPr>
            <p:cNvPr id="20" name="Google Shape;12532;p86">
              <a:extLst>
                <a:ext uri="{FF2B5EF4-FFF2-40B4-BE49-F238E27FC236}">
                  <a16:creationId xmlns:a16="http://schemas.microsoft.com/office/drawing/2014/main" id="{7C062765-F621-8612-AE34-50626AEA66A8}"/>
                </a:ext>
              </a:extLst>
            </p:cNvPr>
            <p:cNvSpPr/>
            <p:nvPr/>
          </p:nvSpPr>
          <p:spPr>
            <a:xfrm>
              <a:off x="5022906" y="3084138"/>
              <a:ext cx="16310" cy="15959"/>
            </a:xfrm>
            <a:custGeom>
              <a:avLst/>
              <a:gdLst/>
              <a:ahLst/>
              <a:cxnLst/>
              <a:rect l="l" t="t" r="r" b="b"/>
              <a:pathLst>
                <a:path w="512" h="501" extrusionOk="0">
                  <a:moveTo>
                    <a:pt x="262" y="1"/>
                  </a:moveTo>
                  <a:cubicBezTo>
                    <a:pt x="119" y="1"/>
                    <a:pt x="0" y="120"/>
                    <a:pt x="0" y="251"/>
                  </a:cubicBezTo>
                  <a:cubicBezTo>
                    <a:pt x="0" y="406"/>
                    <a:pt x="119" y="501"/>
                    <a:pt x="262" y="501"/>
                  </a:cubicBezTo>
                  <a:cubicBezTo>
                    <a:pt x="393" y="501"/>
                    <a:pt x="512" y="382"/>
                    <a:pt x="512" y="251"/>
                  </a:cubicBezTo>
                  <a:cubicBezTo>
                    <a:pt x="512" y="120"/>
                    <a:pt x="405" y="13"/>
                    <a:pt x="262" y="1"/>
                  </a:cubicBezTo>
                  <a:close/>
                </a:path>
              </a:pathLst>
            </a:custGeom>
            <a:grpFill/>
            <a:ln>
              <a:solidFill>
                <a:srgbClr val="002060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2533;p86">
              <a:extLst>
                <a:ext uri="{FF2B5EF4-FFF2-40B4-BE49-F238E27FC236}">
                  <a16:creationId xmlns:a16="http://schemas.microsoft.com/office/drawing/2014/main" id="{E48DA01C-1CDC-5D30-4CAA-43FCD332606C}"/>
                </a:ext>
              </a:extLst>
            </p:cNvPr>
            <p:cNvSpPr/>
            <p:nvPr/>
          </p:nvSpPr>
          <p:spPr>
            <a:xfrm>
              <a:off x="5086998" y="3107265"/>
              <a:ext cx="13284" cy="13315"/>
            </a:xfrm>
            <a:custGeom>
              <a:avLst/>
              <a:gdLst/>
              <a:ahLst/>
              <a:cxnLst/>
              <a:rect l="l" t="t" r="r" b="b"/>
              <a:pathLst>
                <a:path w="417" h="418" extrusionOk="0">
                  <a:moveTo>
                    <a:pt x="221" y="0"/>
                  </a:moveTo>
                  <a:cubicBezTo>
                    <a:pt x="215" y="0"/>
                    <a:pt x="209" y="0"/>
                    <a:pt x="203" y="1"/>
                  </a:cubicBezTo>
                  <a:cubicBezTo>
                    <a:pt x="84" y="1"/>
                    <a:pt x="0" y="96"/>
                    <a:pt x="0" y="215"/>
                  </a:cubicBezTo>
                  <a:cubicBezTo>
                    <a:pt x="0" y="334"/>
                    <a:pt x="84" y="418"/>
                    <a:pt x="203" y="418"/>
                  </a:cubicBezTo>
                  <a:cubicBezTo>
                    <a:pt x="334" y="418"/>
                    <a:pt x="417" y="334"/>
                    <a:pt x="417" y="215"/>
                  </a:cubicBezTo>
                  <a:cubicBezTo>
                    <a:pt x="417" y="92"/>
                    <a:pt x="322" y="0"/>
                    <a:pt x="221" y="0"/>
                  </a:cubicBezTo>
                  <a:close/>
                </a:path>
              </a:pathLst>
            </a:custGeom>
            <a:grpFill/>
            <a:ln>
              <a:solidFill>
                <a:srgbClr val="002060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2534;p86">
              <a:extLst>
                <a:ext uri="{FF2B5EF4-FFF2-40B4-BE49-F238E27FC236}">
                  <a16:creationId xmlns:a16="http://schemas.microsoft.com/office/drawing/2014/main" id="{8596C357-5EA1-969E-E289-11B4E7F61C48}"/>
                </a:ext>
              </a:extLst>
            </p:cNvPr>
            <p:cNvSpPr/>
            <p:nvPr/>
          </p:nvSpPr>
          <p:spPr>
            <a:xfrm>
              <a:off x="5039566" y="3205092"/>
              <a:ext cx="13315" cy="13347"/>
            </a:xfrm>
            <a:custGeom>
              <a:avLst/>
              <a:gdLst/>
              <a:ahLst/>
              <a:cxnLst/>
              <a:rect l="l" t="t" r="r" b="b"/>
              <a:pathLst>
                <a:path w="418" h="419" extrusionOk="0">
                  <a:moveTo>
                    <a:pt x="225" y="1"/>
                  </a:moveTo>
                  <a:cubicBezTo>
                    <a:pt x="218" y="1"/>
                    <a:pt x="211" y="1"/>
                    <a:pt x="203" y="2"/>
                  </a:cubicBezTo>
                  <a:cubicBezTo>
                    <a:pt x="84" y="2"/>
                    <a:pt x="1" y="85"/>
                    <a:pt x="1" y="204"/>
                  </a:cubicBezTo>
                  <a:cubicBezTo>
                    <a:pt x="1" y="323"/>
                    <a:pt x="84" y="419"/>
                    <a:pt x="203" y="419"/>
                  </a:cubicBezTo>
                  <a:cubicBezTo>
                    <a:pt x="334" y="419"/>
                    <a:pt x="418" y="323"/>
                    <a:pt x="418" y="204"/>
                  </a:cubicBezTo>
                  <a:cubicBezTo>
                    <a:pt x="418" y="92"/>
                    <a:pt x="343" y="1"/>
                    <a:pt x="225" y="1"/>
                  </a:cubicBezTo>
                  <a:close/>
                </a:path>
              </a:pathLst>
            </a:custGeom>
            <a:grpFill/>
            <a:ln>
              <a:solidFill>
                <a:srgbClr val="002060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2535;p86">
              <a:extLst>
                <a:ext uri="{FF2B5EF4-FFF2-40B4-BE49-F238E27FC236}">
                  <a16:creationId xmlns:a16="http://schemas.microsoft.com/office/drawing/2014/main" id="{13C715B0-8DB9-727B-DB89-99E3C6A0D291}"/>
                </a:ext>
              </a:extLst>
            </p:cNvPr>
            <p:cNvSpPr/>
            <p:nvPr/>
          </p:nvSpPr>
          <p:spPr>
            <a:xfrm>
              <a:off x="5086998" y="3175530"/>
              <a:ext cx="13284" cy="13315"/>
            </a:xfrm>
            <a:custGeom>
              <a:avLst/>
              <a:gdLst/>
              <a:ahLst/>
              <a:cxnLst/>
              <a:rect l="l" t="t" r="r" b="b"/>
              <a:pathLst>
                <a:path w="417" h="418" extrusionOk="0">
                  <a:moveTo>
                    <a:pt x="219" y="0"/>
                  </a:moveTo>
                  <a:cubicBezTo>
                    <a:pt x="214" y="0"/>
                    <a:pt x="208" y="1"/>
                    <a:pt x="203" y="1"/>
                  </a:cubicBezTo>
                  <a:cubicBezTo>
                    <a:pt x="84" y="1"/>
                    <a:pt x="0" y="96"/>
                    <a:pt x="0" y="215"/>
                  </a:cubicBezTo>
                  <a:cubicBezTo>
                    <a:pt x="0" y="323"/>
                    <a:pt x="84" y="418"/>
                    <a:pt x="203" y="418"/>
                  </a:cubicBezTo>
                  <a:cubicBezTo>
                    <a:pt x="334" y="418"/>
                    <a:pt x="417" y="323"/>
                    <a:pt x="417" y="215"/>
                  </a:cubicBezTo>
                  <a:cubicBezTo>
                    <a:pt x="417" y="103"/>
                    <a:pt x="320" y="0"/>
                    <a:pt x="219" y="0"/>
                  </a:cubicBezTo>
                  <a:close/>
                </a:path>
              </a:pathLst>
            </a:custGeom>
            <a:grpFill/>
            <a:ln>
              <a:solidFill>
                <a:srgbClr val="002060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2536;p86">
              <a:extLst>
                <a:ext uri="{FF2B5EF4-FFF2-40B4-BE49-F238E27FC236}">
                  <a16:creationId xmlns:a16="http://schemas.microsoft.com/office/drawing/2014/main" id="{41990680-76F3-F6DD-9146-BB80B8617697}"/>
                </a:ext>
              </a:extLst>
            </p:cNvPr>
            <p:cNvSpPr/>
            <p:nvPr/>
          </p:nvSpPr>
          <p:spPr>
            <a:xfrm>
              <a:off x="5033131" y="3137623"/>
              <a:ext cx="17106" cy="17106"/>
            </a:xfrm>
            <a:custGeom>
              <a:avLst/>
              <a:gdLst/>
              <a:ahLst/>
              <a:cxnLst/>
              <a:rect l="l" t="t" r="r" b="b"/>
              <a:pathLst>
                <a:path w="537" h="537" extrusionOk="0">
                  <a:moveTo>
                    <a:pt x="262" y="1"/>
                  </a:moveTo>
                  <a:cubicBezTo>
                    <a:pt x="120" y="1"/>
                    <a:pt x="1" y="120"/>
                    <a:pt x="1" y="274"/>
                  </a:cubicBezTo>
                  <a:cubicBezTo>
                    <a:pt x="1" y="417"/>
                    <a:pt x="120" y="536"/>
                    <a:pt x="262" y="536"/>
                  </a:cubicBezTo>
                  <a:cubicBezTo>
                    <a:pt x="417" y="536"/>
                    <a:pt x="536" y="417"/>
                    <a:pt x="536" y="274"/>
                  </a:cubicBezTo>
                  <a:cubicBezTo>
                    <a:pt x="536" y="120"/>
                    <a:pt x="417" y="1"/>
                    <a:pt x="262" y="1"/>
                  </a:cubicBezTo>
                  <a:close/>
                </a:path>
              </a:pathLst>
            </a:custGeom>
            <a:grpFill/>
            <a:ln>
              <a:solidFill>
                <a:srgbClr val="002060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2537;p86">
              <a:extLst>
                <a:ext uri="{FF2B5EF4-FFF2-40B4-BE49-F238E27FC236}">
                  <a16:creationId xmlns:a16="http://schemas.microsoft.com/office/drawing/2014/main" id="{19F50281-EA7B-D7DD-CBE8-21303E3CE747}"/>
                </a:ext>
              </a:extLst>
            </p:cNvPr>
            <p:cNvSpPr/>
            <p:nvPr/>
          </p:nvSpPr>
          <p:spPr>
            <a:xfrm>
              <a:off x="4969421" y="2902852"/>
              <a:ext cx="185109" cy="355406"/>
            </a:xfrm>
            <a:custGeom>
              <a:avLst/>
              <a:gdLst/>
              <a:ahLst/>
              <a:cxnLst/>
              <a:rect l="l" t="t" r="r" b="b"/>
              <a:pathLst>
                <a:path w="5811" h="11157" extrusionOk="0">
                  <a:moveTo>
                    <a:pt x="1916" y="4904"/>
                  </a:moveTo>
                  <a:cubicBezTo>
                    <a:pt x="2183" y="4904"/>
                    <a:pt x="2490" y="4967"/>
                    <a:pt x="2810" y="5156"/>
                  </a:cubicBezTo>
                  <a:cubicBezTo>
                    <a:pt x="3108" y="5335"/>
                    <a:pt x="3426" y="5421"/>
                    <a:pt x="3748" y="5421"/>
                  </a:cubicBezTo>
                  <a:cubicBezTo>
                    <a:pt x="4069" y="5421"/>
                    <a:pt x="4394" y="5335"/>
                    <a:pt x="4703" y="5168"/>
                  </a:cubicBezTo>
                  <a:lnTo>
                    <a:pt x="4703" y="9025"/>
                  </a:lnTo>
                  <a:cubicBezTo>
                    <a:pt x="4703" y="10026"/>
                    <a:pt x="3906" y="10823"/>
                    <a:pt x="2905" y="10823"/>
                  </a:cubicBezTo>
                  <a:cubicBezTo>
                    <a:pt x="1905" y="10823"/>
                    <a:pt x="1108" y="10026"/>
                    <a:pt x="1108" y="9025"/>
                  </a:cubicBezTo>
                  <a:lnTo>
                    <a:pt x="1108" y="5108"/>
                  </a:lnTo>
                  <a:cubicBezTo>
                    <a:pt x="1228" y="5038"/>
                    <a:pt x="1528" y="4904"/>
                    <a:pt x="1916" y="4904"/>
                  </a:cubicBezTo>
                  <a:close/>
                  <a:moveTo>
                    <a:pt x="512" y="1"/>
                  </a:moveTo>
                  <a:cubicBezTo>
                    <a:pt x="226" y="1"/>
                    <a:pt x="0" y="227"/>
                    <a:pt x="0" y="513"/>
                  </a:cubicBezTo>
                  <a:lnTo>
                    <a:pt x="0" y="834"/>
                  </a:lnTo>
                  <a:cubicBezTo>
                    <a:pt x="0" y="1120"/>
                    <a:pt x="226" y="1346"/>
                    <a:pt x="512" y="1346"/>
                  </a:cubicBezTo>
                  <a:lnTo>
                    <a:pt x="774" y="1346"/>
                  </a:lnTo>
                  <a:lnTo>
                    <a:pt x="774" y="9025"/>
                  </a:lnTo>
                  <a:cubicBezTo>
                    <a:pt x="774" y="10204"/>
                    <a:pt x="1727" y="11157"/>
                    <a:pt x="2905" y="11157"/>
                  </a:cubicBezTo>
                  <a:cubicBezTo>
                    <a:pt x="4084" y="11157"/>
                    <a:pt x="5037" y="10204"/>
                    <a:pt x="5037" y="9025"/>
                  </a:cubicBezTo>
                  <a:lnTo>
                    <a:pt x="5037" y="3441"/>
                  </a:lnTo>
                  <a:cubicBezTo>
                    <a:pt x="5037" y="3358"/>
                    <a:pt x="4953" y="3275"/>
                    <a:pt x="4870" y="3275"/>
                  </a:cubicBezTo>
                  <a:cubicBezTo>
                    <a:pt x="4775" y="3275"/>
                    <a:pt x="4703" y="3358"/>
                    <a:pt x="4703" y="3441"/>
                  </a:cubicBezTo>
                  <a:lnTo>
                    <a:pt x="4703" y="4787"/>
                  </a:lnTo>
                  <a:cubicBezTo>
                    <a:pt x="4571" y="4873"/>
                    <a:pt x="4209" y="5081"/>
                    <a:pt x="3757" y="5081"/>
                  </a:cubicBezTo>
                  <a:cubicBezTo>
                    <a:pt x="3519" y="5081"/>
                    <a:pt x="3256" y="5023"/>
                    <a:pt x="2989" y="4858"/>
                  </a:cubicBezTo>
                  <a:cubicBezTo>
                    <a:pt x="2617" y="4633"/>
                    <a:pt x="2259" y="4557"/>
                    <a:pt x="1945" y="4557"/>
                  </a:cubicBezTo>
                  <a:cubicBezTo>
                    <a:pt x="1596" y="4557"/>
                    <a:pt x="1302" y="4651"/>
                    <a:pt x="1108" y="4739"/>
                  </a:cubicBezTo>
                  <a:lnTo>
                    <a:pt x="1108" y="1334"/>
                  </a:lnTo>
                  <a:lnTo>
                    <a:pt x="4703" y="1334"/>
                  </a:lnTo>
                  <a:lnTo>
                    <a:pt x="4703" y="2560"/>
                  </a:lnTo>
                  <a:cubicBezTo>
                    <a:pt x="4703" y="2656"/>
                    <a:pt x="4775" y="2727"/>
                    <a:pt x="4870" y="2727"/>
                  </a:cubicBezTo>
                  <a:cubicBezTo>
                    <a:pt x="4953" y="2727"/>
                    <a:pt x="5037" y="2656"/>
                    <a:pt x="5037" y="2560"/>
                  </a:cubicBezTo>
                  <a:lnTo>
                    <a:pt x="5037" y="1334"/>
                  </a:lnTo>
                  <a:lnTo>
                    <a:pt x="5299" y="1334"/>
                  </a:lnTo>
                  <a:cubicBezTo>
                    <a:pt x="5584" y="1334"/>
                    <a:pt x="5811" y="1108"/>
                    <a:pt x="5811" y="822"/>
                  </a:cubicBezTo>
                  <a:lnTo>
                    <a:pt x="5811" y="501"/>
                  </a:lnTo>
                  <a:cubicBezTo>
                    <a:pt x="5787" y="227"/>
                    <a:pt x="5549" y="1"/>
                    <a:pt x="5287" y="1"/>
                  </a:cubicBezTo>
                  <a:lnTo>
                    <a:pt x="1822" y="1"/>
                  </a:lnTo>
                  <a:cubicBezTo>
                    <a:pt x="1727" y="1"/>
                    <a:pt x="1655" y="84"/>
                    <a:pt x="1655" y="167"/>
                  </a:cubicBezTo>
                  <a:cubicBezTo>
                    <a:pt x="1655" y="263"/>
                    <a:pt x="1727" y="334"/>
                    <a:pt x="1822" y="334"/>
                  </a:cubicBezTo>
                  <a:lnTo>
                    <a:pt x="5287" y="334"/>
                  </a:lnTo>
                  <a:cubicBezTo>
                    <a:pt x="5394" y="334"/>
                    <a:pt x="5465" y="405"/>
                    <a:pt x="5465" y="513"/>
                  </a:cubicBezTo>
                  <a:lnTo>
                    <a:pt x="5465" y="834"/>
                  </a:lnTo>
                  <a:cubicBezTo>
                    <a:pt x="5465" y="941"/>
                    <a:pt x="5394" y="1013"/>
                    <a:pt x="5287" y="1013"/>
                  </a:cubicBezTo>
                  <a:lnTo>
                    <a:pt x="512" y="1013"/>
                  </a:lnTo>
                  <a:cubicBezTo>
                    <a:pt x="405" y="1013"/>
                    <a:pt x="334" y="941"/>
                    <a:pt x="334" y="834"/>
                  </a:cubicBezTo>
                  <a:lnTo>
                    <a:pt x="334" y="513"/>
                  </a:lnTo>
                  <a:cubicBezTo>
                    <a:pt x="334" y="405"/>
                    <a:pt x="405" y="334"/>
                    <a:pt x="512" y="334"/>
                  </a:cubicBezTo>
                  <a:lnTo>
                    <a:pt x="941" y="334"/>
                  </a:lnTo>
                  <a:cubicBezTo>
                    <a:pt x="1024" y="334"/>
                    <a:pt x="1108" y="263"/>
                    <a:pt x="1108" y="167"/>
                  </a:cubicBezTo>
                  <a:cubicBezTo>
                    <a:pt x="1108" y="84"/>
                    <a:pt x="1024" y="1"/>
                    <a:pt x="941" y="1"/>
                  </a:cubicBezTo>
                  <a:close/>
                </a:path>
              </a:pathLst>
            </a:custGeom>
            <a:grpFill/>
            <a:ln>
              <a:solidFill>
                <a:srgbClr val="002060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" name="Right Arrow 10">
            <a:extLst>
              <a:ext uri="{FF2B5EF4-FFF2-40B4-BE49-F238E27FC236}">
                <a16:creationId xmlns:a16="http://schemas.microsoft.com/office/drawing/2014/main" id="{342BC2C5-7557-A30E-9C7F-E636DB452DC5}"/>
              </a:ext>
            </a:extLst>
          </p:cNvPr>
          <p:cNvSpPr/>
          <p:nvPr/>
        </p:nvSpPr>
        <p:spPr>
          <a:xfrm>
            <a:off x="1234306" y="1871043"/>
            <a:ext cx="539827" cy="227345"/>
          </a:xfrm>
          <a:prstGeom prst="rightArrow">
            <a:avLst/>
          </a:prstGeom>
          <a:solidFill>
            <a:srgbClr val="A5D7D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itel 1">
            <a:extLst>
              <a:ext uri="{FF2B5EF4-FFF2-40B4-BE49-F238E27FC236}">
                <a16:creationId xmlns:a16="http://schemas.microsoft.com/office/drawing/2014/main" id="{AAED98DD-479B-F8F4-24E5-32073D467416}"/>
              </a:ext>
            </a:extLst>
          </p:cNvPr>
          <p:cNvSpPr txBox="1">
            <a:spLocks/>
          </p:cNvSpPr>
          <p:nvPr/>
        </p:nvSpPr>
        <p:spPr>
          <a:xfrm>
            <a:off x="0" y="2430624"/>
            <a:ext cx="2878667" cy="70881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ts val="2500"/>
              </a:lnSpc>
              <a:spcBef>
                <a:spcPct val="0"/>
              </a:spcBef>
              <a:buNone/>
              <a:defRPr sz="23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de-CH" sz="1400" b="0" dirty="0"/>
              <a:t>Culture </a:t>
            </a:r>
            <a:r>
              <a:rPr lang="de-CH" sz="1400" dirty="0" err="1"/>
              <a:t>moved</a:t>
            </a:r>
            <a:r>
              <a:rPr lang="de-CH" sz="1400" dirty="0"/>
              <a:t> to </a:t>
            </a:r>
            <a:r>
              <a:rPr lang="de-CH" sz="1400" dirty="0" err="1"/>
              <a:t>succinate</a:t>
            </a:r>
            <a:r>
              <a:rPr lang="de-CH" sz="1400" b="0" dirty="0"/>
              <a:t>:</a:t>
            </a:r>
          </a:p>
          <a:p>
            <a:pPr marL="285750" indent="-285750" algn="ctr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de-CH" sz="1400" b="0" dirty="0"/>
              <a:t>the breakdown </a:t>
            </a:r>
            <a:r>
              <a:rPr lang="de-CH" sz="1400" b="0" dirty="0" err="1"/>
              <a:t>requires</a:t>
            </a:r>
            <a:r>
              <a:rPr lang="de-CH" sz="1400" b="0" dirty="0"/>
              <a:t> </a:t>
            </a:r>
            <a:r>
              <a:rPr lang="de-CH" sz="1400" b="0" dirty="0" err="1"/>
              <a:t>more</a:t>
            </a:r>
            <a:r>
              <a:rPr lang="de-CH" sz="1400" b="0" dirty="0"/>
              <a:t> </a:t>
            </a:r>
            <a:r>
              <a:rPr lang="de-CH" sz="1400" b="0" dirty="0" err="1"/>
              <a:t>energy</a:t>
            </a:r>
            <a:endParaRPr lang="de-CH" sz="1400" b="0" dirty="0"/>
          </a:p>
        </p:txBody>
      </p:sp>
      <p:sp>
        <p:nvSpPr>
          <p:cNvPr id="33" name="Right Arrow 10">
            <a:extLst>
              <a:ext uri="{FF2B5EF4-FFF2-40B4-BE49-F238E27FC236}">
                <a16:creationId xmlns:a16="http://schemas.microsoft.com/office/drawing/2014/main" id="{E84DEFB6-1E6D-4700-994C-BDDC010C1A28}"/>
              </a:ext>
            </a:extLst>
          </p:cNvPr>
          <p:cNvSpPr/>
          <p:nvPr/>
        </p:nvSpPr>
        <p:spPr>
          <a:xfrm flipV="1">
            <a:off x="2783632" y="1871043"/>
            <a:ext cx="708818" cy="269914"/>
          </a:xfrm>
          <a:prstGeom prst="rightArrow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itel 1">
            <a:extLst>
              <a:ext uri="{FF2B5EF4-FFF2-40B4-BE49-F238E27FC236}">
                <a16:creationId xmlns:a16="http://schemas.microsoft.com/office/drawing/2014/main" id="{65780034-2E66-ACBF-5D34-CA72D2170642}"/>
              </a:ext>
            </a:extLst>
          </p:cNvPr>
          <p:cNvSpPr txBox="1">
            <a:spLocks/>
          </p:cNvSpPr>
          <p:nvPr/>
        </p:nvSpPr>
        <p:spPr>
          <a:xfrm>
            <a:off x="3656306" y="1693266"/>
            <a:ext cx="1654531" cy="67821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ts val="2500"/>
              </a:lnSpc>
              <a:spcBef>
                <a:spcPct val="0"/>
              </a:spcBef>
              <a:buNone/>
              <a:defRPr sz="23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de-CH" sz="1400" b="0" dirty="0"/>
              <a:t>The </a:t>
            </a:r>
            <a:r>
              <a:rPr lang="de-CH" sz="1400" b="0" dirty="0" err="1"/>
              <a:t>alarmone</a:t>
            </a:r>
            <a:r>
              <a:rPr lang="de-CH" sz="1400" b="0" dirty="0"/>
              <a:t> </a:t>
            </a:r>
            <a:r>
              <a:rPr lang="de-CH" sz="1400" dirty="0"/>
              <a:t>(p)</a:t>
            </a:r>
            <a:r>
              <a:rPr lang="de-CH" sz="1400" dirty="0" err="1"/>
              <a:t>ppGpp</a:t>
            </a:r>
            <a:endParaRPr lang="de-CH" sz="1400" dirty="0"/>
          </a:p>
          <a:p>
            <a:pPr algn="ctr">
              <a:lnSpc>
                <a:spcPct val="100000"/>
              </a:lnSpc>
            </a:pPr>
            <a:r>
              <a:rPr lang="de-CH" sz="1400" b="0" dirty="0" err="1"/>
              <a:t>is</a:t>
            </a:r>
            <a:r>
              <a:rPr lang="de-CH" sz="1400" b="0" dirty="0"/>
              <a:t> released</a:t>
            </a:r>
          </a:p>
        </p:txBody>
      </p:sp>
      <p:grpSp>
        <p:nvGrpSpPr>
          <p:cNvPr id="36" name="Google Shape;12047;p85">
            <a:extLst>
              <a:ext uri="{FF2B5EF4-FFF2-40B4-BE49-F238E27FC236}">
                <a16:creationId xmlns:a16="http://schemas.microsoft.com/office/drawing/2014/main" id="{2679DF9F-6F5C-9F07-9228-581450428460}"/>
              </a:ext>
            </a:extLst>
          </p:cNvPr>
          <p:cNvGrpSpPr/>
          <p:nvPr/>
        </p:nvGrpSpPr>
        <p:grpSpPr>
          <a:xfrm>
            <a:off x="5058135" y="1883925"/>
            <a:ext cx="358069" cy="317995"/>
            <a:chOff x="3584280" y="3699191"/>
            <a:chExt cx="358069" cy="317995"/>
          </a:xfrm>
          <a:solidFill>
            <a:srgbClr val="FCEB0C"/>
          </a:solidFill>
        </p:grpSpPr>
        <p:sp>
          <p:nvSpPr>
            <p:cNvPr id="37" name="Google Shape;12048;p85">
              <a:extLst>
                <a:ext uri="{FF2B5EF4-FFF2-40B4-BE49-F238E27FC236}">
                  <a16:creationId xmlns:a16="http://schemas.microsoft.com/office/drawing/2014/main" id="{E0271918-4074-AD40-B775-25D4CDEB60C9}"/>
                </a:ext>
              </a:extLst>
            </p:cNvPr>
            <p:cNvSpPr/>
            <p:nvPr/>
          </p:nvSpPr>
          <p:spPr>
            <a:xfrm>
              <a:off x="3584280" y="3699191"/>
              <a:ext cx="358069" cy="317995"/>
            </a:xfrm>
            <a:custGeom>
              <a:avLst/>
              <a:gdLst/>
              <a:ahLst/>
              <a:cxnLst/>
              <a:rect l="l" t="t" r="r" b="b"/>
              <a:pathLst>
                <a:path w="11276" h="10014" extrusionOk="0">
                  <a:moveTo>
                    <a:pt x="5644" y="1"/>
                  </a:moveTo>
                  <a:cubicBezTo>
                    <a:pt x="5203" y="1"/>
                    <a:pt x="4810" y="227"/>
                    <a:pt x="4596" y="620"/>
                  </a:cubicBezTo>
                  <a:lnTo>
                    <a:pt x="822" y="7168"/>
                  </a:lnTo>
                  <a:cubicBezTo>
                    <a:pt x="774" y="7240"/>
                    <a:pt x="798" y="7347"/>
                    <a:pt x="881" y="7395"/>
                  </a:cubicBezTo>
                  <a:cubicBezTo>
                    <a:pt x="903" y="7406"/>
                    <a:pt x="929" y="7411"/>
                    <a:pt x="955" y="7411"/>
                  </a:cubicBezTo>
                  <a:cubicBezTo>
                    <a:pt x="1012" y="7411"/>
                    <a:pt x="1071" y="7384"/>
                    <a:pt x="1096" y="7335"/>
                  </a:cubicBezTo>
                  <a:lnTo>
                    <a:pt x="4882" y="787"/>
                  </a:lnTo>
                  <a:cubicBezTo>
                    <a:pt x="5049" y="513"/>
                    <a:pt x="5322" y="346"/>
                    <a:pt x="5644" y="346"/>
                  </a:cubicBezTo>
                  <a:cubicBezTo>
                    <a:pt x="5953" y="346"/>
                    <a:pt x="6239" y="513"/>
                    <a:pt x="6394" y="787"/>
                  </a:cubicBezTo>
                  <a:lnTo>
                    <a:pt x="10775" y="8359"/>
                  </a:lnTo>
                  <a:cubicBezTo>
                    <a:pt x="10942" y="8621"/>
                    <a:pt x="10942" y="8954"/>
                    <a:pt x="10775" y="9240"/>
                  </a:cubicBezTo>
                  <a:cubicBezTo>
                    <a:pt x="10609" y="9502"/>
                    <a:pt x="10323" y="9669"/>
                    <a:pt x="10013" y="9669"/>
                  </a:cubicBezTo>
                  <a:lnTo>
                    <a:pt x="1262" y="9669"/>
                  </a:lnTo>
                  <a:cubicBezTo>
                    <a:pt x="953" y="9669"/>
                    <a:pt x="667" y="9502"/>
                    <a:pt x="500" y="9240"/>
                  </a:cubicBezTo>
                  <a:cubicBezTo>
                    <a:pt x="346" y="8966"/>
                    <a:pt x="346" y="8645"/>
                    <a:pt x="500" y="8359"/>
                  </a:cubicBezTo>
                  <a:lnTo>
                    <a:pt x="774" y="7895"/>
                  </a:lnTo>
                  <a:cubicBezTo>
                    <a:pt x="822" y="7823"/>
                    <a:pt x="786" y="7716"/>
                    <a:pt x="715" y="7668"/>
                  </a:cubicBezTo>
                  <a:cubicBezTo>
                    <a:pt x="693" y="7657"/>
                    <a:pt x="667" y="7652"/>
                    <a:pt x="641" y="7652"/>
                  </a:cubicBezTo>
                  <a:cubicBezTo>
                    <a:pt x="583" y="7652"/>
                    <a:pt x="521" y="7679"/>
                    <a:pt x="488" y="7728"/>
                  </a:cubicBezTo>
                  <a:lnTo>
                    <a:pt x="227" y="8192"/>
                  </a:lnTo>
                  <a:cubicBezTo>
                    <a:pt x="0" y="8561"/>
                    <a:pt x="0" y="9026"/>
                    <a:pt x="227" y="9395"/>
                  </a:cubicBezTo>
                  <a:cubicBezTo>
                    <a:pt x="441" y="9776"/>
                    <a:pt x="834" y="10014"/>
                    <a:pt x="1262" y="10014"/>
                  </a:cubicBezTo>
                  <a:lnTo>
                    <a:pt x="10013" y="10014"/>
                  </a:lnTo>
                  <a:cubicBezTo>
                    <a:pt x="10442" y="10014"/>
                    <a:pt x="10847" y="9788"/>
                    <a:pt x="11061" y="9395"/>
                  </a:cubicBezTo>
                  <a:cubicBezTo>
                    <a:pt x="11276" y="9026"/>
                    <a:pt x="11276" y="8585"/>
                    <a:pt x="11061" y="8192"/>
                  </a:cubicBezTo>
                  <a:lnTo>
                    <a:pt x="6680" y="620"/>
                  </a:lnTo>
                  <a:cubicBezTo>
                    <a:pt x="6453" y="251"/>
                    <a:pt x="6072" y="1"/>
                    <a:pt x="5644" y="1"/>
                  </a:cubicBezTo>
                  <a:close/>
                </a:path>
              </a:pathLst>
            </a:custGeom>
            <a:grpFill/>
            <a:ln>
              <a:solidFill>
                <a:srgbClr val="000000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2049;p85">
              <a:extLst>
                <a:ext uri="{FF2B5EF4-FFF2-40B4-BE49-F238E27FC236}">
                  <a16:creationId xmlns:a16="http://schemas.microsoft.com/office/drawing/2014/main" id="{63AEF40B-6D4E-1623-82F2-0841A39401EF}"/>
                </a:ext>
              </a:extLst>
            </p:cNvPr>
            <p:cNvSpPr/>
            <p:nvPr/>
          </p:nvSpPr>
          <p:spPr>
            <a:xfrm>
              <a:off x="3613400" y="3727167"/>
              <a:ext cx="299831" cy="261661"/>
            </a:xfrm>
            <a:custGeom>
              <a:avLst/>
              <a:gdLst/>
              <a:ahLst/>
              <a:cxnLst/>
              <a:rect l="l" t="t" r="r" b="b"/>
              <a:pathLst>
                <a:path w="9442" h="8240" extrusionOk="0">
                  <a:moveTo>
                    <a:pt x="4727" y="358"/>
                  </a:moveTo>
                  <a:lnTo>
                    <a:pt x="9085" y="7907"/>
                  </a:lnTo>
                  <a:lnTo>
                    <a:pt x="381" y="7907"/>
                  </a:lnTo>
                  <a:lnTo>
                    <a:pt x="4727" y="358"/>
                  </a:lnTo>
                  <a:close/>
                  <a:moveTo>
                    <a:pt x="4727" y="1"/>
                  </a:moveTo>
                  <a:cubicBezTo>
                    <a:pt x="4608" y="1"/>
                    <a:pt x="4501" y="60"/>
                    <a:pt x="4441" y="168"/>
                  </a:cubicBezTo>
                  <a:lnTo>
                    <a:pt x="60" y="7740"/>
                  </a:lnTo>
                  <a:cubicBezTo>
                    <a:pt x="0" y="7847"/>
                    <a:pt x="0" y="7966"/>
                    <a:pt x="60" y="8073"/>
                  </a:cubicBezTo>
                  <a:cubicBezTo>
                    <a:pt x="119" y="8192"/>
                    <a:pt x="226" y="8240"/>
                    <a:pt x="345" y="8240"/>
                  </a:cubicBezTo>
                  <a:lnTo>
                    <a:pt x="9096" y="8240"/>
                  </a:lnTo>
                  <a:cubicBezTo>
                    <a:pt x="9216" y="8240"/>
                    <a:pt x="9323" y="8180"/>
                    <a:pt x="9382" y="8073"/>
                  </a:cubicBezTo>
                  <a:cubicBezTo>
                    <a:pt x="9442" y="7966"/>
                    <a:pt x="9442" y="7847"/>
                    <a:pt x="9382" y="7740"/>
                  </a:cubicBezTo>
                  <a:lnTo>
                    <a:pt x="5001" y="168"/>
                  </a:lnTo>
                  <a:cubicBezTo>
                    <a:pt x="4941" y="60"/>
                    <a:pt x="4846" y="1"/>
                    <a:pt x="4727" y="1"/>
                  </a:cubicBezTo>
                  <a:close/>
                </a:path>
              </a:pathLst>
            </a:custGeom>
            <a:grpFill/>
            <a:ln>
              <a:solidFill>
                <a:srgbClr val="000000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2050;p85">
              <a:extLst>
                <a:ext uri="{FF2B5EF4-FFF2-40B4-BE49-F238E27FC236}">
                  <a16:creationId xmlns:a16="http://schemas.microsoft.com/office/drawing/2014/main" id="{207668CF-6D7B-1070-14D0-EBEED07BBCFC}"/>
                </a:ext>
              </a:extLst>
            </p:cNvPr>
            <p:cNvSpPr/>
            <p:nvPr/>
          </p:nvSpPr>
          <p:spPr>
            <a:xfrm>
              <a:off x="3735879" y="3910171"/>
              <a:ext cx="54873" cy="54841"/>
            </a:xfrm>
            <a:custGeom>
              <a:avLst/>
              <a:gdLst/>
              <a:ahLst/>
              <a:cxnLst/>
              <a:rect l="l" t="t" r="r" b="b"/>
              <a:pathLst>
                <a:path w="1728" h="1727" extrusionOk="0">
                  <a:moveTo>
                    <a:pt x="870" y="322"/>
                  </a:moveTo>
                  <a:cubicBezTo>
                    <a:pt x="1168" y="322"/>
                    <a:pt x="1406" y="572"/>
                    <a:pt x="1406" y="870"/>
                  </a:cubicBezTo>
                  <a:cubicBezTo>
                    <a:pt x="1406" y="1167"/>
                    <a:pt x="1168" y="1405"/>
                    <a:pt x="870" y="1405"/>
                  </a:cubicBezTo>
                  <a:cubicBezTo>
                    <a:pt x="572" y="1405"/>
                    <a:pt x="334" y="1167"/>
                    <a:pt x="334" y="870"/>
                  </a:cubicBezTo>
                  <a:cubicBezTo>
                    <a:pt x="334" y="572"/>
                    <a:pt x="572" y="322"/>
                    <a:pt x="870" y="322"/>
                  </a:cubicBezTo>
                  <a:close/>
                  <a:moveTo>
                    <a:pt x="870" y="0"/>
                  </a:moveTo>
                  <a:cubicBezTo>
                    <a:pt x="394" y="0"/>
                    <a:pt x="1" y="393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3"/>
                    <a:pt x="1346" y="0"/>
                    <a:pt x="870" y="0"/>
                  </a:cubicBezTo>
                  <a:close/>
                </a:path>
              </a:pathLst>
            </a:custGeom>
            <a:grpFill/>
            <a:ln>
              <a:solidFill>
                <a:srgbClr val="000000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2051;p85">
              <a:extLst>
                <a:ext uri="{FF2B5EF4-FFF2-40B4-BE49-F238E27FC236}">
                  <a16:creationId xmlns:a16="http://schemas.microsoft.com/office/drawing/2014/main" id="{1B452BB8-3AA0-051E-4EC2-15A89E9CD55B}"/>
                </a:ext>
              </a:extLst>
            </p:cNvPr>
            <p:cNvSpPr/>
            <p:nvPr/>
          </p:nvSpPr>
          <p:spPr>
            <a:xfrm>
              <a:off x="3738896" y="3788422"/>
              <a:ext cx="49188" cy="114604"/>
            </a:xfrm>
            <a:custGeom>
              <a:avLst/>
              <a:gdLst/>
              <a:ahLst/>
              <a:cxnLst/>
              <a:rect l="l" t="t" r="r" b="b"/>
              <a:pathLst>
                <a:path w="1549" h="3609" extrusionOk="0">
                  <a:moveTo>
                    <a:pt x="572" y="1"/>
                  </a:moveTo>
                  <a:cubicBezTo>
                    <a:pt x="263" y="1"/>
                    <a:pt x="1" y="251"/>
                    <a:pt x="1" y="572"/>
                  </a:cubicBezTo>
                  <a:lnTo>
                    <a:pt x="1" y="3037"/>
                  </a:lnTo>
                  <a:cubicBezTo>
                    <a:pt x="1" y="3346"/>
                    <a:pt x="263" y="3608"/>
                    <a:pt x="572" y="3608"/>
                  </a:cubicBezTo>
                  <a:lnTo>
                    <a:pt x="965" y="3608"/>
                  </a:lnTo>
                  <a:cubicBezTo>
                    <a:pt x="1275" y="3608"/>
                    <a:pt x="1549" y="3358"/>
                    <a:pt x="1549" y="3037"/>
                  </a:cubicBezTo>
                  <a:lnTo>
                    <a:pt x="1549" y="1560"/>
                  </a:lnTo>
                  <a:cubicBezTo>
                    <a:pt x="1549" y="1465"/>
                    <a:pt x="1465" y="1394"/>
                    <a:pt x="1382" y="1394"/>
                  </a:cubicBezTo>
                  <a:cubicBezTo>
                    <a:pt x="1287" y="1394"/>
                    <a:pt x="1215" y="1465"/>
                    <a:pt x="1215" y="1560"/>
                  </a:cubicBezTo>
                  <a:lnTo>
                    <a:pt x="1215" y="3037"/>
                  </a:lnTo>
                  <a:cubicBezTo>
                    <a:pt x="1215" y="3168"/>
                    <a:pt x="1108" y="3275"/>
                    <a:pt x="977" y="3275"/>
                  </a:cubicBezTo>
                  <a:lnTo>
                    <a:pt x="584" y="3275"/>
                  </a:lnTo>
                  <a:cubicBezTo>
                    <a:pt x="453" y="3275"/>
                    <a:pt x="346" y="3168"/>
                    <a:pt x="346" y="3037"/>
                  </a:cubicBezTo>
                  <a:lnTo>
                    <a:pt x="346" y="572"/>
                  </a:lnTo>
                  <a:cubicBezTo>
                    <a:pt x="346" y="441"/>
                    <a:pt x="453" y="334"/>
                    <a:pt x="584" y="334"/>
                  </a:cubicBezTo>
                  <a:lnTo>
                    <a:pt x="977" y="334"/>
                  </a:lnTo>
                  <a:cubicBezTo>
                    <a:pt x="1108" y="334"/>
                    <a:pt x="1215" y="441"/>
                    <a:pt x="1215" y="572"/>
                  </a:cubicBezTo>
                  <a:lnTo>
                    <a:pt x="1215" y="906"/>
                  </a:lnTo>
                  <a:cubicBezTo>
                    <a:pt x="1215" y="989"/>
                    <a:pt x="1287" y="1072"/>
                    <a:pt x="1382" y="1072"/>
                  </a:cubicBezTo>
                  <a:cubicBezTo>
                    <a:pt x="1465" y="1072"/>
                    <a:pt x="1549" y="989"/>
                    <a:pt x="1549" y="906"/>
                  </a:cubicBezTo>
                  <a:lnTo>
                    <a:pt x="1549" y="572"/>
                  </a:lnTo>
                  <a:cubicBezTo>
                    <a:pt x="1549" y="263"/>
                    <a:pt x="1287" y="1"/>
                    <a:pt x="965" y="1"/>
                  </a:cubicBezTo>
                  <a:close/>
                </a:path>
              </a:pathLst>
            </a:custGeom>
            <a:grpFill/>
            <a:ln>
              <a:solidFill>
                <a:srgbClr val="000000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" name="Right Arrow 10">
            <a:extLst>
              <a:ext uri="{FF2B5EF4-FFF2-40B4-BE49-F238E27FC236}">
                <a16:creationId xmlns:a16="http://schemas.microsoft.com/office/drawing/2014/main" id="{0A7E4C83-A2C4-9ED5-9DBC-A2167CF8F831}"/>
              </a:ext>
            </a:extLst>
          </p:cNvPr>
          <p:cNvSpPr/>
          <p:nvPr/>
        </p:nvSpPr>
        <p:spPr>
          <a:xfrm rot="5400000" flipV="1">
            <a:off x="3986928" y="2870878"/>
            <a:ext cx="1097778" cy="278852"/>
          </a:xfrm>
          <a:prstGeom prst="rightArrow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itel 1">
            <a:extLst>
              <a:ext uri="{FF2B5EF4-FFF2-40B4-BE49-F238E27FC236}">
                <a16:creationId xmlns:a16="http://schemas.microsoft.com/office/drawing/2014/main" id="{5D251638-7C23-FAB1-A273-F94191D6AE3B}"/>
              </a:ext>
            </a:extLst>
          </p:cNvPr>
          <p:cNvSpPr txBox="1">
            <a:spLocks/>
          </p:cNvSpPr>
          <p:nvPr/>
        </p:nvSpPr>
        <p:spPr>
          <a:xfrm>
            <a:off x="3471838" y="3703058"/>
            <a:ext cx="1904082" cy="67821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ts val="2500"/>
              </a:lnSpc>
              <a:spcBef>
                <a:spcPct val="0"/>
              </a:spcBef>
              <a:buNone/>
              <a:defRPr sz="23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de-CH" sz="1400" dirty="0" err="1"/>
              <a:t>DksA</a:t>
            </a:r>
            <a:r>
              <a:rPr lang="de-CH" sz="1400" dirty="0"/>
              <a:t> and (p)</a:t>
            </a:r>
            <a:r>
              <a:rPr lang="de-CH" sz="1400" dirty="0" err="1"/>
              <a:t>ppGpp</a:t>
            </a:r>
            <a:r>
              <a:rPr lang="de-CH" sz="1400" dirty="0"/>
              <a:t> </a:t>
            </a:r>
            <a:r>
              <a:rPr lang="de-CH" sz="1400" b="0" dirty="0" err="1"/>
              <a:t>act</a:t>
            </a:r>
            <a:r>
              <a:rPr lang="de-CH" sz="1400" b="0" dirty="0"/>
              <a:t> </a:t>
            </a:r>
            <a:r>
              <a:rPr lang="de-CH" sz="1400" b="0" dirty="0" err="1"/>
              <a:t>together</a:t>
            </a:r>
            <a:r>
              <a:rPr lang="de-CH" sz="1400" b="0" dirty="0"/>
              <a:t> on </a:t>
            </a:r>
            <a:r>
              <a:rPr lang="de-CH" sz="1400" dirty="0"/>
              <a:t>RNAP</a:t>
            </a:r>
            <a:r>
              <a:rPr lang="de-CH" sz="1400" b="0" dirty="0"/>
              <a:t>.</a:t>
            </a:r>
          </a:p>
          <a:p>
            <a:pPr marL="285750" indent="-285750" algn="ctr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de-CH" sz="1400" b="0" dirty="0"/>
              <a:t>Less </a:t>
            </a:r>
            <a:r>
              <a:rPr lang="de-CH" sz="1400" b="0" dirty="0" err="1"/>
              <a:t>affinity</a:t>
            </a:r>
            <a:r>
              <a:rPr lang="de-CH" sz="1400" b="0" dirty="0"/>
              <a:t> for </a:t>
            </a:r>
            <a:r>
              <a:rPr lang="it-IT" sz="1400" dirty="0"/>
              <a:t>σ</a:t>
            </a:r>
            <a:r>
              <a:rPr lang="it-IT" sz="1400" baseline="30000" dirty="0"/>
              <a:t>70</a:t>
            </a:r>
            <a:r>
              <a:rPr lang="it-IT" sz="1400" dirty="0"/>
              <a:t> </a:t>
            </a:r>
            <a:r>
              <a:rPr lang="de-CH" sz="1400" b="0" dirty="0"/>
              <a:t> </a:t>
            </a:r>
          </a:p>
        </p:txBody>
      </p:sp>
      <p:sp>
        <p:nvSpPr>
          <p:cNvPr id="46" name="Titel 1">
            <a:extLst>
              <a:ext uri="{FF2B5EF4-FFF2-40B4-BE49-F238E27FC236}">
                <a16:creationId xmlns:a16="http://schemas.microsoft.com/office/drawing/2014/main" id="{F08F140C-00E2-4B11-2C74-9C58EDCC4E28}"/>
              </a:ext>
            </a:extLst>
          </p:cNvPr>
          <p:cNvSpPr txBox="1">
            <a:spLocks/>
          </p:cNvSpPr>
          <p:nvPr/>
        </p:nvSpPr>
        <p:spPr>
          <a:xfrm>
            <a:off x="544755" y="3710130"/>
            <a:ext cx="1904082" cy="67821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ts val="2500"/>
              </a:lnSpc>
              <a:spcBef>
                <a:spcPct val="0"/>
              </a:spcBef>
              <a:buNone/>
              <a:defRPr sz="23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it-IT" sz="1400" b="0" dirty="0"/>
              <a:t>In </a:t>
            </a:r>
            <a:r>
              <a:rPr lang="it-IT" sz="1400" b="0" dirty="0" err="1"/>
              <a:t>glucose</a:t>
            </a:r>
            <a:r>
              <a:rPr lang="it-IT" sz="1400" b="0" dirty="0"/>
              <a:t>, </a:t>
            </a:r>
            <a:r>
              <a:rPr lang="it-IT" sz="1400" dirty="0"/>
              <a:t>σ</a:t>
            </a:r>
            <a:r>
              <a:rPr lang="it-IT" sz="1400" baseline="30000" dirty="0"/>
              <a:t>70 </a:t>
            </a:r>
            <a:r>
              <a:rPr lang="it-IT" sz="1400" b="0" dirty="0"/>
              <a:t>handles RNAP to </a:t>
            </a:r>
            <a:r>
              <a:rPr lang="it-IT" sz="1400" dirty="0" err="1"/>
              <a:t>enhance</a:t>
            </a:r>
            <a:r>
              <a:rPr lang="it-IT" sz="1400" dirty="0"/>
              <a:t> </a:t>
            </a:r>
            <a:r>
              <a:rPr lang="it-IT" sz="1400" b="0" dirty="0" err="1"/>
              <a:t>ribosome</a:t>
            </a:r>
            <a:r>
              <a:rPr lang="it-IT" sz="1400" b="0" dirty="0"/>
              <a:t> </a:t>
            </a:r>
            <a:r>
              <a:rPr lang="it-IT" sz="1400" b="0" dirty="0" err="1"/>
              <a:t>synthesis</a:t>
            </a:r>
            <a:r>
              <a:rPr lang="de-CH" sz="1400" b="0" dirty="0"/>
              <a:t> </a:t>
            </a:r>
          </a:p>
        </p:txBody>
      </p:sp>
      <p:sp>
        <p:nvSpPr>
          <p:cNvPr id="48" name="Right Arrow 10">
            <a:extLst>
              <a:ext uri="{FF2B5EF4-FFF2-40B4-BE49-F238E27FC236}">
                <a16:creationId xmlns:a16="http://schemas.microsoft.com/office/drawing/2014/main" id="{D1FE18D7-C806-A307-13E0-78D68E067EE3}"/>
              </a:ext>
            </a:extLst>
          </p:cNvPr>
          <p:cNvSpPr/>
          <p:nvPr/>
        </p:nvSpPr>
        <p:spPr>
          <a:xfrm rot="16200000" flipV="1">
            <a:off x="1231603" y="3312826"/>
            <a:ext cx="545232" cy="230818"/>
          </a:xfrm>
          <a:prstGeom prst="rightArrow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oogle Shape;12185;p86">
            <a:extLst>
              <a:ext uri="{FF2B5EF4-FFF2-40B4-BE49-F238E27FC236}">
                <a16:creationId xmlns:a16="http://schemas.microsoft.com/office/drawing/2014/main" id="{620B67B4-4D37-1278-33F3-BA28FC778751}"/>
              </a:ext>
            </a:extLst>
          </p:cNvPr>
          <p:cNvGrpSpPr/>
          <p:nvPr/>
        </p:nvGrpSpPr>
        <p:grpSpPr>
          <a:xfrm>
            <a:off x="154780" y="3736255"/>
            <a:ext cx="360040" cy="585711"/>
            <a:chOff x="6275635" y="4282651"/>
            <a:chExt cx="209383" cy="366778"/>
          </a:xfrm>
          <a:solidFill>
            <a:srgbClr val="006E6E"/>
          </a:solidFill>
        </p:grpSpPr>
        <p:sp>
          <p:nvSpPr>
            <p:cNvPr id="50" name="Google Shape;12186;p86">
              <a:extLst>
                <a:ext uri="{FF2B5EF4-FFF2-40B4-BE49-F238E27FC236}">
                  <a16:creationId xmlns:a16="http://schemas.microsoft.com/office/drawing/2014/main" id="{321E532F-13D4-4519-9C76-BAE9744317B5}"/>
                </a:ext>
              </a:extLst>
            </p:cNvPr>
            <p:cNvSpPr/>
            <p:nvPr/>
          </p:nvSpPr>
          <p:spPr>
            <a:xfrm>
              <a:off x="6275635" y="4282651"/>
              <a:ext cx="89162" cy="366778"/>
            </a:xfrm>
            <a:custGeom>
              <a:avLst/>
              <a:gdLst/>
              <a:ahLst/>
              <a:cxnLst/>
              <a:rect l="l" t="t" r="r" b="b"/>
              <a:pathLst>
                <a:path w="2799" h="11514" extrusionOk="0">
                  <a:moveTo>
                    <a:pt x="1382" y="1751"/>
                  </a:moveTo>
                  <a:cubicBezTo>
                    <a:pt x="1667" y="1917"/>
                    <a:pt x="1929" y="2084"/>
                    <a:pt x="2132" y="2275"/>
                  </a:cubicBezTo>
                  <a:lnTo>
                    <a:pt x="620" y="2275"/>
                  </a:lnTo>
                  <a:cubicBezTo>
                    <a:pt x="822" y="2084"/>
                    <a:pt x="1084" y="1917"/>
                    <a:pt x="1382" y="1751"/>
                  </a:cubicBezTo>
                  <a:close/>
                  <a:moveTo>
                    <a:pt x="2370" y="2620"/>
                  </a:moveTo>
                  <a:cubicBezTo>
                    <a:pt x="2465" y="2822"/>
                    <a:pt x="2489" y="3048"/>
                    <a:pt x="2382" y="3298"/>
                  </a:cubicBezTo>
                  <a:lnTo>
                    <a:pt x="381" y="3298"/>
                  </a:lnTo>
                  <a:cubicBezTo>
                    <a:pt x="298" y="3084"/>
                    <a:pt x="286" y="2858"/>
                    <a:pt x="381" y="2620"/>
                  </a:cubicBezTo>
                  <a:close/>
                  <a:moveTo>
                    <a:pt x="2144" y="3644"/>
                  </a:moveTo>
                  <a:cubicBezTo>
                    <a:pt x="1953" y="3834"/>
                    <a:pt x="1679" y="4001"/>
                    <a:pt x="1382" y="4168"/>
                  </a:cubicBezTo>
                  <a:cubicBezTo>
                    <a:pt x="1096" y="4001"/>
                    <a:pt x="822" y="3834"/>
                    <a:pt x="620" y="3644"/>
                  </a:cubicBezTo>
                  <a:close/>
                  <a:moveTo>
                    <a:pt x="2441" y="5918"/>
                  </a:moveTo>
                  <a:cubicBezTo>
                    <a:pt x="2334" y="6394"/>
                    <a:pt x="1893" y="6680"/>
                    <a:pt x="1382" y="6966"/>
                  </a:cubicBezTo>
                  <a:cubicBezTo>
                    <a:pt x="881" y="6680"/>
                    <a:pt x="429" y="6394"/>
                    <a:pt x="346" y="5918"/>
                  </a:cubicBezTo>
                  <a:close/>
                  <a:moveTo>
                    <a:pt x="1382" y="7347"/>
                  </a:moveTo>
                  <a:cubicBezTo>
                    <a:pt x="1679" y="7513"/>
                    <a:pt x="1953" y="7680"/>
                    <a:pt x="2144" y="7870"/>
                  </a:cubicBezTo>
                  <a:lnTo>
                    <a:pt x="620" y="7870"/>
                  </a:lnTo>
                  <a:cubicBezTo>
                    <a:pt x="822" y="7680"/>
                    <a:pt x="1096" y="7513"/>
                    <a:pt x="1382" y="7347"/>
                  </a:cubicBezTo>
                  <a:close/>
                  <a:moveTo>
                    <a:pt x="2394" y="8216"/>
                  </a:moveTo>
                  <a:cubicBezTo>
                    <a:pt x="2489" y="8454"/>
                    <a:pt x="2489" y="8680"/>
                    <a:pt x="2382" y="8894"/>
                  </a:cubicBezTo>
                  <a:lnTo>
                    <a:pt x="405" y="8894"/>
                  </a:lnTo>
                  <a:cubicBezTo>
                    <a:pt x="298" y="8656"/>
                    <a:pt x="298" y="8442"/>
                    <a:pt x="405" y="8216"/>
                  </a:cubicBezTo>
                  <a:close/>
                  <a:moveTo>
                    <a:pt x="2132" y="9240"/>
                  </a:moveTo>
                  <a:cubicBezTo>
                    <a:pt x="1929" y="9430"/>
                    <a:pt x="1667" y="9597"/>
                    <a:pt x="1382" y="9764"/>
                  </a:cubicBezTo>
                  <a:cubicBezTo>
                    <a:pt x="1096" y="9597"/>
                    <a:pt x="834" y="9430"/>
                    <a:pt x="620" y="9240"/>
                  </a:cubicBezTo>
                  <a:close/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846"/>
                    <a:pt x="524" y="1251"/>
                    <a:pt x="1072" y="1560"/>
                  </a:cubicBezTo>
                  <a:cubicBezTo>
                    <a:pt x="500" y="1894"/>
                    <a:pt x="0" y="2310"/>
                    <a:pt x="0" y="2965"/>
                  </a:cubicBezTo>
                  <a:cubicBezTo>
                    <a:pt x="0" y="3644"/>
                    <a:pt x="524" y="4049"/>
                    <a:pt x="1072" y="4358"/>
                  </a:cubicBezTo>
                  <a:cubicBezTo>
                    <a:pt x="524" y="4668"/>
                    <a:pt x="0" y="5072"/>
                    <a:pt x="0" y="5763"/>
                  </a:cubicBezTo>
                  <a:cubicBezTo>
                    <a:pt x="0" y="6442"/>
                    <a:pt x="524" y="6847"/>
                    <a:pt x="1072" y="7156"/>
                  </a:cubicBezTo>
                  <a:cubicBezTo>
                    <a:pt x="524" y="7466"/>
                    <a:pt x="0" y="7870"/>
                    <a:pt x="0" y="8549"/>
                  </a:cubicBezTo>
                  <a:cubicBezTo>
                    <a:pt x="0" y="8799"/>
                    <a:pt x="72" y="9002"/>
                    <a:pt x="179" y="9180"/>
                  </a:cubicBezTo>
                  <a:cubicBezTo>
                    <a:pt x="227" y="9240"/>
                    <a:pt x="322" y="9525"/>
                    <a:pt x="1072" y="9954"/>
                  </a:cubicBezTo>
                  <a:cubicBezTo>
                    <a:pt x="524" y="10264"/>
                    <a:pt x="0" y="10668"/>
                    <a:pt x="0" y="11359"/>
                  </a:cubicBezTo>
                  <a:cubicBezTo>
                    <a:pt x="0" y="11442"/>
                    <a:pt x="72" y="11514"/>
                    <a:pt x="167" y="11514"/>
                  </a:cubicBezTo>
                  <a:cubicBezTo>
                    <a:pt x="250" y="11514"/>
                    <a:pt x="322" y="11442"/>
                    <a:pt x="322" y="11359"/>
                  </a:cubicBezTo>
                  <a:cubicBezTo>
                    <a:pt x="322" y="10776"/>
                    <a:pt x="834" y="10466"/>
                    <a:pt x="1393" y="10145"/>
                  </a:cubicBezTo>
                  <a:cubicBezTo>
                    <a:pt x="1965" y="10466"/>
                    <a:pt x="2465" y="10776"/>
                    <a:pt x="2465" y="11359"/>
                  </a:cubicBezTo>
                  <a:cubicBezTo>
                    <a:pt x="2465" y="11442"/>
                    <a:pt x="2548" y="11514"/>
                    <a:pt x="2632" y="11514"/>
                  </a:cubicBezTo>
                  <a:cubicBezTo>
                    <a:pt x="2727" y="11514"/>
                    <a:pt x="2798" y="11442"/>
                    <a:pt x="2798" y="11359"/>
                  </a:cubicBezTo>
                  <a:cubicBezTo>
                    <a:pt x="2798" y="10668"/>
                    <a:pt x="2274" y="10264"/>
                    <a:pt x="1727" y="9954"/>
                  </a:cubicBezTo>
                  <a:cubicBezTo>
                    <a:pt x="2286" y="9633"/>
                    <a:pt x="2798" y="9216"/>
                    <a:pt x="2798" y="8561"/>
                  </a:cubicBezTo>
                  <a:cubicBezTo>
                    <a:pt x="2798" y="7870"/>
                    <a:pt x="2274" y="7466"/>
                    <a:pt x="1727" y="7156"/>
                  </a:cubicBezTo>
                  <a:cubicBezTo>
                    <a:pt x="2274" y="6847"/>
                    <a:pt x="2798" y="6442"/>
                    <a:pt x="2798" y="5763"/>
                  </a:cubicBezTo>
                  <a:cubicBezTo>
                    <a:pt x="2798" y="5608"/>
                    <a:pt x="2763" y="5465"/>
                    <a:pt x="2727" y="5346"/>
                  </a:cubicBezTo>
                  <a:cubicBezTo>
                    <a:pt x="2699" y="5273"/>
                    <a:pt x="2629" y="5227"/>
                    <a:pt x="2560" y="5227"/>
                  </a:cubicBezTo>
                  <a:cubicBezTo>
                    <a:pt x="2539" y="5227"/>
                    <a:pt x="2519" y="5231"/>
                    <a:pt x="2501" y="5239"/>
                  </a:cubicBezTo>
                  <a:cubicBezTo>
                    <a:pt x="2405" y="5263"/>
                    <a:pt x="2370" y="5370"/>
                    <a:pt x="2394" y="5465"/>
                  </a:cubicBezTo>
                  <a:cubicBezTo>
                    <a:pt x="2405" y="5501"/>
                    <a:pt x="2405" y="5549"/>
                    <a:pt x="2405" y="5596"/>
                  </a:cubicBezTo>
                  <a:lnTo>
                    <a:pt x="322" y="5596"/>
                  </a:lnTo>
                  <a:cubicBezTo>
                    <a:pt x="417" y="5132"/>
                    <a:pt x="881" y="4834"/>
                    <a:pt x="1370" y="4549"/>
                  </a:cubicBezTo>
                  <a:cubicBezTo>
                    <a:pt x="1560" y="4656"/>
                    <a:pt x="1774" y="4775"/>
                    <a:pt x="1929" y="4906"/>
                  </a:cubicBezTo>
                  <a:cubicBezTo>
                    <a:pt x="1960" y="4932"/>
                    <a:pt x="1998" y="4944"/>
                    <a:pt x="2035" y="4944"/>
                  </a:cubicBezTo>
                  <a:cubicBezTo>
                    <a:pt x="2084" y="4944"/>
                    <a:pt x="2134" y="4923"/>
                    <a:pt x="2167" y="4882"/>
                  </a:cubicBezTo>
                  <a:cubicBezTo>
                    <a:pt x="2227" y="4811"/>
                    <a:pt x="2215" y="4703"/>
                    <a:pt x="2144" y="4644"/>
                  </a:cubicBezTo>
                  <a:cubicBezTo>
                    <a:pt x="2001" y="4537"/>
                    <a:pt x="1858" y="4453"/>
                    <a:pt x="1703" y="4358"/>
                  </a:cubicBezTo>
                  <a:cubicBezTo>
                    <a:pt x="2263" y="4049"/>
                    <a:pt x="2775" y="3644"/>
                    <a:pt x="2775" y="2965"/>
                  </a:cubicBezTo>
                  <a:cubicBezTo>
                    <a:pt x="2775" y="2727"/>
                    <a:pt x="2703" y="2513"/>
                    <a:pt x="2596" y="2334"/>
                  </a:cubicBezTo>
                  <a:cubicBezTo>
                    <a:pt x="2560" y="2275"/>
                    <a:pt x="2441" y="1989"/>
                    <a:pt x="1703" y="1560"/>
                  </a:cubicBezTo>
                  <a:cubicBezTo>
                    <a:pt x="2263" y="1239"/>
                    <a:pt x="2798" y="846"/>
                    <a:pt x="2798" y="167"/>
                  </a:cubicBezTo>
                  <a:cubicBezTo>
                    <a:pt x="2798" y="72"/>
                    <a:pt x="2727" y="0"/>
                    <a:pt x="2632" y="0"/>
                  </a:cubicBezTo>
                  <a:cubicBezTo>
                    <a:pt x="2548" y="0"/>
                    <a:pt x="2465" y="72"/>
                    <a:pt x="2465" y="167"/>
                  </a:cubicBezTo>
                  <a:cubicBezTo>
                    <a:pt x="2465" y="739"/>
                    <a:pt x="1965" y="1060"/>
                    <a:pt x="1393" y="1370"/>
                  </a:cubicBezTo>
                  <a:cubicBezTo>
                    <a:pt x="834" y="1060"/>
                    <a:pt x="322" y="727"/>
                    <a:pt x="322" y="167"/>
                  </a:cubicBezTo>
                  <a:cubicBezTo>
                    <a:pt x="322" y="72"/>
                    <a:pt x="250" y="0"/>
                    <a:pt x="1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2187;p86">
              <a:extLst>
                <a:ext uri="{FF2B5EF4-FFF2-40B4-BE49-F238E27FC236}">
                  <a16:creationId xmlns:a16="http://schemas.microsoft.com/office/drawing/2014/main" id="{51616EE4-54F3-01A7-60D1-4638F6E9EE49}"/>
                </a:ext>
              </a:extLst>
            </p:cNvPr>
            <p:cNvSpPr/>
            <p:nvPr/>
          </p:nvSpPr>
          <p:spPr>
            <a:xfrm>
              <a:off x="6395474" y="4282651"/>
              <a:ext cx="89544" cy="366778"/>
            </a:xfrm>
            <a:custGeom>
              <a:avLst/>
              <a:gdLst/>
              <a:ahLst/>
              <a:cxnLst/>
              <a:rect l="l" t="t" r="r" b="b"/>
              <a:pathLst>
                <a:path w="2811" h="11514" extrusionOk="0">
                  <a:moveTo>
                    <a:pt x="2799" y="2906"/>
                  </a:moveTo>
                  <a:cubicBezTo>
                    <a:pt x="2799" y="2912"/>
                    <a:pt x="2802" y="2914"/>
                    <a:pt x="2803" y="2914"/>
                  </a:cubicBezTo>
                  <a:cubicBezTo>
                    <a:pt x="2805" y="2914"/>
                    <a:pt x="2805" y="2912"/>
                    <a:pt x="2799" y="2906"/>
                  </a:cubicBezTo>
                  <a:close/>
                  <a:moveTo>
                    <a:pt x="2453" y="3096"/>
                  </a:moveTo>
                  <a:cubicBezTo>
                    <a:pt x="2382" y="3584"/>
                    <a:pt x="1918" y="3870"/>
                    <a:pt x="1406" y="4168"/>
                  </a:cubicBezTo>
                  <a:cubicBezTo>
                    <a:pt x="882" y="3870"/>
                    <a:pt x="417" y="3584"/>
                    <a:pt x="346" y="3096"/>
                  </a:cubicBezTo>
                  <a:close/>
                  <a:moveTo>
                    <a:pt x="1394" y="4549"/>
                  </a:moveTo>
                  <a:cubicBezTo>
                    <a:pt x="1680" y="4715"/>
                    <a:pt x="1965" y="4882"/>
                    <a:pt x="2156" y="5072"/>
                  </a:cubicBezTo>
                  <a:lnTo>
                    <a:pt x="644" y="5072"/>
                  </a:lnTo>
                  <a:cubicBezTo>
                    <a:pt x="834" y="4882"/>
                    <a:pt x="1120" y="4715"/>
                    <a:pt x="1394" y="4549"/>
                  </a:cubicBezTo>
                  <a:close/>
                  <a:moveTo>
                    <a:pt x="2394" y="5418"/>
                  </a:moveTo>
                  <a:cubicBezTo>
                    <a:pt x="2501" y="5644"/>
                    <a:pt x="2501" y="5858"/>
                    <a:pt x="2394" y="6096"/>
                  </a:cubicBezTo>
                  <a:lnTo>
                    <a:pt x="406" y="6096"/>
                  </a:lnTo>
                  <a:cubicBezTo>
                    <a:pt x="298" y="5858"/>
                    <a:pt x="298" y="5644"/>
                    <a:pt x="406" y="5418"/>
                  </a:cubicBezTo>
                  <a:close/>
                  <a:moveTo>
                    <a:pt x="2156" y="6442"/>
                  </a:moveTo>
                  <a:cubicBezTo>
                    <a:pt x="1965" y="6632"/>
                    <a:pt x="1680" y="6799"/>
                    <a:pt x="1406" y="6966"/>
                  </a:cubicBezTo>
                  <a:cubicBezTo>
                    <a:pt x="1120" y="6799"/>
                    <a:pt x="846" y="6632"/>
                    <a:pt x="644" y="6442"/>
                  </a:cubicBezTo>
                  <a:close/>
                  <a:moveTo>
                    <a:pt x="1406" y="7347"/>
                  </a:moveTo>
                  <a:cubicBezTo>
                    <a:pt x="1906" y="7632"/>
                    <a:pt x="2358" y="7918"/>
                    <a:pt x="2453" y="8382"/>
                  </a:cubicBezTo>
                  <a:lnTo>
                    <a:pt x="358" y="8382"/>
                  </a:lnTo>
                  <a:cubicBezTo>
                    <a:pt x="453" y="7918"/>
                    <a:pt x="906" y="7632"/>
                    <a:pt x="1406" y="7347"/>
                  </a:cubicBezTo>
                  <a:close/>
                  <a:moveTo>
                    <a:pt x="2442" y="8716"/>
                  </a:moveTo>
                  <a:cubicBezTo>
                    <a:pt x="2370" y="9180"/>
                    <a:pt x="1906" y="9478"/>
                    <a:pt x="1406" y="9764"/>
                  </a:cubicBezTo>
                  <a:cubicBezTo>
                    <a:pt x="894" y="9478"/>
                    <a:pt x="429" y="9192"/>
                    <a:pt x="346" y="8716"/>
                  </a:cubicBezTo>
                  <a:close/>
                  <a:moveTo>
                    <a:pt x="179" y="0"/>
                  </a:moveTo>
                  <a:cubicBezTo>
                    <a:pt x="96" y="0"/>
                    <a:pt x="13" y="72"/>
                    <a:pt x="13" y="167"/>
                  </a:cubicBezTo>
                  <a:cubicBezTo>
                    <a:pt x="13" y="858"/>
                    <a:pt x="548" y="1251"/>
                    <a:pt x="1084" y="1560"/>
                  </a:cubicBezTo>
                  <a:cubicBezTo>
                    <a:pt x="953" y="1632"/>
                    <a:pt x="834" y="1715"/>
                    <a:pt x="715" y="1786"/>
                  </a:cubicBezTo>
                  <a:cubicBezTo>
                    <a:pt x="584" y="1870"/>
                    <a:pt x="656" y="2096"/>
                    <a:pt x="822" y="2096"/>
                  </a:cubicBezTo>
                  <a:cubicBezTo>
                    <a:pt x="906" y="2096"/>
                    <a:pt x="870" y="2072"/>
                    <a:pt x="1430" y="1751"/>
                  </a:cubicBezTo>
                  <a:cubicBezTo>
                    <a:pt x="1918" y="2036"/>
                    <a:pt x="2370" y="2310"/>
                    <a:pt x="2477" y="2751"/>
                  </a:cubicBezTo>
                  <a:lnTo>
                    <a:pt x="406" y="2751"/>
                  </a:lnTo>
                  <a:cubicBezTo>
                    <a:pt x="417" y="2703"/>
                    <a:pt x="417" y="2644"/>
                    <a:pt x="429" y="2608"/>
                  </a:cubicBezTo>
                  <a:cubicBezTo>
                    <a:pt x="477" y="2513"/>
                    <a:pt x="429" y="2429"/>
                    <a:pt x="346" y="2382"/>
                  </a:cubicBezTo>
                  <a:cubicBezTo>
                    <a:pt x="320" y="2369"/>
                    <a:pt x="295" y="2363"/>
                    <a:pt x="271" y="2363"/>
                  </a:cubicBezTo>
                  <a:cubicBezTo>
                    <a:pt x="208" y="2363"/>
                    <a:pt x="154" y="2404"/>
                    <a:pt x="120" y="2465"/>
                  </a:cubicBezTo>
                  <a:cubicBezTo>
                    <a:pt x="60" y="2608"/>
                    <a:pt x="36" y="2751"/>
                    <a:pt x="13" y="2917"/>
                  </a:cubicBezTo>
                  <a:lnTo>
                    <a:pt x="13" y="2929"/>
                  </a:lnTo>
                  <a:cubicBezTo>
                    <a:pt x="1" y="3620"/>
                    <a:pt x="489" y="4013"/>
                    <a:pt x="1084" y="4358"/>
                  </a:cubicBezTo>
                  <a:cubicBezTo>
                    <a:pt x="537" y="4668"/>
                    <a:pt x="13" y="5072"/>
                    <a:pt x="13" y="5763"/>
                  </a:cubicBezTo>
                  <a:cubicBezTo>
                    <a:pt x="13" y="6442"/>
                    <a:pt x="537" y="6847"/>
                    <a:pt x="1084" y="7156"/>
                  </a:cubicBezTo>
                  <a:cubicBezTo>
                    <a:pt x="513" y="7501"/>
                    <a:pt x="13" y="7882"/>
                    <a:pt x="13" y="8561"/>
                  </a:cubicBezTo>
                  <a:cubicBezTo>
                    <a:pt x="13" y="9240"/>
                    <a:pt x="537" y="9644"/>
                    <a:pt x="1084" y="9954"/>
                  </a:cubicBezTo>
                  <a:cubicBezTo>
                    <a:pt x="537" y="10264"/>
                    <a:pt x="13" y="10668"/>
                    <a:pt x="13" y="11359"/>
                  </a:cubicBezTo>
                  <a:cubicBezTo>
                    <a:pt x="13" y="11442"/>
                    <a:pt x="96" y="11514"/>
                    <a:pt x="179" y="11514"/>
                  </a:cubicBezTo>
                  <a:cubicBezTo>
                    <a:pt x="275" y="11514"/>
                    <a:pt x="346" y="11442"/>
                    <a:pt x="346" y="11359"/>
                  </a:cubicBezTo>
                  <a:cubicBezTo>
                    <a:pt x="346" y="10776"/>
                    <a:pt x="846" y="10466"/>
                    <a:pt x="1418" y="10145"/>
                  </a:cubicBezTo>
                  <a:cubicBezTo>
                    <a:pt x="1977" y="10466"/>
                    <a:pt x="2489" y="10776"/>
                    <a:pt x="2489" y="11359"/>
                  </a:cubicBezTo>
                  <a:cubicBezTo>
                    <a:pt x="2489" y="11442"/>
                    <a:pt x="2561" y="11514"/>
                    <a:pt x="2656" y="11514"/>
                  </a:cubicBezTo>
                  <a:cubicBezTo>
                    <a:pt x="2739" y="11514"/>
                    <a:pt x="2811" y="11442"/>
                    <a:pt x="2811" y="11359"/>
                  </a:cubicBezTo>
                  <a:cubicBezTo>
                    <a:pt x="2811" y="10668"/>
                    <a:pt x="2299" y="10264"/>
                    <a:pt x="1739" y="9954"/>
                  </a:cubicBezTo>
                  <a:cubicBezTo>
                    <a:pt x="2322" y="9609"/>
                    <a:pt x="2811" y="9228"/>
                    <a:pt x="2811" y="8537"/>
                  </a:cubicBezTo>
                  <a:cubicBezTo>
                    <a:pt x="2811" y="7859"/>
                    <a:pt x="2299" y="7466"/>
                    <a:pt x="1739" y="7144"/>
                  </a:cubicBezTo>
                  <a:cubicBezTo>
                    <a:pt x="2299" y="6835"/>
                    <a:pt x="2811" y="6430"/>
                    <a:pt x="2811" y="5739"/>
                  </a:cubicBezTo>
                  <a:cubicBezTo>
                    <a:pt x="2811" y="5061"/>
                    <a:pt x="2299" y="4656"/>
                    <a:pt x="1739" y="4346"/>
                  </a:cubicBezTo>
                  <a:cubicBezTo>
                    <a:pt x="2358" y="4001"/>
                    <a:pt x="2799" y="3632"/>
                    <a:pt x="2799" y="2906"/>
                  </a:cubicBezTo>
                  <a:cubicBezTo>
                    <a:pt x="2775" y="2251"/>
                    <a:pt x="2263" y="1870"/>
                    <a:pt x="1739" y="1560"/>
                  </a:cubicBezTo>
                  <a:cubicBezTo>
                    <a:pt x="2299" y="1251"/>
                    <a:pt x="2811" y="846"/>
                    <a:pt x="2811" y="167"/>
                  </a:cubicBezTo>
                  <a:cubicBezTo>
                    <a:pt x="2811" y="72"/>
                    <a:pt x="2739" y="0"/>
                    <a:pt x="2656" y="0"/>
                  </a:cubicBezTo>
                  <a:cubicBezTo>
                    <a:pt x="2561" y="0"/>
                    <a:pt x="2489" y="72"/>
                    <a:pt x="2489" y="167"/>
                  </a:cubicBezTo>
                  <a:cubicBezTo>
                    <a:pt x="2489" y="739"/>
                    <a:pt x="1977" y="1060"/>
                    <a:pt x="1418" y="1370"/>
                  </a:cubicBezTo>
                  <a:cubicBezTo>
                    <a:pt x="846" y="1060"/>
                    <a:pt x="346" y="727"/>
                    <a:pt x="346" y="167"/>
                  </a:cubicBezTo>
                  <a:cubicBezTo>
                    <a:pt x="346" y="72"/>
                    <a:pt x="275" y="0"/>
                    <a:pt x="1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" name="Titel 1">
            <a:extLst>
              <a:ext uri="{FF2B5EF4-FFF2-40B4-BE49-F238E27FC236}">
                <a16:creationId xmlns:a16="http://schemas.microsoft.com/office/drawing/2014/main" id="{05E25990-B260-6196-A97E-996BD5FFA9D7}"/>
              </a:ext>
            </a:extLst>
          </p:cNvPr>
          <p:cNvSpPr txBox="1">
            <a:spLocks/>
          </p:cNvSpPr>
          <p:nvPr/>
        </p:nvSpPr>
        <p:spPr>
          <a:xfrm>
            <a:off x="6219309" y="5323979"/>
            <a:ext cx="1904082" cy="9001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ts val="2500"/>
              </a:lnSpc>
              <a:spcBef>
                <a:spcPct val="0"/>
              </a:spcBef>
              <a:buNone/>
              <a:defRPr sz="23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it-IT" sz="1400" dirty="0" err="1"/>
              <a:t>σ</a:t>
            </a:r>
            <a:r>
              <a:rPr lang="it-IT" sz="1400" baseline="30000" dirty="0" err="1"/>
              <a:t>s</a:t>
            </a:r>
            <a:r>
              <a:rPr lang="it-IT" sz="1400" b="0" dirty="0"/>
              <a:t>  </a:t>
            </a:r>
            <a:r>
              <a:rPr lang="it-IT" sz="1400" b="0" dirty="0" err="1"/>
              <a:t>forces</a:t>
            </a:r>
            <a:r>
              <a:rPr lang="it-IT" sz="1400" b="0" dirty="0"/>
              <a:t> the RNAP to </a:t>
            </a:r>
            <a:r>
              <a:rPr lang="it-IT" sz="1400" b="0" dirty="0" err="1"/>
              <a:t>transcribe</a:t>
            </a:r>
            <a:r>
              <a:rPr lang="it-IT" sz="1400" b="0" dirty="0"/>
              <a:t> </a:t>
            </a:r>
            <a:r>
              <a:rPr lang="it-IT" sz="1400" b="0" dirty="0" err="1"/>
              <a:t>genes</a:t>
            </a:r>
            <a:r>
              <a:rPr lang="it-IT" sz="1400" b="0" dirty="0"/>
              <a:t> </a:t>
            </a:r>
            <a:r>
              <a:rPr lang="it-IT" sz="1400" dirty="0" err="1"/>
              <a:t>dedicated</a:t>
            </a:r>
            <a:r>
              <a:rPr lang="it-IT" sz="1400" dirty="0"/>
              <a:t> to survival.</a:t>
            </a:r>
            <a:endParaRPr lang="de-CH" sz="1400" b="0" i="1" dirty="0"/>
          </a:p>
        </p:txBody>
      </p:sp>
      <p:sp>
        <p:nvSpPr>
          <p:cNvPr id="56" name="Titel 1">
            <a:extLst>
              <a:ext uri="{FF2B5EF4-FFF2-40B4-BE49-F238E27FC236}">
                <a16:creationId xmlns:a16="http://schemas.microsoft.com/office/drawing/2014/main" id="{5DDD99B2-6979-F02E-F733-AAD6613E271B}"/>
              </a:ext>
            </a:extLst>
          </p:cNvPr>
          <p:cNvSpPr txBox="1">
            <a:spLocks/>
          </p:cNvSpPr>
          <p:nvPr/>
        </p:nvSpPr>
        <p:spPr>
          <a:xfrm>
            <a:off x="10238016" y="5463273"/>
            <a:ext cx="1409296" cy="7994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ts val="2500"/>
              </a:lnSpc>
              <a:spcBef>
                <a:spcPct val="0"/>
              </a:spcBef>
              <a:buNone/>
              <a:defRPr sz="23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it-IT" sz="1400" b="0" dirty="0"/>
              <a:t>The gene </a:t>
            </a:r>
            <a:r>
              <a:rPr lang="it-IT" sz="1400" b="0" i="1" dirty="0" err="1"/>
              <a:t>rpoS</a:t>
            </a:r>
            <a:r>
              <a:rPr lang="it-IT" sz="1400" b="0" i="1" dirty="0"/>
              <a:t> </a:t>
            </a:r>
            <a:r>
              <a:rPr lang="it-IT" sz="1400" b="0" dirty="0" err="1"/>
              <a:t>produces</a:t>
            </a:r>
            <a:r>
              <a:rPr lang="it-IT" sz="1400" b="0" dirty="0"/>
              <a:t> </a:t>
            </a:r>
            <a:r>
              <a:rPr lang="it-IT" sz="1400" b="0" dirty="0" err="1"/>
              <a:t>its</a:t>
            </a:r>
            <a:r>
              <a:rPr lang="it-IT" sz="1400" b="0" dirty="0"/>
              <a:t> </a:t>
            </a:r>
            <a:r>
              <a:rPr lang="it-IT" sz="1400" b="0" dirty="0" err="1"/>
              <a:t>own</a:t>
            </a:r>
            <a:r>
              <a:rPr lang="it-IT" sz="1400" b="0" dirty="0"/>
              <a:t> </a:t>
            </a:r>
            <a:r>
              <a:rPr lang="it-IT" sz="1400" b="0" dirty="0" err="1"/>
              <a:t>protein</a:t>
            </a:r>
            <a:r>
              <a:rPr lang="it-IT" sz="1400" b="0" dirty="0"/>
              <a:t> </a:t>
            </a:r>
            <a:r>
              <a:rPr lang="it-IT" sz="1400" dirty="0" err="1"/>
              <a:t>σ</a:t>
            </a:r>
            <a:r>
              <a:rPr lang="it-IT" sz="1400" baseline="30000" dirty="0" err="1"/>
              <a:t>s</a:t>
            </a:r>
            <a:r>
              <a:rPr lang="it-IT" sz="1400" dirty="0"/>
              <a:t>.</a:t>
            </a:r>
            <a:endParaRPr lang="de-CH" sz="1400" b="0" dirty="0"/>
          </a:p>
        </p:txBody>
      </p:sp>
      <p:sp>
        <p:nvSpPr>
          <p:cNvPr id="58" name="Right Arrow 10">
            <a:extLst>
              <a:ext uri="{FF2B5EF4-FFF2-40B4-BE49-F238E27FC236}">
                <a16:creationId xmlns:a16="http://schemas.microsoft.com/office/drawing/2014/main" id="{066620CD-0252-DF34-6FE4-93924564A142}"/>
              </a:ext>
            </a:extLst>
          </p:cNvPr>
          <p:cNvSpPr/>
          <p:nvPr/>
        </p:nvSpPr>
        <p:spPr>
          <a:xfrm flipH="1" flipV="1">
            <a:off x="8275340" y="5599531"/>
            <a:ext cx="1709091" cy="308713"/>
          </a:xfrm>
          <a:prstGeom prst="rightArrow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ight Arrow 10">
            <a:extLst>
              <a:ext uri="{FF2B5EF4-FFF2-40B4-BE49-F238E27FC236}">
                <a16:creationId xmlns:a16="http://schemas.microsoft.com/office/drawing/2014/main" id="{C5A0DA35-C5AE-ACBC-F579-D36494D7C1ED}"/>
              </a:ext>
            </a:extLst>
          </p:cNvPr>
          <p:cNvSpPr/>
          <p:nvPr/>
        </p:nvSpPr>
        <p:spPr>
          <a:xfrm flipV="1">
            <a:off x="5453559" y="3875551"/>
            <a:ext cx="708818" cy="269914"/>
          </a:xfrm>
          <a:prstGeom prst="rightArrow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itel 1">
            <a:extLst>
              <a:ext uri="{FF2B5EF4-FFF2-40B4-BE49-F238E27FC236}">
                <a16:creationId xmlns:a16="http://schemas.microsoft.com/office/drawing/2014/main" id="{50F108F7-0062-B49F-E023-548CAC7C04A1}"/>
              </a:ext>
            </a:extLst>
          </p:cNvPr>
          <p:cNvSpPr txBox="1">
            <a:spLocks/>
          </p:cNvSpPr>
          <p:nvPr/>
        </p:nvSpPr>
        <p:spPr>
          <a:xfrm>
            <a:off x="6240016" y="3722266"/>
            <a:ext cx="1904082" cy="9001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ts val="2500"/>
              </a:lnSpc>
              <a:spcBef>
                <a:spcPct val="0"/>
              </a:spcBef>
              <a:buNone/>
              <a:defRPr sz="23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it-IT" sz="1400" dirty="0" err="1"/>
              <a:t>σ</a:t>
            </a:r>
            <a:r>
              <a:rPr lang="it-IT" sz="1400" baseline="30000" dirty="0" err="1"/>
              <a:t>s</a:t>
            </a:r>
            <a:r>
              <a:rPr lang="it-IT" sz="1400" b="0" dirty="0"/>
              <a:t>  </a:t>
            </a:r>
            <a:r>
              <a:rPr lang="it-IT" sz="1400" b="0" dirty="0" err="1"/>
              <a:t>slows</a:t>
            </a:r>
            <a:r>
              <a:rPr lang="it-IT" sz="1400" b="0" dirty="0"/>
              <a:t> down energy </a:t>
            </a:r>
            <a:r>
              <a:rPr lang="it-IT" sz="1400" b="0" dirty="0" err="1"/>
              <a:t>consumption</a:t>
            </a:r>
            <a:r>
              <a:rPr lang="it-IT" sz="1400" b="0" dirty="0"/>
              <a:t> and </a:t>
            </a:r>
            <a:r>
              <a:rPr lang="it-IT" sz="1400" dirty="0" err="1"/>
              <a:t>growth</a:t>
            </a:r>
            <a:r>
              <a:rPr lang="it-IT" sz="1400" b="0" dirty="0"/>
              <a:t> </a:t>
            </a:r>
            <a:r>
              <a:rPr lang="it-IT" sz="1400" dirty="0"/>
              <a:t>rate drops.</a:t>
            </a:r>
            <a:endParaRPr lang="de-CH" sz="1400" i="1" dirty="0"/>
          </a:p>
        </p:txBody>
      </p:sp>
      <p:sp>
        <p:nvSpPr>
          <p:cNvPr id="64" name="Right Arrow 10">
            <a:extLst>
              <a:ext uri="{FF2B5EF4-FFF2-40B4-BE49-F238E27FC236}">
                <a16:creationId xmlns:a16="http://schemas.microsoft.com/office/drawing/2014/main" id="{D308AE6C-E454-CC39-91D6-A138B3C70E95}"/>
              </a:ext>
            </a:extLst>
          </p:cNvPr>
          <p:cNvSpPr/>
          <p:nvPr/>
        </p:nvSpPr>
        <p:spPr>
          <a:xfrm rot="19211131">
            <a:off x="5262498" y="2809224"/>
            <a:ext cx="1913622" cy="317975"/>
          </a:xfrm>
          <a:prstGeom prst="rightArrow">
            <a:avLst/>
          </a:prstGeom>
          <a:solidFill>
            <a:srgbClr val="A5D7D2"/>
          </a:solidFill>
          <a:ln>
            <a:solidFill>
              <a:srgbClr val="006E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itel 1">
            <a:extLst>
              <a:ext uri="{FF2B5EF4-FFF2-40B4-BE49-F238E27FC236}">
                <a16:creationId xmlns:a16="http://schemas.microsoft.com/office/drawing/2014/main" id="{A606F2BF-5023-1FD1-6B80-2ADFC3DBB027}"/>
              </a:ext>
            </a:extLst>
          </p:cNvPr>
          <p:cNvSpPr txBox="1">
            <a:spLocks/>
          </p:cNvSpPr>
          <p:nvPr/>
        </p:nvSpPr>
        <p:spPr>
          <a:xfrm>
            <a:off x="6927180" y="1729727"/>
            <a:ext cx="1904082" cy="67820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ts val="2500"/>
              </a:lnSpc>
              <a:spcBef>
                <a:spcPct val="0"/>
              </a:spcBef>
              <a:buNone/>
              <a:defRPr sz="23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it-IT" sz="1400" b="0" dirty="0"/>
              <a:t>+ </a:t>
            </a:r>
            <a:r>
              <a:rPr lang="it-IT" sz="1400" dirty="0" err="1"/>
              <a:t>optimzing</a:t>
            </a:r>
            <a:r>
              <a:rPr lang="it-IT" sz="1400" b="0" dirty="0"/>
              <a:t> the </a:t>
            </a:r>
            <a:r>
              <a:rPr lang="it-IT" sz="1400" b="0" dirty="0" err="1"/>
              <a:t>adaptation</a:t>
            </a:r>
            <a:r>
              <a:rPr lang="it-IT" sz="1400" b="0" dirty="0"/>
              <a:t> in the new </a:t>
            </a:r>
            <a:r>
              <a:rPr lang="it-IT" sz="1400" b="0" dirty="0" err="1"/>
              <a:t>growth</a:t>
            </a:r>
            <a:r>
              <a:rPr lang="it-IT" sz="1400" b="0" dirty="0"/>
              <a:t> media</a:t>
            </a:r>
            <a:endParaRPr lang="de-CH" sz="1400" b="0" dirty="0"/>
          </a:p>
        </p:txBody>
      </p:sp>
      <p:sp>
        <p:nvSpPr>
          <p:cNvPr id="70" name="Titel 1">
            <a:extLst>
              <a:ext uri="{FF2B5EF4-FFF2-40B4-BE49-F238E27FC236}">
                <a16:creationId xmlns:a16="http://schemas.microsoft.com/office/drawing/2014/main" id="{D0D2B76D-601A-1C7E-4AA7-A5E421C67D2A}"/>
              </a:ext>
            </a:extLst>
          </p:cNvPr>
          <p:cNvSpPr txBox="1">
            <a:spLocks/>
          </p:cNvSpPr>
          <p:nvPr/>
        </p:nvSpPr>
        <p:spPr>
          <a:xfrm>
            <a:off x="10162708" y="3793335"/>
            <a:ext cx="1609578" cy="497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ts val="2500"/>
              </a:lnSpc>
              <a:spcBef>
                <a:spcPct val="0"/>
              </a:spcBef>
              <a:buNone/>
              <a:defRPr sz="23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it-IT" sz="1400" b="0" i="1" dirty="0" err="1"/>
              <a:t>rssB</a:t>
            </a:r>
            <a:r>
              <a:rPr lang="it-IT" sz="1400" b="0" i="1" dirty="0"/>
              <a:t> </a:t>
            </a:r>
            <a:r>
              <a:rPr lang="it-IT" sz="1400" b="0" dirty="0" err="1"/>
              <a:t>sends</a:t>
            </a:r>
            <a:r>
              <a:rPr lang="it-IT" sz="1400" b="0" dirty="0"/>
              <a:t> </a:t>
            </a:r>
            <a:r>
              <a:rPr lang="it-IT" sz="1400" dirty="0" err="1"/>
              <a:t>σ</a:t>
            </a:r>
            <a:r>
              <a:rPr lang="it-IT" sz="1400" baseline="30000" dirty="0" err="1"/>
              <a:t>s</a:t>
            </a:r>
            <a:r>
              <a:rPr lang="it-IT" sz="1400" baseline="30000" dirty="0"/>
              <a:t> </a:t>
            </a:r>
            <a:r>
              <a:rPr lang="it-IT" sz="1400" b="0" dirty="0"/>
              <a:t>to the </a:t>
            </a:r>
            <a:r>
              <a:rPr lang="it-IT" sz="1400" b="0" dirty="0" err="1"/>
              <a:t>protease</a:t>
            </a:r>
            <a:r>
              <a:rPr lang="it-IT" sz="1400" b="0" dirty="0"/>
              <a:t> </a:t>
            </a:r>
            <a:r>
              <a:rPr lang="it-IT" sz="1400" b="0" dirty="0" err="1"/>
              <a:t>ClpXP</a:t>
            </a:r>
            <a:endParaRPr lang="de-CH" sz="1400" b="0" i="1" dirty="0"/>
          </a:p>
        </p:txBody>
      </p:sp>
      <p:sp>
        <p:nvSpPr>
          <p:cNvPr id="72" name="Right Arrow 10">
            <a:extLst>
              <a:ext uri="{FF2B5EF4-FFF2-40B4-BE49-F238E27FC236}">
                <a16:creationId xmlns:a16="http://schemas.microsoft.com/office/drawing/2014/main" id="{7EEFAB80-AE32-3CA8-96C3-5C24BE02017A}"/>
              </a:ext>
            </a:extLst>
          </p:cNvPr>
          <p:cNvSpPr/>
          <p:nvPr/>
        </p:nvSpPr>
        <p:spPr>
          <a:xfrm flipV="1">
            <a:off x="8317641" y="3914280"/>
            <a:ext cx="1473775" cy="269914"/>
          </a:xfrm>
          <a:prstGeom prst="rightArrow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Freccia angolare in su 73">
            <a:extLst>
              <a:ext uri="{FF2B5EF4-FFF2-40B4-BE49-F238E27FC236}">
                <a16:creationId xmlns:a16="http://schemas.microsoft.com/office/drawing/2014/main" id="{4FF97135-ECBE-C5D4-818C-1D6257359FC9}"/>
              </a:ext>
            </a:extLst>
          </p:cNvPr>
          <p:cNvSpPr/>
          <p:nvPr/>
        </p:nvSpPr>
        <p:spPr>
          <a:xfrm>
            <a:off x="3471838" y="4571785"/>
            <a:ext cx="1161819" cy="1338301"/>
          </a:xfrm>
          <a:prstGeom prst="bentUpArrow">
            <a:avLst>
              <a:gd name="adj1" fmla="val 15005"/>
              <a:gd name="adj2" fmla="val 14632"/>
              <a:gd name="adj3" fmla="val 20820"/>
            </a:avLst>
          </a:prstGeom>
          <a:solidFill>
            <a:srgbClr val="006E6E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 err="1"/>
          </a:p>
        </p:txBody>
      </p:sp>
      <p:sp>
        <p:nvSpPr>
          <p:cNvPr id="76" name="Titel 1">
            <a:extLst>
              <a:ext uri="{FF2B5EF4-FFF2-40B4-BE49-F238E27FC236}">
                <a16:creationId xmlns:a16="http://schemas.microsoft.com/office/drawing/2014/main" id="{E78EB248-EA4C-4BAF-6AE6-2B99CC8D7F03}"/>
              </a:ext>
            </a:extLst>
          </p:cNvPr>
          <p:cNvSpPr txBox="1">
            <a:spLocks/>
          </p:cNvSpPr>
          <p:nvPr/>
        </p:nvSpPr>
        <p:spPr>
          <a:xfrm>
            <a:off x="1098003" y="5463273"/>
            <a:ext cx="2316828" cy="7994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ts val="2500"/>
              </a:lnSpc>
              <a:spcBef>
                <a:spcPct val="0"/>
              </a:spcBef>
              <a:buNone/>
              <a:defRPr sz="23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it-IT" sz="1400" b="0" dirty="0"/>
              <a:t>The gene </a:t>
            </a:r>
            <a:r>
              <a:rPr lang="it-IT" sz="1400" b="0" i="1" dirty="0" err="1"/>
              <a:t>dksA</a:t>
            </a:r>
            <a:r>
              <a:rPr lang="it-IT" sz="1400" b="0" i="1" dirty="0"/>
              <a:t> </a:t>
            </a:r>
            <a:r>
              <a:rPr lang="it-IT" sz="1400" b="0" dirty="0" err="1"/>
              <a:t>produces</a:t>
            </a:r>
            <a:r>
              <a:rPr lang="it-IT" sz="1400" b="0" dirty="0"/>
              <a:t> </a:t>
            </a:r>
            <a:r>
              <a:rPr lang="it-IT" sz="1400" b="0" dirty="0" err="1"/>
              <a:t>its</a:t>
            </a:r>
            <a:r>
              <a:rPr lang="it-IT" sz="1400" b="0" dirty="0"/>
              <a:t> </a:t>
            </a:r>
            <a:r>
              <a:rPr lang="it-IT" sz="1400" b="0" dirty="0" err="1"/>
              <a:t>own</a:t>
            </a:r>
            <a:r>
              <a:rPr lang="it-IT" sz="1400" b="0" dirty="0"/>
              <a:t> </a:t>
            </a:r>
            <a:r>
              <a:rPr lang="it-IT" sz="1400" b="0" dirty="0" err="1"/>
              <a:t>regulatory</a:t>
            </a:r>
            <a:r>
              <a:rPr lang="it-IT" sz="1400" b="0" dirty="0"/>
              <a:t> </a:t>
            </a:r>
            <a:r>
              <a:rPr lang="it-IT" sz="1400" b="0" dirty="0" err="1"/>
              <a:t>protein</a:t>
            </a:r>
            <a:r>
              <a:rPr lang="it-IT" sz="1400" b="0" dirty="0"/>
              <a:t> </a:t>
            </a:r>
            <a:r>
              <a:rPr lang="it-IT" sz="1400" dirty="0" err="1"/>
              <a:t>DksA</a:t>
            </a:r>
            <a:r>
              <a:rPr lang="it-IT" sz="1400" dirty="0"/>
              <a:t>.</a:t>
            </a:r>
            <a:endParaRPr lang="de-CH" sz="1400" b="0" dirty="0"/>
          </a:p>
        </p:txBody>
      </p:sp>
      <p:sp>
        <p:nvSpPr>
          <p:cNvPr id="78" name="Right Arrow 10">
            <a:extLst>
              <a:ext uri="{FF2B5EF4-FFF2-40B4-BE49-F238E27FC236}">
                <a16:creationId xmlns:a16="http://schemas.microsoft.com/office/drawing/2014/main" id="{97D0E473-2F87-9F6C-8B73-EEB06469ED81}"/>
              </a:ext>
            </a:extLst>
          </p:cNvPr>
          <p:cNvSpPr/>
          <p:nvPr/>
        </p:nvSpPr>
        <p:spPr>
          <a:xfrm rot="16200000" flipV="1">
            <a:off x="10370899" y="4726380"/>
            <a:ext cx="1119873" cy="313612"/>
          </a:xfrm>
          <a:prstGeom prst="rightArrow">
            <a:avLst/>
          </a:prstGeom>
          <a:solidFill>
            <a:srgbClr val="C00000"/>
          </a:solidFill>
          <a:ln>
            <a:solidFill>
              <a:srgbClr val="006E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itel 1">
            <a:extLst>
              <a:ext uri="{FF2B5EF4-FFF2-40B4-BE49-F238E27FC236}">
                <a16:creationId xmlns:a16="http://schemas.microsoft.com/office/drawing/2014/main" id="{83F0337A-1BC4-5AF1-C0B9-21C835DDF54A}"/>
              </a:ext>
            </a:extLst>
          </p:cNvPr>
          <p:cNvSpPr txBox="1">
            <a:spLocks/>
          </p:cNvSpPr>
          <p:nvPr/>
        </p:nvSpPr>
        <p:spPr>
          <a:xfrm>
            <a:off x="11098304" y="4690130"/>
            <a:ext cx="1090813" cy="45006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ts val="2500"/>
              </a:lnSpc>
              <a:spcBef>
                <a:spcPct val="0"/>
              </a:spcBef>
              <a:buNone/>
              <a:defRPr sz="23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it-IT" sz="1400" i="1" dirty="0" err="1">
                <a:solidFill>
                  <a:srgbClr val="C00000"/>
                </a:solidFill>
              </a:rPr>
              <a:t>rssB</a:t>
            </a:r>
            <a:r>
              <a:rPr lang="it-IT" sz="1400" b="0" i="1" dirty="0">
                <a:solidFill>
                  <a:srgbClr val="C00000"/>
                </a:solidFill>
              </a:rPr>
              <a:t> </a:t>
            </a:r>
            <a:r>
              <a:rPr lang="it-IT" sz="1400" dirty="0" err="1">
                <a:solidFill>
                  <a:srgbClr val="C00000"/>
                </a:solidFill>
              </a:rPr>
              <a:t>duplication</a:t>
            </a:r>
            <a:endParaRPr lang="de-CH" sz="1400" i="1" dirty="0">
              <a:solidFill>
                <a:srgbClr val="C00000"/>
              </a:solidFill>
            </a:endParaRPr>
          </a:p>
        </p:txBody>
      </p:sp>
      <p:sp>
        <p:nvSpPr>
          <p:cNvPr id="82" name="Segno di moltiplicazione 81">
            <a:extLst>
              <a:ext uri="{FF2B5EF4-FFF2-40B4-BE49-F238E27FC236}">
                <a16:creationId xmlns:a16="http://schemas.microsoft.com/office/drawing/2014/main" id="{8C46242A-1CEB-9FC8-2F2A-EE005DBE6673}"/>
              </a:ext>
            </a:extLst>
          </p:cNvPr>
          <p:cNvSpPr/>
          <p:nvPr/>
        </p:nvSpPr>
        <p:spPr>
          <a:xfrm>
            <a:off x="3911969" y="5337175"/>
            <a:ext cx="1049345" cy="952530"/>
          </a:xfrm>
          <a:prstGeom prst="mathMultiply">
            <a:avLst/>
          </a:prstGeom>
          <a:solidFill>
            <a:srgbClr val="C00000"/>
          </a:solidFill>
          <a:ln>
            <a:solidFill>
              <a:srgbClr val="006E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 err="1"/>
          </a:p>
        </p:txBody>
      </p:sp>
      <p:sp>
        <p:nvSpPr>
          <p:cNvPr id="84" name="Titel 1">
            <a:extLst>
              <a:ext uri="{FF2B5EF4-FFF2-40B4-BE49-F238E27FC236}">
                <a16:creationId xmlns:a16="http://schemas.microsoft.com/office/drawing/2014/main" id="{A4CD2DFC-46BE-386C-FBDB-246AD002CB4E}"/>
              </a:ext>
            </a:extLst>
          </p:cNvPr>
          <p:cNvSpPr txBox="1">
            <a:spLocks/>
          </p:cNvSpPr>
          <p:nvPr/>
        </p:nvSpPr>
        <p:spPr>
          <a:xfrm>
            <a:off x="3117994" y="5083654"/>
            <a:ext cx="1090813" cy="26991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ts val="2500"/>
              </a:lnSpc>
              <a:spcBef>
                <a:spcPct val="0"/>
              </a:spcBef>
              <a:buNone/>
              <a:defRPr sz="23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it-IT" sz="1400" i="1" dirty="0" err="1">
                <a:solidFill>
                  <a:srgbClr val="C00000"/>
                </a:solidFill>
              </a:rPr>
              <a:t>dksA</a:t>
            </a:r>
            <a:r>
              <a:rPr lang="it-IT" sz="1400" b="0" i="1" dirty="0">
                <a:solidFill>
                  <a:srgbClr val="C00000"/>
                </a:solidFill>
              </a:rPr>
              <a:t> </a:t>
            </a:r>
            <a:r>
              <a:rPr lang="it-IT" sz="1400" dirty="0">
                <a:solidFill>
                  <a:srgbClr val="C00000"/>
                </a:solidFill>
              </a:rPr>
              <a:t>SNV</a:t>
            </a:r>
            <a:endParaRPr lang="de-CH" sz="1400" i="1" dirty="0">
              <a:solidFill>
                <a:srgbClr val="C00000"/>
              </a:solidFill>
            </a:endParaRPr>
          </a:p>
        </p:txBody>
      </p:sp>
      <p:sp>
        <p:nvSpPr>
          <p:cNvPr id="86" name="Segno di moltiplicazione 85">
            <a:extLst>
              <a:ext uri="{FF2B5EF4-FFF2-40B4-BE49-F238E27FC236}">
                <a16:creationId xmlns:a16="http://schemas.microsoft.com/office/drawing/2014/main" id="{30AEAA27-9FEC-2896-48C9-928FE9F011E4}"/>
              </a:ext>
            </a:extLst>
          </p:cNvPr>
          <p:cNvSpPr/>
          <p:nvPr/>
        </p:nvSpPr>
        <p:spPr>
          <a:xfrm>
            <a:off x="8691533" y="5236486"/>
            <a:ext cx="1049345" cy="952530"/>
          </a:xfrm>
          <a:prstGeom prst="mathMultiply">
            <a:avLst/>
          </a:prstGeom>
          <a:solidFill>
            <a:srgbClr val="C00000"/>
          </a:solidFill>
          <a:ln>
            <a:solidFill>
              <a:srgbClr val="006E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 err="1"/>
          </a:p>
        </p:txBody>
      </p:sp>
      <p:sp>
        <p:nvSpPr>
          <p:cNvPr id="88" name="Titel 1">
            <a:extLst>
              <a:ext uri="{FF2B5EF4-FFF2-40B4-BE49-F238E27FC236}">
                <a16:creationId xmlns:a16="http://schemas.microsoft.com/office/drawing/2014/main" id="{98F9E2EC-3325-B8C0-BB8F-89619D8D70FE}"/>
              </a:ext>
            </a:extLst>
          </p:cNvPr>
          <p:cNvSpPr txBox="1">
            <a:spLocks/>
          </p:cNvSpPr>
          <p:nvPr/>
        </p:nvSpPr>
        <p:spPr>
          <a:xfrm>
            <a:off x="8634283" y="5143932"/>
            <a:ext cx="1090813" cy="26991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ts val="2500"/>
              </a:lnSpc>
              <a:spcBef>
                <a:spcPct val="0"/>
              </a:spcBef>
              <a:buNone/>
              <a:defRPr sz="23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it-IT" sz="1400" i="1" dirty="0" err="1">
                <a:solidFill>
                  <a:srgbClr val="C00000"/>
                </a:solidFill>
              </a:rPr>
              <a:t>rpoS</a:t>
            </a:r>
            <a:r>
              <a:rPr lang="it-IT" sz="1400" b="0" i="1" dirty="0">
                <a:solidFill>
                  <a:srgbClr val="C00000"/>
                </a:solidFill>
              </a:rPr>
              <a:t> </a:t>
            </a:r>
            <a:r>
              <a:rPr lang="it-IT" sz="1400" dirty="0">
                <a:solidFill>
                  <a:srgbClr val="C00000"/>
                </a:solidFill>
              </a:rPr>
              <a:t>SNV</a:t>
            </a:r>
            <a:endParaRPr lang="de-CH" sz="1400" i="1" dirty="0">
              <a:solidFill>
                <a:srgbClr val="C00000"/>
              </a:solidFill>
            </a:endParaRPr>
          </a:p>
        </p:txBody>
      </p:sp>
      <p:sp>
        <p:nvSpPr>
          <p:cNvPr id="92" name="Google Shape;12761;p87">
            <a:extLst>
              <a:ext uri="{FF2B5EF4-FFF2-40B4-BE49-F238E27FC236}">
                <a16:creationId xmlns:a16="http://schemas.microsoft.com/office/drawing/2014/main" id="{25ACF9BB-326F-E01B-ABBC-7F02D2106063}"/>
              </a:ext>
            </a:extLst>
          </p:cNvPr>
          <p:cNvSpPr/>
          <p:nvPr/>
        </p:nvSpPr>
        <p:spPr>
          <a:xfrm>
            <a:off x="570103" y="5520409"/>
            <a:ext cx="558663" cy="526838"/>
          </a:xfrm>
          <a:custGeom>
            <a:avLst/>
            <a:gdLst/>
            <a:ahLst/>
            <a:cxnLst/>
            <a:rect l="l" t="t" r="r" b="b"/>
            <a:pathLst>
              <a:path w="13038" h="11907" extrusionOk="0">
                <a:moveTo>
                  <a:pt x="6632" y="369"/>
                </a:moveTo>
                <a:cubicBezTo>
                  <a:pt x="6680" y="369"/>
                  <a:pt x="6704" y="405"/>
                  <a:pt x="6704" y="441"/>
                </a:cubicBezTo>
                <a:lnTo>
                  <a:pt x="6704" y="881"/>
                </a:lnTo>
                <a:cubicBezTo>
                  <a:pt x="6644" y="864"/>
                  <a:pt x="6582" y="855"/>
                  <a:pt x="6519" y="855"/>
                </a:cubicBezTo>
                <a:cubicBezTo>
                  <a:pt x="6457" y="855"/>
                  <a:pt x="6394" y="864"/>
                  <a:pt x="6335" y="881"/>
                </a:cubicBezTo>
                <a:lnTo>
                  <a:pt x="6335" y="441"/>
                </a:lnTo>
                <a:lnTo>
                  <a:pt x="6323" y="441"/>
                </a:lnTo>
                <a:cubicBezTo>
                  <a:pt x="6323" y="405"/>
                  <a:pt x="6347" y="369"/>
                  <a:pt x="6394" y="369"/>
                </a:cubicBezTo>
                <a:close/>
                <a:moveTo>
                  <a:pt x="6501" y="1251"/>
                </a:moveTo>
                <a:cubicBezTo>
                  <a:pt x="7061" y="1251"/>
                  <a:pt x="7275" y="2013"/>
                  <a:pt x="6763" y="2286"/>
                </a:cubicBezTo>
                <a:cubicBezTo>
                  <a:pt x="6692" y="2322"/>
                  <a:pt x="6585" y="2346"/>
                  <a:pt x="6501" y="2346"/>
                </a:cubicBezTo>
                <a:cubicBezTo>
                  <a:pt x="6204" y="2346"/>
                  <a:pt x="5954" y="2096"/>
                  <a:pt x="5954" y="1798"/>
                </a:cubicBezTo>
                <a:cubicBezTo>
                  <a:pt x="5954" y="1489"/>
                  <a:pt x="6204" y="1251"/>
                  <a:pt x="6501" y="1251"/>
                </a:cubicBezTo>
                <a:close/>
                <a:moveTo>
                  <a:pt x="2382" y="2429"/>
                </a:moveTo>
                <a:cubicBezTo>
                  <a:pt x="2560" y="2429"/>
                  <a:pt x="2703" y="2572"/>
                  <a:pt x="2703" y="2751"/>
                </a:cubicBezTo>
                <a:cubicBezTo>
                  <a:pt x="2703" y="2929"/>
                  <a:pt x="2560" y="3084"/>
                  <a:pt x="2382" y="3084"/>
                </a:cubicBezTo>
                <a:cubicBezTo>
                  <a:pt x="2215" y="3084"/>
                  <a:pt x="2048" y="2941"/>
                  <a:pt x="2048" y="2751"/>
                </a:cubicBezTo>
                <a:cubicBezTo>
                  <a:pt x="2048" y="2560"/>
                  <a:pt x="2203" y="2429"/>
                  <a:pt x="2382" y="2429"/>
                </a:cubicBezTo>
                <a:close/>
                <a:moveTo>
                  <a:pt x="10657" y="2429"/>
                </a:moveTo>
                <a:cubicBezTo>
                  <a:pt x="10835" y="2429"/>
                  <a:pt x="10978" y="2572"/>
                  <a:pt x="10978" y="2751"/>
                </a:cubicBezTo>
                <a:cubicBezTo>
                  <a:pt x="10978" y="2929"/>
                  <a:pt x="10835" y="3084"/>
                  <a:pt x="10657" y="3084"/>
                </a:cubicBezTo>
                <a:cubicBezTo>
                  <a:pt x="10478" y="3084"/>
                  <a:pt x="10323" y="2941"/>
                  <a:pt x="10323" y="2751"/>
                </a:cubicBezTo>
                <a:cubicBezTo>
                  <a:pt x="10323" y="2560"/>
                  <a:pt x="10478" y="2429"/>
                  <a:pt x="10657" y="2429"/>
                </a:cubicBezTo>
                <a:close/>
                <a:moveTo>
                  <a:pt x="2477" y="3441"/>
                </a:moveTo>
                <a:lnTo>
                  <a:pt x="3715" y="6025"/>
                </a:lnTo>
                <a:lnTo>
                  <a:pt x="1024" y="6025"/>
                </a:lnTo>
                <a:lnTo>
                  <a:pt x="2239" y="3441"/>
                </a:lnTo>
                <a:cubicBezTo>
                  <a:pt x="2275" y="3447"/>
                  <a:pt x="2316" y="3450"/>
                  <a:pt x="2358" y="3450"/>
                </a:cubicBezTo>
                <a:cubicBezTo>
                  <a:pt x="2400" y="3450"/>
                  <a:pt x="2441" y="3447"/>
                  <a:pt x="2477" y="3441"/>
                </a:cubicBezTo>
                <a:close/>
                <a:moveTo>
                  <a:pt x="10776" y="3441"/>
                </a:moveTo>
                <a:lnTo>
                  <a:pt x="11990" y="6025"/>
                </a:lnTo>
                <a:lnTo>
                  <a:pt x="9299" y="6025"/>
                </a:lnTo>
                <a:lnTo>
                  <a:pt x="10538" y="3441"/>
                </a:lnTo>
                <a:cubicBezTo>
                  <a:pt x="10573" y="3447"/>
                  <a:pt x="10612" y="3450"/>
                  <a:pt x="10652" y="3450"/>
                </a:cubicBezTo>
                <a:cubicBezTo>
                  <a:pt x="10692" y="3450"/>
                  <a:pt x="10734" y="3447"/>
                  <a:pt x="10776" y="3441"/>
                </a:cubicBezTo>
                <a:close/>
                <a:moveTo>
                  <a:pt x="4251" y="6418"/>
                </a:moveTo>
                <a:cubicBezTo>
                  <a:pt x="4322" y="6418"/>
                  <a:pt x="4382" y="6477"/>
                  <a:pt x="4382" y="6549"/>
                </a:cubicBezTo>
                <a:lnTo>
                  <a:pt x="4382" y="6668"/>
                </a:lnTo>
                <a:cubicBezTo>
                  <a:pt x="4382" y="6739"/>
                  <a:pt x="4322" y="6799"/>
                  <a:pt x="4251" y="6799"/>
                </a:cubicBezTo>
                <a:lnTo>
                  <a:pt x="501" y="6799"/>
                </a:lnTo>
                <a:cubicBezTo>
                  <a:pt x="429" y="6799"/>
                  <a:pt x="370" y="6739"/>
                  <a:pt x="370" y="6668"/>
                </a:cubicBezTo>
                <a:lnTo>
                  <a:pt x="370" y="6549"/>
                </a:lnTo>
                <a:cubicBezTo>
                  <a:pt x="370" y="6477"/>
                  <a:pt x="429" y="6418"/>
                  <a:pt x="501" y="6418"/>
                </a:cubicBezTo>
                <a:close/>
                <a:moveTo>
                  <a:pt x="12526" y="6418"/>
                </a:moveTo>
                <a:cubicBezTo>
                  <a:pt x="12597" y="6418"/>
                  <a:pt x="12657" y="6477"/>
                  <a:pt x="12657" y="6549"/>
                </a:cubicBezTo>
                <a:lnTo>
                  <a:pt x="12657" y="6668"/>
                </a:lnTo>
                <a:cubicBezTo>
                  <a:pt x="12657" y="6739"/>
                  <a:pt x="12597" y="6799"/>
                  <a:pt x="12526" y="6799"/>
                </a:cubicBezTo>
                <a:lnTo>
                  <a:pt x="8775" y="6799"/>
                </a:lnTo>
                <a:cubicBezTo>
                  <a:pt x="8704" y="6799"/>
                  <a:pt x="8644" y="6739"/>
                  <a:pt x="8644" y="6668"/>
                </a:cubicBezTo>
                <a:lnTo>
                  <a:pt x="8644" y="6549"/>
                </a:lnTo>
                <a:cubicBezTo>
                  <a:pt x="8644" y="6477"/>
                  <a:pt x="8704" y="6418"/>
                  <a:pt x="8775" y="6418"/>
                </a:cubicBezTo>
                <a:close/>
                <a:moveTo>
                  <a:pt x="3715" y="7168"/>
                </a:moveTo>
                <a:cubicBezTo>
                  <a:pt x="3525" y="7787"/>
                  <a:pt x="2953" y="8228"/>
                  <a:pt x="2298" y="8228"/>
                </a:cubicBezTo>
                <a:cubicBezTo>
                  <a:pt x="1644" y="8228"/>
                  <a:pt x="1084" y="7799"/>
                  <a:pt x="905" y="7168"/>
                </a:cubicBezTo>
                <a:close/>
                <a:moveTo>
                  <a:pt x="12145" y="7168"/>
                </a:moveTo>
                <a:cubicBezTo>
                  <a:pt x="11942" y="7787"/>
                  <a:pt x="11383" y="8228"/>
                  <a:pt x="10728" y="8228"/>
                </a:cubicBezTo>
                <a:cubicBezTo>
                  <a:pt x="10073" y="8228"/>
                  <a:pt x="9502" y="7799"/>
                  <a:pt x="9323" y="7168"/>
                </a:cubicBezTo>
                <a:close/>
                <a:moveTo>
                  <a:pt x="7942" y="10371"/>
                </a:moveTo>
                <a:cubicBezTo>
                  <a:pt x="8013" y="10371"/>
                  <a:pt x="8073" y="10430"/>
                  <a:pt x="8073" y="10502"/>
                </a:cubicBezTo>
                <a:lnTo>
                  <a:pt x="8073" y="10764"/>
                </a:lnTo>
                <a:lnTo>
                  <a:pt x="4918" y="10764"/>
                </a:lnTo>
                <a:lnTo>
                  <a:pt x="4918" y="10502"/>
                </a:lnTo>
                <a:cubicBezTo>
                  <a:pt x="4918" y="10430"/>
                  <a:pt x="4977" y="10371"/>
                  <a:pt x="5049" y="10371"/>
                </a:cubicBezTo>
                <a:close/>
                <a:moveTo>
                  <a:pt x="6382" y="0"/>
                </a:moveTo>
                <a:cubicBezTo>
                  <a:pt x="6132" y="0"/>
                  <a:pt x="5930" y="203"/>
                  <a:pt x="5930" y="441"/>
                </a:cubicBezTo>
                <a:lnTo>
                  <a:pt x="5930" y="1060"/>
                </a:lnTo>
                <a:cubicBezTo>
                  <a:pt x="5692" y="1251"/>
                  <a:pt x="5549" y="1536"/>
                  <a:pt x="5561" y="1858"/>
                </a:cubicBezTo>
                <a:lnTo>
                  <a:pt x="3703" y="2370"/>
                </a:lnTo>
                <a:cubicBezTo>
                  <a:pt x="3477" y="2429"/>
                  <a:pt x="3251" y="2465"/>
                  <a:pt x="3037" y="2501"/>
                </a:cubicBezTo>
                <a:cubicBezTo>
                  <a:pt x="2929" y="2227"/>
                  <a:pt x="2679" y="2036"/>
                  <a:pt x="2382" y="2036"/>
                </a:cubicBezTo>
                <a:cubicBezTo>
                  <a:pt x="1989" y="2036"/>
                  <a:pt x="1679" y="2346"/>
                  <a:pt x="1679" y="2739"/>
                </a:cubicBezTo>
                <a:cubicBezTo>
                  <a:pt x="1679" y="2941"/>
                  <a:pt x="1763" y="3132"/>
                  <a:pt x="1917" y="3275"/>
                </a:cubicBezTo>
                <a:lnTo>
                  <a:pt x="608" y="6025"/>
                </a:lnTo>
                <a:lnTo>
                  <a:pt x="501" y="6025"/>
                </a:lnTo>
                <a:cubicBezTo>
                  <a:pt x="215" y="6025"/>
                  <a:pt x="1" y="6251"/>
                  <a:pt x="1" y="6525"/>
                </a:cubicBezTo>
                <a:lnTo>
                  <a:pt x="1" y="6644"/>
                </a:lnTo>
                <a:cubicBezTo>
                  <a:pt x="1" y="6930"/>
                  <a:pt x="215" y="7156"/>
                  <a:pt x="501" y="7156"/>
                </a:cubicBezTo>
                <a:cubicBezTo>
                  <a:pt x="691" y="7989"/>
                  <a:pt x="1441" y="8585"/>
                  <a:pt x="2298" y="8585"/>
                </a:cubicBezTo>
                <a:cubicBezTo>
                  <a:pt x="3168" y="8585"/>
                  <a:pt x="3906" y="7978"/>
                  <a:pt x="4108" y="7156"/>
                </a:cubicBezTo>
                <a:lnTo>
                  <a:pt x="4251" y="7156"/>
                </a:lnTo>
                <a:cubicBezTo>
                  <a:pt x="4537" y="7156"/>
                  <a:pt x="4763" y="6930"/>
                  <a:pt x="4763" y="6644"/>
                </a:cubicBezTo>
                <a:lnTo>
                  <a:pt x="4763" y="6525"/>
                </a:lnTo>
                <a:cubicBezTo>
                  <a:pt x="4763" y="6251"/>
                  <a:pt x="4537" y="6025"/>
                  <a:pt x="4251" y="6025"/>
                </a:cubicBezTo>
                <a:lnTo>
                  <a:pt x="4144" y="6025"/>
                </a:lnTo>
                <a:lnTo>
                  <a:pt x="2834" y="3275"/>
                </a:lnTo>
                <a:cubicBezTo>
                  <a:pt x="2953" y="3167"/>
                  <a:pt x="3037" y="3036"/>
                  <a:pt x="3060" y="2870"/>
                </a:cubicBezTo>
                <a:cubicBezTo>
                  <a:pt x="3310" y="2846"/>
                  <a:pt x="3549" y="2798"/>
                  <a:pt x="3787" y="2727"/>
                </a:cubicBezTo>
                <a:lnTo>
                  <a:pt x="5656" y="2215"/>
                </a:lnTo>
                <a:cubicBezTo>
                  <a:pt x="5716" y="2346"/>
                  <a:pt x="5811" y="2453"/>
                  <a:pt x="5918" y="2548"/>
                </a:cubicBezTo>
                <a:lnTo>
                  <a:pt x="5918" y="10002"/>
                </a:lnTo>
                <a:lnTo>
                  <a:pt x="5037" y="10002"/>
                </a:lnTo>
                <a:cubicBezTo>
                  <a:pt x="4763" y="10002"/>
                  <a:pt x="4537" y="10228"/>
                  <a:pt x="4537" y="10502"/>
                </a:cubicBezTo>
                <a:lnTo>
                  <a:pt x="4537" y="10776"/>
                </a:lnTo>
                <a:cubicBezTo>
                  <a:pt x="4299" y="10823"/>
                  <a:pt x="4120" y="11026"/>
                  <a:pt x="4120" y="11276"/>
                </a:cubicBezTo>
                <a:lnTo>
                  <a:pt x="4120" y="11395"/>
                </a:lnTo>
                <a:cubicBezTo>
                  <a:pt x="4120" y="11680"/>
                  <a:pt x="4346" y="11907"/>
                  <a:pt x="4620" y="11907"/>
                </a:cubicBezTo>
                <a:lnTo>
                  <a:pt x="6049" y="11907"/>
                </a:lnTo>
                <a:cubicBezTo>
                  <a:pt x="6156" y="11907"/>
                  <a:pt x="6251" y="11811"/>
                  <a:pt x="6251" y="11704"/>
                </a:cubicBezTo>
                <a:cubicBezTo>
                  <a:pt x="6251" y="11609"/>
                  <a:pt x="6156" y="11514"/>
                  <a:pt x="6049" y="11514"/>
                </a:cubicBezTo>
                <a:lnTo>
                  <a:pt x="4620" y="11514"/>
                </a:lnTo>
                <a:cubicBezTo>
                  <a:pt x="4549" y="11514"/>
                  <a:pt x="4489" y="11454"/>
                  <a:pt x="4489" y="11383"/>
                </a:cubicBezTo>
                <a:lnTo>
                  <a:pt x="4489" y="11264"/>
                </a:lnTo>
                <a:cubicBezTo>
                  <a:pt x="4489" y="11192"/>
                  <a:pt x="4549" y="11133"/>
                  <a:pt x="4620" y="11133"/>
                </a:cubicBezTo>
                <a:lnTo>
                  <a:pt x="8371" y="11133"/>
                </a:lnTo>
                <a:cubicBezTo>
                  <a:pt x="8454" y="11133"/>
                  <a:pt x="8513" y="11192"/>
                  <a:pt x="8513" y="11264"/>
                </a:cubicBezTo>
                <a:lnTo>
                  <a:pt x="8513" y="11383"/>
                </a:lnTo>
                <a:cubicBezTo>
                  <a:pt x="8513" y="11454"/>
                  <a:pt x="8454" y="11514"/>
                  <a:pt x="8371" y="11514"/>
                </a:cubicBezTo>
                <a:lnTo>
                  <a:pt x="6930" y="11514"/>
                </a:lnTo>
                <a:cubicBezTo>
                  <a:pt x="6823" y="11514"/>
                  <a:pt x="6739" y="11609"/>
                  <a:pt x="6739" y="11704"/>
                </a:cubicBezTo>
                <a:cubicBezTo>
                  <a:pt x="6739" y="11811"/>
                  <a:pt x="6823" y="11907"/>
                  <a:pt x="6930" y="11907"/>
                </a:cubicBezTo>
                <a:lnTo>
                  <a:pt x="8371" y="11907"/>
                </a:lnTo>
                <a:cubicBezTo>
                  <a:pt x="8656" y="11907"/>
                  <a:pt x="8883" y="11680"/>
                  <a:pt x="8883" y="11395"/>
                </a:cubicBezTo>
                <a:lnTo>
                  <a:pt x="8883" y="11276"/>
                </a:lnTo>
                <a:cubicBezTo>
                  <a:pt x="8883" y="11026"/>
                  <a:pt x="8692" y="10799"/>
                  <a:pt x="8454" y="10776"/>
                </a:cubicBezTo>
                <a:lnTo>
                  <a:pt x="8454" y="10502"/>
                </a:lnTo>
                <a:cubicBezTo>
                  <a:pt x="8454" y="10228"/>
                  <a:pt x="8228" y="10002"/>
                  <a:pt x="7942" y="10002"/>
                </a:cubicBezTo>
                <a:lnTo>
                  <a:pt x="7061" y="10002"/>
                </a:lnTo>
                <a:lnTo>
                  <a:pt x="7061" y="7049"/>
                </a:lnTo>
                <a:cubicBezTo>
                  <a:pt x="7061" y="6954"/>
                  <a:pt x="6978" y="6858"/>
                  <a:pt x="6870" y="6858"/>
                </a:cubicBezTo>
                <a:cubicBezTo>
                  <a:pt x="6763" y="6858"/>
                  <a:pt x="6680" y="6954"/>
                  <a:pt x="6680" y="7049"/>
                </a:cubicBezTo>
                <a:lnTo>
                  <a:pt x="6680" y="10002"/>
                </a:lnTo>
                <a:lnTo>
                  <a:pt x="6311" y="10002"/>
                </a:lnTo>
                <a:lnTo>
                  <a:pt x="6311" y="2727"/>
                </a:lnTo>
                <a:cubicBezTo>
                  <a:pt x="6370" y="2739"/>
                  <a:pt x="6430" y="2745"/>
                  <a:pt x="6491" y="2745"/>
                </a:cubicBezTo>
                <a:cubicBezTo>
                  <a:pt x="6552" y="2745"/>
                  <a:pt x="6614" y="2739"/>
                  <a:pt x="6680" y="2727"/>
                </a:cubicBezTo>
                <a:lnTo>
                  <a:pt x="6680" y="6156"/>
                </a:lnTo>
                <a:cubicBezTo>
                  <a:pt x="6680" y="6263"/>
                  <a:pt x="6763" y="6358"/>
                  <a:pt x="6870" y="6358"/>
                </a:cubicBezTo>
                <a:cubicBezTo>
                  <a:pt x="6978" y="6358"/>
                  <a:pt x="7061" y="6263"/>
                  <a:pt x="7061" y="6156"/>
                </a:cubicBezTo>
                <a:lnTo>
                  <a:pt x="7061" y="2548"/>
                </a:lnTo>
                <a:cubicBezTo>
                  <a:pt x="7180" y="2453"/>
                  <a:pt x="7275" y="2346"/>
                  <a:pt x="7335" y="2215"/>
                </a:cubicBezTo>
                <a:lnTo>
                  <a:pt x="9228" y="2739"/>
                </a:lnTo>
                <a:cubicBezTo>
                  <a:pt x="9466" y="2798"/>
                  <a:pt x="9716" y="2858"/>
                  <a:pt x="9954" y="2882"/>
                </a:cubicBezTo>
                <a:cubicBezTo>
                  <a:pt x="9978" y="3048"/>
                  <a:pt x="10073" y="3179"/>
                  <a:pt x="10180" y="3287"/>
                </a:cubicBezTo>
                <a:lnTo>
                  <a:pt x="8871" y="6037"/>
                </a:lnTo>
                <a:lnTo>
                  <a:pt x="8764" y="6037"/>
                </a:lnTo>
                <a:cubicBezTo>
                  <a:pt x="8478" y="6037"/>
                  <a:pt x="8252" y="6263"/>
                  <a:pt x="8252" y="6549"/>
                </a:cubicBezTo>
                <a:lnTo>
                  <a:pt x="8252" y="6668"/>
                </a:lnTo>
                <a:cubicBezTo>
                  <a:pt x="8252" y="6954"/>
                  <a:pt x="8478" y="7168"/>
                  <a:pt x="8764" y="7168"/>
                </a:cubicBezTo>
                <a:lnTo>
                  <a:pt x="8906" y="7168"/>
                </a:lnTo>
                <a:cubicBezTo>
                  <a:pt x="9109" y="8001"/>
                  <a:pt x="9847" y="8597"/>
                  <a:pt x="10716" y="8597"/>
                </a:cubicBezTo>
                <a:cubicBezTo>
                  <a:pt x="11573" y="8597"/>
                  <a:pt x="12323" y="7989"/>
                  <a:pt x="12514" y="7168"/>
                </a:cubicBezTo>
                <a:cubicBezTo>
                  <a:pt x="12800" y="7168"/>
                  <a:pt x="13014" y="6954"/>
                  <a:pt x="13014" y="6668"/>
                </a:cubicBezTo>
                <a:lnTo>
                  <a:pt x="13014" y="6549"/>
                </a:lnTo>
                <a:cubicBezTo>
                  <a:pt x="13038" y="6263"/>
                  <a:pt x="12812" y="6025"/>
                  <a:pt x="12526" y="6025"/>
                </a:cubicBezTo>
                <a:lnTo>
                  <a:pt x="12419" y="6025"/>
                </a:lnTo>
                <a:lnTo>
                  <a:pt x="11109" y="3275"/>
                </a:lnTo>
                <a:cubicBezTo>
                  <a:pt x="11264" y="3144"/>
                  <a:pt x="11347" y="2965"/>
                  <a:pt x="11347" y="2739"/>
                </a:cubicBezTo>
                <a:cubicBezTo>
                  <a:pt x="11347" y="2346"/>
                  <a:pt x="11038" y="2036"/>
                  <a:pt x="10657" y="2036"/>
                </a:cubicBezTo>
                <a:cubicBezTo>
                  <a:pt x="10359" y="2036"/>
                  <a:pt x="10097" y="2227"/>
                  <a:pt x="10002" y="2501"/>
                </a:cubicBezTo>
                <a:cubicBezTo>
                  <a:pt x="9776" y="2465"/>
                  <a:pt x="9549" y="2429"/>
                  <a:pt x="9323" y="2370"/>
                </a:cubicBezTo>
                <a:lnTo>
                  <a:pt x="7442" y="1846"/>
                </a:lnTo>
                <a:cubicBezTo>
                  <a:pt x="7454" y="1536"/>
                  <a:pt x="7323" y="1239"/>
                  <a:pt x="7061" y="1060"/>
                </a:cubicBezTo>
                <a:lnTo>
                  <a:pt x="7061" y="441"/>
                </a:lnTo>
                <a:cubicBezTo>
                  <a:pt x="7061" y="191"/>
                  <a:pt x="6859" y="0"/>
                  <a:pt x="6620" y="0"/>
                </a:cubicBezTo>
                <a:close/>
              </a:path>
            </a:pathLst>
          </a:custGeom>
          <a:solidFill>
            <a:srgbClr val="006E6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3" name="Google Shape;11810;p85">
            <a:extLst>
              <a:ext uri="{FF2B5EF4-FFF2-40B4-BE49-F238E27FC236}">
                <a16:creationId xmlns:a16="http://schemas.microsoft.com/office/drawing/2014/main" id="{FC64BD22-12EF-4C5B-7C4E-0A92C1BC0DB7}"/>
              </a:ext>
            </a:extLst>
          </p:cNvPr>
          <p:cNvGrpSpPr/>
          <p:nvPr/>
        </p:nvGrpSpPr>
        <p:grpSpPr>
          <a:xfrm>
            <a:off x="10656993" y="3184281"/>
            <a:ext cx="475546" cy="497655"/>
            <a:chOff x="6421399" y="2308227"/>
            <a:chExt cx="263567" cy="317614"/>
          </a:xfrm>
          <a:solidFill>
            <a:schemeClr val="tx2"/>
          </a:solidFill>
        </p:grpSpPr>
        <p:sp>
          <p:nvSpPr>
            <p:cNvPr id="94" name="Google Shape;11811;p85">
              <a:extLst>
                <a:ext uri="{FF2B5EF4-FFF2-40B4-BE49-F238E27FC236}">
                  <a16:creationId xmlns:a16="http://schemas.microsoft.com/office/drawing/2014/main" id="{A36620B0-9C51-3BDC-A699-51996D71949D}"/>
                </a:ext>
              </a:extLst>
            </p:cNvPr>
            <p:cNvSpPr/>
            <p:nvPr/>
          </p:nvSpPr>
          <p:spPr>
            <a:xfrm>
              <a:off x="6421399" y="2308227"/>
              <a:ext cx="263567" cy="317614"/>
            </a:xfrm>
            <a:custGeom>
              <a:avLst/>
              <a:gdLst/>
              <a:ahLst/>
              <a:cxnLst/>
              <a:rect l="l" t="t" r="r" b="b"/>
              <a:pathLst>
                <a:path w="8300" h="10002" extrusionOk="0">
                  <a:moveTo>
                    <a:pt x="4192" y="298"/>
                  </a:moveTo>
                  <a:cubicBezTo>
                    <a:pt x="4501" y="298"/>
                    <a:pt x="4775" y="513"/>
                    <a:pt x="4835" y="810"/>
                  </a:cubicBezTo>
                  <a:lnTo>
                    <a:pt x="3430" y="810"/>
                  </a:lnTo>
                  <a:cubicBezTo>
                    <a:pt x="3513" y="513"/>
                    <a:pt x="3775" y="298"/>
                    <a:pt x="4085" y="298"/>
                  </a:cubicBezTo>
                  <a:close/>
                  <a:moveTo>
                    <a:pt x="5918" y="1108"/>
                  </a:moveTo>
                  <a:cubicBezTo>
                    <a:pt x="6275" y="1108"/>
                    <a:pt x="6585" y="1275"/>
                    <a:pt x="6799" y="1560"/>
                  </a:cubicBezTo>
                  <a:lnTo>
                    <a:pt x="1465" y="1560"/>
                  </a:lnTo>
                  <a:cubicBezTo>
                    <a:pt x="1680" y="1275"/>
                    <a:pt x="1989" y="1108"/>
                    <a:pt x="2346" y="1108"/>
                  </a:cubicBezTo>
                  <a:close/>
                  <a:moveTo>
                    <a:pt x="4085" y="1"/>
                  </a:moveTo>
                  <a:cubicBezTo>
                    <a:pt x="3608" y="1"/>
                    <a:pt x="3215" y="346"/>
                    <a:pt x="3156" y="810"/>
                  </a:cubicBezTo>
                  <a:lnTo>
                    <a:pt x="2346" y="810"/>
                  </a:lnTo>
                  <a:cubicBezTo>
                    <a:pt x="1822" y="810"/>
                    <a:pt x="1370" y="1096"/>
                    <a:pt x="1132" y="1560"/>
                  </a:cubicBezTo>
                  <a:lnTo>
                    <a:pt x="596" y="1560"/>
                  </a:lnTo>
                  <a:cubicBezTo>
                    <a:pt x="263" y="1560"/>
                    <a:pt x="1" y="1822"/>
                    <a:pt x="1" y="2156"/>
                  </a:cubicBezTo>
                  <a:cubicBezTo>
                    <a:pt x="1" y="2477"/>
                    <a:pt x="263" y="2751"/>
                    <a:pt x="596" y="2751"/>
                  </a:cubicBezTo>
                  <a:lnTo>
                    <a:pt x="1013" y="2751"/>
                  </a:lnTo>
                  <a:lnTo>
                    <a:pt x="1370" y="9359"/>
                  </a:lnTo>
                  <a:cubicBezTo>
                    <a:pt x="1382" y="9716"/>
                    <a:pt x="1680" y="10002"/>
                    <a:pt x="2037" y="10002"/>
                  </a:cubicBezTo>
                  <a:lnTo>
                    <a:pt x="4466" y="10002"/>
                  </a:lnTo>
                  <a:cubicBezTo>
                    <a:pt x="4537" y="10002"/>
                    <a:pt x="4609" y="9942"/>
                    <a:pt x="4609" y="9847"/>
                  </a:cubicBezTo>
                  <a:cubicBezTo>
                    <a:pt x="4609" y="9752"/>
                    <a:pt x="4549" y="9704"/>
                    <a:pt x="4466" y="9704"/>
                  </a:cubicBezTo>
                  <a:lnTo>
                    <a:pt x="2037" y="9704"/>
                  </a:lnTo>
                  <a:cubicBezTo>
                    <a:pt x="1822" y="9704"/>
                    <a:pt x="1668" y="9538"/>
                    <a:pt x="1644" y="9347"/>
                  </a:cubicBezTo>
                  <a:lnTo>
                    <a:pt x="1287" y="2751"/>
                  </a:lnTo>
                  <a:lnTo>
                    <a:pt x="2084" y="2751"/>
                  </a:lnTo>
                  <a:cubicBezTo>
                    <a:pt x="2156" y="2751"/>
                    <a:pt x="2227" y="2692"/>
                    <a:pt x="2227" y="2596"/>
                  </a:cubicBezTo>
                  <a:cubicBezTo>
                    <a:pt x="2227" y="2525"/>
                    <a:pt x="2168" y="2453"/>
                    <a:pt x="2084" y="2453"/>
                  </a:cubicBezTo>
                  <a:lnTo>
                    <a:pt x="596" y="2453"/>
                  </a:lnTo>
                  <a:cubicBezTo>
                    <a:pt x="429" y="2453"/>
                    <a:pt x="298" y="2322"/>
                    <a:pt x="298" y="2156"/>
                  </a:cubicBezTo>
                  <a:cubicBezTo>
                    <a:pt x="298" y="1989"/>
                    <a:pt x="429" y="1858"/>
                    <a:pt x="596" y="1858"/>
                  </a:cubicBezTo>
                  <a:lnTo>
                    <a:pt x="7704" y="1858"/>
                  </a:lnTo>
                  <a:cubicBezTo>
                    <a:pt x="7871" y="1858"/>
                    <a:pt x="8002" y="1989"/>
                    <a:pt x="8002" y="2156"/>
                  </a:cubicBezTo>
                  <a:cubicBezTo>
                    <a:pt x="8002" y="2322"/>
                    <a:pt x="7871" y="2453"/>
                    <a:pt x="7704" y="2453"/>
                  </a:cubicBezTo>
                  <a:lnTo>
                    <a:pt x="2763" y="2453"/>
                  </a:lnTo>
                  <a:cubicBezTo>
                    <a:pt x="2692" y="2453"/>
                    <a:pt x="2620" y="2513"/>
                    <a:pt x="2620" y="2596"/>
                  </a:cubicBezTo>
                  <a:cubicBezTo>
                    <a:pt x="2620" y="2680"/>
                    <a:pt x="2680" y="2751"/>
                    <a:pt x="2763" y="2751"/>
                  </a:cubicBezTo>
                  <a:lnTo>
                    <a:pt x="7002" y="2751"/>
                  </a:lnTo>
                  <a:lnTo>
                    <a:pt x="6633" y="9347"/>
                  </a:lnTo>
                  <a:cubicBezTo>
                    <a:pt x="6621" y="9550"/>
                    <a:pt x="6454" y="9704"/>
                    <a:pt x="6252" y="9704"/>
                  </a:cubicBezTo>
                  <a:lnTo>
                    <a:pt x="5156" y="9704"/>
                  </a:lnTo>
                  <a:cubicBezTo>
                    <a:pt x="5085" y="9704"/>
                    <a:pt x="5013" y="9752"/>
                    <a:pt x="5013" y="9847"/>
                  </a:cubicBezTo>
                  <a:cubicBezTo>
                    <a:pt x="5013" y="9942"/>
                    <a:pt x="5073" y="10002"/>
                    <a:pt x="5156" y="10002"/>
                  </a:cubicBezTo>
                  <a:lnTo>
                    <a:pt x="6252" y="10002"/>
                  </a:lnTo>
                  <a:cubicBezTo>
                    <a:pt x="6609" y="10002"/>
                    <a:pt x="6906" y="9716"/>
                    <a:pt x="6918" y="9359"/>
                  </a:cubicBezTo>
                  <a:lnTo>
                    <a:pt x="7287" y="2751"/>
                  </a:lnTo>
                  <a:lnTo>
                    <a:pt x="7704" y="2751"/>
                  </a:lnTo>
                  <a:cubicBezTo>
                    <a:pt x="8038" y="2751"/>
                    <a:pt x="8299" y="2477"/>
                    <a:pt x="8299" y="2156"/>
                  </a:cubicBezTo>
                  <a:cubicBezTo>
                    <a:pt x="8288" y="1822"/>
                    <a:pt x="8014" y="1560"/>
                    <a:pt x="7692" y="1560"/>
                  </a:cubicBezTo>
                  <a:lnTo>
                    <a:pt x="7145" y="1560"/>
                  </a:lnTo>
                  <a:cubicBezTo>
                    <a:pt x="6906" y="1108"/>
                    <a:pt x="6442" y="810"/>
                    <a:pt x="5918" y="810"/>
                  </a:cubicBezTo>
                  <a:lnTo>
                    <a:pt x="5132" y="810"/>
                  </a:lnTo>
                  <a:cubicBezTo>
                    <a:pt x="5073" y="346"/>
                    <a:pt x="4668" y="1"/>
                    <a:pt x="419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11812;p85">
              <a:extLst>
                <a:ext uri="{FF2B5EF4-FFF2-40B4-BE49-F238E27FC236}">
                  <a16:creationId xmlns:a16="http://schemas.microsoft.com/office/drawing/2014/main" id="{C6329B25-BF0B-8007-9851-37555FFCBB8D}"/>
                </a:ext>
              </a:extLst>
            </p:cNvPr>
            <p:cNvSpPr/>
            <p:nvPr/>
          </p:nvSpPr>
          <p:spPr>
            <a:xfrm>
              <a:off x="6539750" y="2414860"/>
              <a:ext cx="26484" cy="162236"/>
            </a:xfrm>
            <a:custGeom>
              <a:avLst/>
              <a:gdLst/>
              <a:ahLst/>
              <a:cxnLst/>
              <a:rect l="l" t="t" r="r" b="b"/>
              <a:pathLst>
                <a:path w="834" h="5109" extrusionOk="0">
                  <a:moveTo>
                    <a:pt x="405" y="286"/>
                  </a:moveTo>
                  <a:cubicBezTo>
                    <a:pt x="477" y="298"/>
                    <a:pt x="536" y="346"/>
                    <a:pt x="536" y="417"/>
                  </a:cubicBezTo>
                  <a:lnTo>
                    <a:pt x="536" y="4691"/>
                  </a:lnTo>
                  <a:cubicBezTo>
                    <a:pt x="536" y="4763"/>
                    <a:pt x="477" y="4822"/>
                    <a:pt x="405" y="4822"/>
                  </a:cubicBezTo>
                  <a:cubicBezTo>
                    <a:pt x="334" y="4822"/>
                    <a:pt x="274" y="4763"/>
                    <a:pt x="274" y="4691"/>
                  </a:cubicBezTo>
                  <a:lnTo>
                    <a:pt x="274" y="417"/>
                  </a:lnTo>
                  <a:cubicBezTo>
                    <a:pt x="274" y="346"/>
                    <a:pt x="334" y="286"/>
                    <a:pt x="405" y="286"/>
                  </a:cubicBezTo>
                  <a:close/>
                  <a:moveTo>
                    <a:pt x="417" y="0"/>
                  </a:moveTo>
                  <a:cubicBezTo>
                    <a:pt x="179" y="0"/>
                    <a:pt x="0" y="191"/>
                    <a:pt x="0" y="417"/>
                  </a:cubicBezTo>
                  <a:lnTo>
                    <a:pt x="0" y="4691"/>
                  </a:lnTo>
                  <a:cubicBezTo>
                    <a:pt x="0" y="4930"/>
                    <a:pt x="203" y="5108"/>
                    <a:pt x="417" y="5108"/>
                  </a:cubicBezTo>
                  <a:cubicBezTo>
                    <a:pt x="655" y="5108"/>
                    <a:pt x="834" y="4918"/>
                    <a:pt x="834" y="4691"/>
                  </a:cubicBezTo>
                  <a:lnTo>
                    <a:pt x="834" y="417"/>
                  </a:lnTo>
                  <a:cubicBezTo>
                    <a:pt x="834" y="191"/>
                    <a:pt x="643" y="0"/>
                    <a:pt x="4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11813;p85">
              <a:extLst>
                <a:ext uri="{FF2B5EF4-FFF2-40B4-BE49-F238E27FC236}">
                  <a16:creationId xmlns:a16="http://schemas.microsoft.com/office/drawing/2014/main" id="{85CDE5E8-A62F-37F4-3EC6-C73698A7899D}"/>
                </a:ext>
              </a:extLst>
            </p:cNvPr>
            <p:cNvSpPr/>
            <p:nvPr/>
          </p:nvSpPr>
          <p:spPr>
            <a:xfrm>
              <a:off x="6590018" y="2414479"/>
              <a:ext cx="30294" cy="162967"/>
            </a:xfrm>
            <a:custGeom>
              <a:avLst/>
              <a:gdLst/>
              <a:ahLst/>
              <a:cxnLst/>
              <a:rect l="l" t="t" r="r" b="b"/>
              <a:pathLst>
                <a:path w="954" h="5132" extrusionOk="0">
                  <a:moveTo>
                    <a:pt x="537" y="0"/>
                  </a:moveTo>
                  <a:cubicBezTo>
                    <a:pt x="311" y="0"/>
                    <a:pt x="120" y="179"/>
                    <a:pt x="120" y="417"/>
                  </a:cubicBezTo>
                  <a:lnTo>
                    <a:pt x="1" y="4691"/>
                  </a:lnTo>
                  <a:cubicBezTo>
                    <a:pt x="1" y="4811"/>
                    <a:pt x="49" y="4906"/>
                    <a:pt x="120" y="5001"/>
                  </a:cubicBezTo>
                  <a:cubicBezTo>
                    <a:pt x="191" y="5084"/>
                    <a:pt x="311" y="5132"/>
                    <a:pt x="418" y="5132"/>
                  </a:cubicBezTo>
                  <a:cubicBezTo>
                    <a:pt x="644" y="5132"/>
                    <a:pt x="834" y="4953"/>
                    <a:pt x="834" y="4715"/>
                  </a:cubicBezTo>
                  <a:lnTo>
                    <a:pt x="846" y="4025"/>
                  </a:lnTo>
                  <a:cubicBezTo>
                    <a:pt x="846" y="3953"/>
                    <a:pt x="787" y="3882"/>
                    <a:pt x="703" y="3882"/>
                  </a:cubicBezTo>
                  <a:cubicBezTo>
                    <a:pt x="620" y="3882"/>
                    <a:pt x="549" y="3941"/>
                    <a:pt x="549" y="4025"/>
                  </a:cubicBezTo>
                  <a:lnTo>
                    <a:pt x="537" y="4715"/>
                  </a:lnTo>
                  <a:cubicBezTo>
                    <a:pt x="537" y="4787"/>
                    <a:pt x="477" y="4834"/>
                    <a:pt x="406" y="4834"/>
                  </a:cubicBezTo>
                  <a:cubicBezTo>
                    <a:pt x="370" y="4834"/>
                    <a:pt x="322" y="4822"/>
                    <a:pt x="311" y="4787"/>
                  </a:cubicBezTo>
                  <a:cubicBezTo>
                    <a:pt x="287" y="4763"/>
                    <a:pt x="263" y="4727"/>
                    <a:pt x="287" y="4703"/>
                  </a:cubicBezTo>
                  <a:lnTo>
                    <a:pt x="406" y="429"/>
                  </a:lnTo>
                  <a:cubicBezTo>
                    <a:pt x="406" y="358"/>
                    <a:pt x="465" y="310"/>
                    <a:pt x="537" y="310"/>
                  </a:cubicBezTo>
                  <a:cubicBezTo>
                    <a:pt x="561" y="310"/>
                    <a:pt x="608" y="322"/>
                    <a:pt x="620" y="358"/>
                  </a:cubicBezTo>
                  <a:cubicBezTo>
                    <a:pt x="656" y="381"/>
                    <a:pt x="668" y="417"/>
                    <a:pt x="656" y="441"/>
                  </a:cubicBezTo>
                  <a:lnTo>
                    <a:pt x="561" y="3358"/>
                  </a:lnTo>
                  <a:cubicBezTo>
                    <a:pt x="561" y="3441"/>
                    <a:pt x="644" y="3513"/>
                    <a:pt x="715" y="3513"/>
                  </a:cubicBezTo>
                  <a:cubicBezTo>
                    <a:pt x="787" y="3513"/>
                    <a:pt x="858" y="3453"/>
                    <a:pt x="858" y="3358"/>
                  </a:cubicBezTo>
                  <a:lnTo>
                    <a:pt x="953" y="441"/>
                  </a:lnTo>
                  <a:cubicBezTo>
                    <a:pt x="953" y="322"/>
                    <a:pt x="906" y="227"/>
                    <a:pt x="834" y="131"/>
                  </a:cubicBezTo>
                  <a:cubicBezTo>
                    <a:pt x="763" y="36"/>
                    <a:pt x="644" y="0"/>
                    <a:pt x="5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11814;p85">
              <a:extLst>
                <a:ext uri="{FF2B5EF4-FFF2-40B4-BE49-F238E27FC236}">
                  <a16:creationId xmlns:a16="http://schemas.microsoft.com/office/drawing/2014/main" id="{5E5BA285-F166-62B0-3538-BFCCA0A9A2BB}"/>
                </a:ext>
              </a:extLst>
            </p:cNvPr>
            <p:cNvSpPr/>
            <p:nvPr/>
          </p:nvSpPr>
          <p:spPr>
            <a:xfrm>
              <a:off x="6486052" y="2414860"/>
              <a:ext cx="30294" cy="162967"/>
            </a:xfrm>
            <a:custGeom>
              <a:avLst/>
              <a:gdLst/>
              <a:ahLst/>
              <a:cxnLst/>
              <a:rect l="l" t="t" r="r" b="b"/>
              <a:pathLst>
                <a:path w="954" h="5132" extrusionOk="0">
                  <a:moveTo>
                    <a:pt x="406" y="298"/>
                  </a:moveTo>
                  <a:cubicBezTo>
                    <a:pt x="477" y="298"/>
                    <a:pt x="537" y="358"/>
                    <a:pt x="537" y="417"/>
                  </a:cubicBezTo>
                  <a:lnTo>
                    <a:pt x="656" y="4691"/>
                  </a:lnTo>
                  <a:cubicBezTo>
                    <a:pt x="668" y="4715"/>
                    <a:pt x="656" y="4763"/>
                    <a:pt x="620" y="4775"/>
                  </a:cubicBezTo>
                  <a:cubicBezTo>
                    <a:pt x="596" y="4810"/>
                    <a:pt x="560" y="4822"/>
                    <a:pt x="537" y="4822"/>
                  </a:cubicBezTo>
                  <a:cubicBezTo>
                    <a:pt x="465" y="4822"/>
                    <a:pt x="406" y="4763"/>
                    <a:pt x="406" y="4703"/>
                  </a:cubicBezTo>
                  <a:lnTo>
                    <a:pt x="287" y="429"/>
                  </a:lnTo>
                  <a:cubicBezTo>
                    <a:pt x="287" y="405"/>
                    <a:pt x="298" y="358"/>
                    <a:pt x="310" y="346"/>
                  </a:cubicBezTo>
                  <a:cubicBezTo>
                    <a:pt x="346" y="310"/>
                    <a:pt x="370" y="298"/>
                    <a:pt x="406" y="298"/>
                  </a:cubicBezTo>
                  <a:close/>
                  <a:moveTo>
                    <a:pt x="417" y="0"/>
                  </a:moveTo>
                  <a:cubicBezTo>
                    <a:pt x="298" y="0"/>
                    <a:pt x="191" y="48"/>
                    <a:pt x="120" y="131"/>
                  </a:cubicBezTo>
                  <a:cubicBezTo>
                    <a:pt x="48" y="227"/>
                    <a:pt x="1" y="334"/>
                    <a:pt x="1" y="453"/>
                  </a:cubicBezTo>
                  <a:lnTo>
                    <a:pt x="120" y="4715"/>
                  </a:lnTo>
                  <a:cubicBezTo>
                    <a:pt x="120" y="4941"/>
                    <a:pt x="310" y="5132"/>
                    <a:pt x="537" y="5132"/>
                  </a:cubicBezTo>
                  <a:cubicBezTo>
                    <a:pt x="656" y="5132"/>
                    <a:pt x="763" y="5096"/>
                    <a:pt x="834" y="5001"/>
                  </a:cubicBezTo>
                  <a:cubicBezTo>
                    <a:pt x="906" y="4918"/>
                    <a:pt x="953" y="4810"/>
                    <a:pt x="953" y="4691"/>
                  </a:cubicBezTo>
                  <a:lnTo>
                    <a:pt x="834" y="417"/>
                  </a:lnTo>
                  <a:cubicBezTo>
                    <a:pt x="834" y="179"/>
                    <a:pt x="644" y="0"/>
                    <a:pt x="4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" name="Google Shape;12603;p87">
            <a:extLst>
              <a:ext uri="{FF2B5EF4-FFF2-40B4-BE49-F238E27FC236}">
                <a16:creationId xmlns:a16="http://schemas.microsoft.com/office/drawing/2014/main" id="{3B8FB221-69C7-5470-8A1B-47E08F6B1B5F}"/>
              </a:ext>
            </a:extLst>
          </p:cNvPr>
          <p:cNvGrpSpPr/>
          <p:nvPr/>
        </p:nvGrpSpPr>
        <p:grpSpPr>
          <a:xfrm>
            <a:off x="6573342" y="1603870"/>
            <a:ext cx="360041" cy="575680"/>
            <a:chOff x="910723" y="1508212"/>
            <a:chExt cx="251660" cy="350166"/>
          </a:xfrm>
          <a:solidFill>
            <a:schemeClr val="tx2"/>
          </a:solidFill>
        </p:grpSpPr>
        <p:sp>
          <p:nvSpPr>
            <p:cNvPr id="99" name="Google Shape;12604;p87">
              <a:extLst>
                <a:ext uri="{FF2B5EF4-FFF2-40B4-BE49-F238E27FC236}">
                  <a16:creationId xmlns:a16="http://schemas.microsoft.com/office/drawing/2014/main" id="{77B4F00B-F6EE-5BF2-2A3F-93F90044EDD6}"/>
                </a:ext>
              </a:extLst>
            </p:cNvPr>
            <p:cNvSpPr/>
            <p:nvPr/>
          </p:nvSpPr>
          <p:spPr>
            <a:xfrm>
              <a:off x="910723" y="1508212"/>
              <a:ext cx="251660" cy="350166"/>
            </a:xfrm>
            <a:custGeom>
              <a:avLst/>
              <a:gdLst/>
              <a:ahLst/>
              <a:cxnLst/>
              <a:rect l="l" t="t" r="r" b="b"/>
              <a:pathLst>
                <a:path w="7907" h="11002" extrusionOk="0">
                  <a:moveTo>
                    <a:pt x="3942" y="334"/>
                  </a:moveTo>
                  <a:cubicBezTo>
                    <a:pt x="4132" y="334"/>
                    <a:pt x="4299" y="441"/>
                    <a:pt x="4394" y="608"/>
                  </a:cubicBezTo>
                  <a:cubicBezTo>
                    <a:pt x="4418" y="644"/>
                    <a:pt x="4466" y="679"/>
                    <a:pt x="4525" y="679"/>
                  </a:cubicBezTo>
                  <a:lnTo>
                    <a:pt x="5132" y="679"/>
                  </a:lnTo>
                  <a:cubicBezTo>
                    <a:pt x="5240" y="679"/>
                    <a:pt x="5311" y="763"/>
                    <a:pt x="5311" y="858"/>
                  </a:cubicBezTo>
                  <a:lnTo>
                    <a:pt x="5311" y="1382"/>
                  </a:lnTo>
                  <a:lnTo>
                    <a:pt x="2573" y="1382"/>
                  </a:lnTo>
                  <a:lnTo>
                    <a:pt x="2573" y="858"/>
                  </a:lnTo>
                  <a:cubicBezTo>
                    <a:pt x="2573" y="751"/>
                    <a:pt x="2668" y="679"/>
                    <a:pt x="2751" y="679"/>
                  </a:cubicBezTo>
                  <a:lnTo>
                    <a:pt x="3358" y="679"/>
                  </a:lnTo>
                  <a:cubicBezTo>
                    <a:pt x="3418" y="679"/>
                    <a:pt x="3466" y="644"/>
                    <a:pt x="3501" y="608"/>
                  </a:cubicBezTo>
                  <a:cubicBezTo>
                    <a:pt x="3585" y="441"/>
                    <a:pt x="3763" y="334"/>
                    <a:pt x="3942" y="334"/>
                  </a:cubicBezTo>
                  <a:close/>
                  <a:moveTo>
                    <a:pt x="7240" y="1013"/>
                  </a:moveTo>
                  <a:cubicBezTo>
                    <a:pt x="7442" y="1013"/>
                    <a:pt x="7609" y="1179"/>
                    <a:pt x="7609" y="1370"/>
                  </a:cubicBezTo>
                  <a:lnTo>
                    <a:pt x="7609" y="10323"/>
                  </a:lnTo>
                  <a:lnTo>
                    <a:pt x="7585" y="10323"/>
                  </a:lnTo>
                  <a:cubicBezTo>
                    <a:pt x="7585" y="10514"/>
                    <a:pt x="7430" y="10681"/>
                    <a:pt x="7228" y="10681"/>
                  </a:cubicBezTo>
                  <a:lnTo>
                    <a:pt x="691" y="10681"/>
                  </a:lnTo>
                  <a:cubicBezTo>
                    <a:pt x="501" y="10681"/>
                    <a:pt x="334" y="10514"/>
                    <a:pt x="334" y="10323"/>
                  </a:cubicBezTo>
                  <a:lnTo>
                    <a:pt x="334" y="1370"/>
                  </a:lnTo>
                  <a:cubicBezTo>
                    <a:pt x="334" y="1179"/>
                    <a:pt x="501" y="1013"/>
                    <a:pt x="691" y="1013"/>
                  </a:cubicBezTo>
                  <a:lnTo>
                    <a:pt x="2263" y="1013"/>
                  </a:lnTo>
                  <a:lnTo>
                    <a:pt x="2263" y="1537"/>
                  </a:lnTo>
                  <a:cubicBezTo>
                    <a:pt x="2263" y="1632"/>
                    <a:pt x="2335" y="1703"/>
                    <a:pt x="2418" y="1703"/>
                  </a:cubicBezTo>
                  <a:lnTo>
                    <a:pt x="5525" y="1703"/>
                  </a:lnTo>
                  <a:cubicBezTo>
                    <a:pt x="5609" y="1703"/>
                    <a:pt x="5680" y="1632"/>
                    <a:pt x="5680" y="1537"/>
                  </a:cubicBezTo>
                  <a:lnTo>
                    <a:pt x="5680" y="1013"/>
                  </a:lnTo>
                  <a:close/>
                  <a:moveTo>
                    <a:pt x="3954" y="1"/>
                  </a:moveTo>
                  <a:cubicBezTo>
                    <a:pt x="3692" y="1"/>
                    <a:pt x="3442" y="144"/>
                    <a:pt x="3275" y="346"/>
                  </a:cubicBezTo>
                  <a:lnTo>
                    <a:pt x="2751" y="346"/>
                  </a:lnTo>
                  <a:cubicBezTo>
                    <a:pt x="2525" y="346"/>
                    <a:pt x="2335" y="501"/>
                    <a:pt x="2275" y="691"/>
                  </a:cubicBezTo>
                  <a:lnTo>
                    <a:pt x="680" y="691"/>
                  </a:lnTo>
                  <a:cubicBezTo>
                    <a:pt x="310" y="691"/>
                    <a:pt x="1" y="989"/>
                    <a:pt x="1" y="1382"/>
                  </a:cubicBezTo>
                  <a:lnTo>
                    <a:pt x="1" y="10323"/>
                  </a:lnTo>
                  <a:cubicBezTo>
                    <a:pt x="1" y="10692"/>
                    <a:pt x="299" y="11002"/>
                    <a:pt x="680" y="11002"/>
                  </a:cubicBezTo>
                  <a:lnTo>
                    <a:pt x="7216" y="11002"/>
                  </a:lnTo>
                  <a:cubicBezTo>
                    <a:pt x="7585" y="11002"/>
                    <a:pt x="7907" y="10704"/>
                    <a:pt x="7907" y="10323"/>
                  </a:cubicBezTo>
                  <a:lnTo>
                    <a:pt x="7907" y="1382"/>
                  </a:lnTo>
                  <a:cubicBezTo>
                    <a:pt x="7907" y="989"/>
                    <a:pt x="7609" y="691"/>
                    <a:pt x="7228" y="691"/>
                  </a:cubicBezTo>
                  <a:lnTo>
                    <a:pt x="5644" y="691"/>
                  </a:lnTo>
                  <a:cubicBezTo>
                    <a:pt x="5561" y="501"/>
                    <a:pt x="5383" y="346"/>
                    <a:pt x="5168" y="346"/>
                  </a:cubicBezTo>
                  <a:lnTo>
                    <a:pt x="4644" y="346"/>
                  </a:lnTo>
                  <a:cubicBezTo>
                    <a:pt x="4478" y="144"/>
                    <a:pt x="4228" y="1"/>
                    <a:pt x="39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2605;p87">
              <a:extLst>
                <a:ext uri="{FF2B5EF4-FFF2-40B4-BE49-F238E27FC236}">
                  <a16:creationId xmlns:a16="http://schemas.microsoft.com/office/drawing/2014/main" id="{18D60299-6EF2-D242-80FC-1C048266775C}"/>
                </a:ext>
              </a:extLst>
            </p:cNvPr>
            <p:cNvSpPr/>
            <p:nvPr/>
          </p:nvSpPr>
          <p:spPr>
            <a:xfrm>
              <a:off x="1031604" y="1530205"/>
              <a:ext cx="10280" cy="10248"/>
            </a:xfrm>
            <a:custGeom>
              <a:avLst/>
              <a:gdLst/>
              <a:ahLst/>
              <a:cxnLst/>
              <a:rect l="l" t="t" r="r" b="b"/>
              <a:pathLst>
                <a:path w="323" h="322" extrusionOk="0">
                  <a:moveTo>
                    <a:pt x="156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56" y="322"/>
                  </a:cubicBezTo>
                  <a:cubicBezTo>
                    <a:pt x="251" y="322"/>
                    <a:pt x="322" y="250"/>
                    <a:pt x="322" y="167"/>
                  </a:cubicBezTo>
                  <a:cubicBezTo>
                    <a:pt x="322" y="72"/>
                    <a:pt x="251" y="0"/>
                    <a:pt x="1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2606;p87">
              <a:extLst>
                <a:ext uri="{FF2B5EF4-FFF2-40B4-BE49-F238E27FC236}">
                  <a16:creationId xmlns:a16="http://schemas.microsoft.com/office/drawing/2014/main" id="{D82A52E8-DC40-616C-0419-1B96638C972C}"/>
                </a:ext>
              </a:extLst>
            </p:cNvPr>
            <p:cNvSpPr/>
            <p:nvPr/>
          </p:nvSpPr>
          <p:spPr>
            <a:xfrm>
              <a:off x="932334" y="1551784"/>
              <a:ext cx="208088" cy="273653"/>
            </a:xfrm>
            <a:custGeom>
              <a:avLst/>
              <a:gdLst/>
              <a:ahLst/>
              <a:cxnLst/>
              <a:rect l="l" t="t" r="r" b="b"/>
              <a:pathLst>
                <a:path w="6538" h="8598" extrusionOk="0">
                  <a:moveTo>
                    <a:pt x="167" y="1"/>
                  </a:moveTo>
                  <a:cubicBezTo>
                    <a:pt x="72" y="1"/>
                    <a:pt x="1" y="84"/>
                    <a:pt x="1" y="168"/>
                  </a:cubicBezTo>
                  <a:lnTo>
                    <a:pt x="1" y="8430"/>
                  </a:lnTo>
                  <a:cubicBezTo>
                    <a:pt x="1" y="8526"/>
                    <a:pt x="72" y="8597"/>
                    <a:pt x="167" y="8597"/>
                  </a:cubicBezTo>
                  <a:lnTo>
                    <a:pt x="6358" y="8597"/>
                  </a:lnTo>
                  <a:cubicBezTo>
                    <a:pt x="6442" y="8597"/>
                    <a:pt x="6525" y="8526"/>
                    <a:pt x="6525" y="8430"/>
                  </a:cubicBezTo>
                  <a:lnTo>
                    <a:pt x="6525" y="168"/>
                  </a:lnTo>
                  <a:cubicBezTo>
                    <a:pt x="6537" y="84"/>
                    <a:pt x="6466" y="13"/>
                    <a:pt x="6370" y="13"/>
                  </a:cubicBezTo>
                  <a:lnTo>
                    <a:pt x="5513" y="13"/>
                  </a:lnTo>
                  <a:cubicBezTo>
                    <a:pt x="5418" y="13"/>
                    <a:pt x="5346" y="84"/>
                    <a:pt x="5346" y="168"/>
                  </a:cubicBezTo>
                  <a:cubicBezTo>
                    <a:pt x="5346" y="263"/>
                    <a:pt x="5418" y="334"/>
                    <a:pt x="5513" y="334"/>
                  </a:cubicBezTo>
                  <a:lnTo>
                    <a:pt x="6204" y="334"/>
                  </a:lnTo>
                  <a:lnTo>
                    <a:pt x="6204" y="8264"/>
                  </a:lnTo>
                  <a:lnTo>
                    <a:pt x="334" y="8264"/>
                  </a:lnTo>
                  <a:lnTo>
                    <a:pt x="334" y="334"/>
                  </a:lnTo>
                  <a:lnTo>
                    <a:pt x="1024" y="334"/>
                  </a:lnTo>
                  <a:cubicBezTo>
                    <a:pt x="1120" y="334"/>
                    <a:pt x="1191" y="263"/>
                    <a:pt x="1191" y="168"/>
                  </a:cubicBezTo>
                  <a:cubicBezTo>
                    <a:pt x="1191" y="84"/>
                    <a:pt x="1120" y="1"/>
                    <a:pt x="102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2607;p87">
              <a:extLst>
                <a:ext uri="{FF2B5EF4-FFF2-40B4-BE49-F238E27FC236}">
                  <a16:creationId xmlns:a16="http://schemas.microsoft.com/office/drawing/2014/main" id="{4488D0E5-E8F2-D936-2E3C-2CD417D7F871}"/>
                </a:ext>
              </a:extLst>
            </p:cNvPr>
            <p:cNvSpPr/>
            <p:nvPr/>
          </p:nvSpPr>
          <p:spPr>
            <a:xfrm>
              <a:off x="965689" y="1661302"/>
              <a:ext cx="32241" cy="32241"/>
            </a:xfrm>
            <a:custGeom>
              <a:avLst/>
              <a:gdLst/>
              <a:ahLst/>
              <a:cxnLst/>
              <a:rect l="l" t="t" r="r" b="b"/>
              <a:pathLst>
                <a:path w="1013" h="1013" extrusionOk="0">
                  <a:moveTo>
                    <a:pt x="500" y="346"/>
                  </a:moveTo>
                  <a:cubicBezTo>
                    <a:pt x="608" y="346"/>
                    <a:pt x="679" y="441"/>
                    <a:pt x="679" y="525"/>
                  </a:cubicBezTo>
                  <a:cubicBezTo>
                    <a:pt x="703" y="620"/>
                    <a:pt x="608" y="703"/>
                    <a:pt x="500" y="703"/>
                  </a:cubicBezTo>
                  <a:cubicBezTo>
                    <a:pt x="405" y="703"/>
                    <a:pt x="322" y="620"/>
                    <a:pt x="322" y="525"/>
                  </a:cubicBezTo>
                  <a:cubicBezTo>
                    <a:pt x="322" y="417"/>
                    <a:pt x="417" y="346"/>
                    <a:pt x="500" y="346"/>
                  </a:cubicBezTo>
                  <a:close/>
                  <a:moveTo>
                    <a:pt x="500" y="1"/>
                  </a:moveTo>
                  <a:cubicBezTo>
                    <a:pt x="227" y="1"/>
                    <a:pt x="0" y="227"/>
                    <a:pt x="0" y="513"/>
                  </a:cubicBezTo>
                  <a:cubicBezTo>
                    <a:pt x="0" y="787"/>
                    <a:pt x="227" y="1013"/>
                    <a:pt x="500" y="1013"/>
                  </a:cubicBezTo>
                  <a:cubicBezTo>
                    <a:pt x="786" y="1013"/>
                    <a:pt x="1012" y="787"/>
                    <a:pt x="1012" y="513"/>
                  </a:cubicBezTo>
                  <a:cubicBezTo>
                    <a:pt x="1012" y="227"/>
                    <a:pt x="786" y="1"/>
                    <a:pt x="5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2608;p87">
              <a:extLst>
                <a:ext uri="{FF2B5EF4-FFF2-40B4-BE49-F238E27FC236}">
                  <a16:creationId xmlns:a16="http://schemas.microsoft.com/office/drawing/2014/main" id="{C1920340-F5A2-F4D6-E128-801F8042ADAC}"/>
                </a:ext>
              </a:extLst>
            </p:cNvPr>
            <p:cNvSpPr/>
            <p:nvPr/>
          </p:nvSpPr>
          <p:spPr>
            <a:xfrm>
              <a:off x="965689" y="1710571"/>
              <a:ext cx="32241" cy="32241"/>
            </a:xfrm>
            <a:custGeom>
              <a:avLst/>
              <a:gdLst/>
              <a:ahLst/>
              <a:cxnLst/>
              <a:rect l="l" t="t" r="r" b="b"/>
              <a:pathLst>
                <a:path w="1013" h="1013" extrusionOk="0">
                  <a:moveTo>
                    <a:pt x="500" y="346"/>
                  </a:moveTo>
                  <a:cubicBezTo>
                    <a:pt x="608" y="346"/>
                    <a:pt x="679" y="441"/>
                    <a:pt x="679" y="524"/>
                  </a:cubicBezTo>
                  <a:cubicBezTo>
                    <a:pt x="679" y="608"/>
                    <a:pt x="608" y="703"/>
                    <a:pt x="500" y="703"/>
                  </a:cubicBezTo>
                  <a:cubicBezTo>
                    <a:pt x="405" y="703"/>
                    <a:pt x="322" y="608"/>
                    <a:pt x="322" y="524"/>
                  </a:cubicBezTo>
                  <a:cubicBezTo>
                    <a:pt x="322" y="441"/>
                    <a:pt x="417" y="346"/>
                    <a:pt x="500" y="346"/>
                  </a:cubicBezTo>
                  <a:close/>
                  <a:moveTo>
                    <a:pt x="500" y="1"/>
                  </a:moveTo>
                  <a:cubicBezTo>
                    <a:pt x="227" y="1"/>
                    <a:pt x="0" y="227"/>
                    <a:pt x="0" y="513"/>
                  </a:cubicBezTo>
                  <a:cubicBezTo>
                    <a:pt x="0" y="786"/>
                    <a:pt x="227" y="1013"/>
                    <a:pt x="500" y="1013"/>
                  </a:cubicBezTo>
                  <a:cubicBezTo>
                    <a:pt x="786" y="1013"/>
                    <a:pt x="1012" y="786"/>
                    <a:pt x="1012" y="513"/>
                  </a:cubicBezTo>
                  <a:cubicBezTo>
                    <a:pt x="1012" y="227"/>
                    <a:pt x="786" y="1"/>
                    <a:pt x="5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2609;p87">
              <a:extLst>
                <a:ext uri="{FF2B5EF4-FFF2-40B4-BE49-F238E27FC236}">
                  <a16:creationId xmlns:a16="http://schemas.microsoft.com/office/drawing/2014/main" id="{6B12A6FB-6170-D1A2-2DB5-94E82A8FF83D}"/>
                </a:ext>
              </a:extLst>
            </p:cNvPr>
            <p:cNvSpPr/>
            <p:nvPr/>
          </p:nvSpPr>
          <p:spPr>
            <a:xfrm>
              <a:off x="965689" y="1760604"/>
              <a:ext cx="32241" cy="31859"/>
            </a:xfrm>
            <a:custGeom>
              <a:avLst/>
              <a:gdLst/>
              <a:ahLst/>
              <a:cxnLst/>
              <a:rect l="l" t="t" r="r" b="b"/>
              <a:pathLst>
                <a:path w="1013" h="1001" extrusionOk="0">
                  <a:moveTo>
                    <a:pt x="500" y="322"/>
                  </a:moveTo>
                  <a:cubicBezTo>
                    <a:pt x="608" y="322"/>
                    <a:pt x="679" y="417"/>
                    <a:pt x="679" y="500"/>
                  </a:cubicBezTo>
                  <a:cubicBezTo>
                    <a:pt x="703" y="596"/>
                    <a:pt x="608" y="679"/>
                    <a:pt x="500" y="679"/>
                  </a:cubicBezTo>
                  <a:cubicBezTo>
                    <a:pt x="405" y="679"/>
                    <a:pt x="322" y="584"/>
                    <a:pt x="322" y="500"/>
                  </a:cubicBezTo>
                  <a:cubicBezTo>
                    <a:pt x="322" y="393"/>
                    <a:pt x="417" y="322"/>
                    <a:pt x="500" y="322"/>
                  </a:cubicBezTo>
                  <a:close/>
                  <a:moveTo>
                    <a:pt x="500" y="0"/>
                  </a:moveTo>
                  <a:cubicBezTo>
                    <a:pt x="227" y="0"/>
                    <a:pt x="0" y="215"/>
                    <a:pt x="0" y="500"/>
                  </a:cubicBezTo>
                  <a:cubicBezTo>
                    <a:pt x="0" y="786"/>
                    <a:pt x="227" y="1000"/>
                    <a:pt x="500" y="1000"/>
                  </a:cubicBezTo>
                  <a:cubicBezTo>
                    <a:pt x="786" y="1000"/>
                    <a:pt x="1012" y="786"/>
                    <a:pt x="1012" y="500"/>
                  </a:cubicBezTo>
                  <a:cubicBezTo>
                    <a:pt x="1012" y="215"/>
                    <a:pt x="786" y="0"/>
                    <a:pt x="5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2610;p87">
              <a:extLst>
                <a:ext uri="{FF2B5EF4-FFF2-40B4-BE49-F238E27FC236}">
                  <a16:creationId xmlns:a16="http://schemas.microsoft.com/office/drawing/2014/main" id="{1E2EC1DA-514B-FB0B-E15D-DA2E91919DA1}"/>
                </a:ext>
              </a:extLst>
            </p:cNvPr>
            <p:cNvSpPr/>
            <p:nvPr/>
          </p:nvSpPr>
          <p:spPr>
            <a:xfrm>
              <a:off x="1009643" y="1661302"/>
              <a:ext cx="59899" cy="10662"/>
            </a:xfrm>
            <a:custGeom>
              <a:avLst/>
              <a:gdLst/>
              <a:ahLst/>
              <a:cxnLst/>
              <a:rect l="l" t="t" r="r" b="b"/>
              <a:pathLst>
                <a:path w="1882" h="335" extrusionOk="0">
                  <a:moveTo>
                    <a:pt x="167" y="1"/>
                  </a:moveTo>
                  <a:cubicBezTo>
                    <a:pt x="72" y="1"/>
                    <a:pt x="0" y="72"/>
                    <a:pt x="0" y="167"/>
                  </a:cubicBezTo>
                  <a:cubicBezTo>
                    <a:pt x="0" y="263"/>
                    <a:pt x="72" y="334"/>
                    <a:pt x="167" y="334"/>
                  </a:cubicBezTo>
                  <a:lnTo>
                    <a:pt x="1715" y="334"/>
                  </a:lnTo>
                  <a:cubicBezTo>
                    <a:pt x="1798" y="334"/>
                    <a:pt x="1882" y="263"/>
                    <a:pt x="1882" y="167"/>
                  </a:cubicBezTo>
                  <a:cubicBezTo>
                    <a:pt x="1882" y="72"/>
                    <a:pt x="1798" y="1"/>
                    <a:pt x="17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2611;p87">
              <a:extLst>
                <a:ext uri="{FF2B5EF4-FFF2-40B4-BE49-F238E27FC236}">
                  <a16:creationId xmlns:a16="http://schemas.microsoft.com/office/drawing/2014/main" id="{FF8F776A-EB39-0BC2-DFB2-914346A89CB3}"/>
                </a:ext>
              </a:extLst>
            </p:cNvPr>
            <p:cNvSpPr/>
            <p:nvPr/>
          </p:nvSpPr>
          <p:spPr>
            <a:xfrm>
              <a:off x="1009643" y="1683677"/>
              <a:ext cx="98188" cy="10630"/>
            </a:xfrm>
            <a:custGeom>
              <a:avLst/>
              <a:gdLst/>
              <a:ahLst/>
              <a:cxnLst/>
              <a:rect l="l" t="t" r="r" b="b"/>
              <a:pathLst>
                <a:path w="3085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2917" y="334"/>
                  </a:lnTo>
                  <a:cubicBezTo>
                    <a:pt x="3013" y="334"/>
                    <a:pt x="3084" y="250"/>
                    <a:pt x="3084" y="167"/>
                  </a:cubicBezTo>
                  <a:cubicBezTo>
                    <a:pt x="3084" y="72"/>
                    <a:pt x="3013" y="0"/>
                    <a:pt x="29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2612;p87">
              <a:extLst>
                <a:ext uri="{FF2B5EF4-FFF2-40B4-BE49-F238E27FC236}">
                  <a16:creationId xmlns:a16="http://schemas.microsoft.com/office/drawing/2014/main" id="{25DD8935-5A8C-07AC-4600-DBE03ADF9617}"/>
                </a:ext>
              </a:extLst>
            </p:cNvPr>
            <p:cNvSpPr/>
            <p:nvPr/>
          </p:nvSpPr>
          <p:spPr>
            <a:xfrm>
              <a:off x="1009643" y="1710571"/>
              <a:ext cx="59899" cy="10630"/>
            </a:xfrm>
            <a:custGeom>
              <a:avLst/>
              <a:gdLst/>
              <a:ahLst/>
              <a:cxnLst/>
              <a:rect l="l" t="t" r="r" b="b"/>
              <a:pathLst>
                <a:path w="1882" h="334" extrusionOk="0">
                  <a:moveTo>
                    <a:pt x="167" y="1"/>
                  </a:moveTo>
                  <a:cubicBezTo>
                    <a:pt x="72" y="1"/>
                    <a:pt x="0" y="84"/>
                    <a:pt x="0" y="167"/>
                  </a:cubicBezTo>
                  <a:cubicBezTo>
                    <a:pt x="0" y="263"/>
                    <a:pt x="72" y="334"/>
                    <a:pt x="167" y="334"/>
                  </a:cubicBezTo>
                  <a:lnTo>
                    <a:pt x="1715" y="334"/>
                  </a:lnTo>
                  <a:cubicBezTo>
                    <a:pt x="1798" y="334"/>
                    <a:pt x="1882" y="263"/>
                    <a:pt x="1882" y="167"/>
                  </a:cubicBezTo>
                  <a:cubicBezTo>
                    <a:pt x="1882" y="84"/>
                    <a:pt x="1798" y="1"/>
                    <a:pt x="17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2613;p87">
              <a:extLst>
                <a:ext uri="{FF2B5EF4-FFF2-40B4-BE49-F238E27FC236}">
                  <a16:creationId xmlns:a16="http://schemas.microsoft.com/office/drawing/2014/main" id="{DE6DA0CF-1426-B771-4CD4-FC7632C16872}"/>
                </a:ext>
              </a:extLst>
            </p:cNvPr>
            <p:cNvSpPr/>
            <p:nvPr/>
          </p:nvSpPr>
          <p:spPr>
            <a:xfrm>
              <a:off x="1009643" y="1732946"/>
              <a:ext cx="98188" cy="10630"/>
            </a:xfrm>
            <a:custGeom>
              <a:avLst/>
              <a:gdLst/>
              <a:ahLst/>
              <a:cxnLst/>
              <a:rect l="l" t="t" r="r" b="b"/>
              <a:pathLst>
                <a:path w="3085" h="334" extrusionOk="0">
                  <a:moveTo>
                    <a:pt x="167" y="0"/>
                  </a:moveTo>
                  <a:cubicBezTo>
                    <a:pt x="72" y="0"/>
                    <a:pt x="0" y="71"/>
                    <a:pt x="0" y="167"/>
                  </a:cubicBezTo>
                  <a:cubicBezTo>
                    <a:pt x="0" y="250"/>
                    <a:pt x="72" y="333"/>
                    <a:pt x="167" y="333"/>
                  </a:cubicBezTo>
                  <a:lnTo>
                    <a:pt x="2917" y="333"/>
                  </a:lnTo>
                  <a:cubicBezTo>
                    <a:pt x="3013" y="333"/>
                    <a:pt x="3084" y="250"/>
                    <a:pt x="3084" y="167"/>
                  </a:cubicBezTo>
                  <a:cubicBezTo>
                    <a:pt x="3084" y="71"/>
                    <a:pt x="3013" y="0"/>
                    <a:pt x="29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2614;p87">
              <a:extLst>
                <a:ext uri="{FF2B5EF4-FFF2-40B4-BE49-F238E27FC236}">
                  <a16:creationId xmlns:a16="http://schemas.microsoft.com/office/drawing/2014/main" id="{ECD7D982-269D-E823-6FC2-B7505B09B541}"/>
                </a:ext>
              </a:extLst>
            </p:cNvPr>
            <p:cNvSpPr/>
            <p:nvPr/>
          </p:nvSpPr>
          <p:spPr>
            <a:xfrm>
              <a:off x="1009643" y="1760604"/>
              <a:ext cx="59899" cy="10248"/>
            </a:xfrm>
            <a:custGeom>
              <a:avLst/>
              <a:gdLst/>
              <a:ahLst/>
              <a:cxnLst/>
              <a:rect l="l" t="t" r="r" b="b"/>
              <a:pathLst>
                <a:path w="1882" h="322" extrusionOk="0">
                  <a:moveTo>
                    <a:pt x="167" y="0"/>
                  </a:moveTo>
                  <a:cubicBezTo>
                    <a:pt x="72" y="0"/>
                    <a:pt x="0" y="72"/>
                    <a:pt x="0" y="155"/>
                  </a:cubicBezTo>
                  <a:cubicBezTo>
                    <a:pt x="0" y="250"/>
                    <a:pt x="72" y="322"/>
                    <a:pt x="167" y="322"/>
                  </a:cubicBezTo>
                  <a:lnTo>
                    <a:pt x="1715" y="322"/>
                  </a:lnTo>
                  <a:cubicBezTo>
                    <a:pt x="1798" y="322"/>
                    <a:pt x="1882" y="250"/>
                    <a:pt x="1882" y="155"/>
                  </a:cubicBezTo>
                  <a:cubicBezTo>
                    <a:pt x="1882" y="72"/>
                    <a:pt x="1798" y="0"/>
                    <a:pt x="17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2615;p87">
              <a:extLst>
                <a:ext uri="{FF2B5EF4-FFF2-40B4-BE49-F238E27FC236}">
                  <a16:creationId xmlns:a16="http://schemas.microsoft.com/office/drawing/2014/main" id="{7CF1E73B-DB83-160E-4854-6FE38342B7EC}"/>
                </a:ext>
              </a:extLst>
            </p:cNvPr>
            <p:cNvSpPr/>
            <p:nvPr/>
          </p:nvSpPr>
          <p:spPr>
            <a:xfrm>
              <a:off x="1009643" y="1782183"/>
              <a:ext cx="98188" cy="10662"/>
            </a:xfrm>
            <a:custGeom>
              <a:avLst/>
              <a:gdLst/>
              <a:ahLst/>
              <a:cxnLst/>
              <a:rect l="l" t="t" r="r" b="b"/>
              <a:pathLst>
                <a:path w="3085" h="335" extrusionOk="0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34"/>
                    <a:pt x="167" y="334"/>
                  </a:cubicBezTo>
                  <a:lnTo>
                    <a:pt x="2917" y="334"/>
                  </a:lnTo>
                  <a:cubicBezTo>
                    <a:pt x="3013" y="334"/>
                    <a:pt x="3084" y="251"/>
                    <a:pt x="3084" y="168"/>
                  </a:cubicBezTo>
                  <a:cubicBezTo>
                    <a:pt x="3084" y="72"/>
                    <a:pt x="3013" y="1"/>
                    <a:pt x="29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2616;p87">
              <a:extLst>
                <a:ext uri="{FF2B5EF4-FFF2-40B4-BE49-F238E27FC236}">
                  <a16:creationId xmlns:a16="http://schemas.microsoft.com/office/drawing/2014/main" id="{1A3FA3BD-A917-F523-CBEF-7F48D0E9D034}"/>
                </a:ext>
              </a:extLst>
            </p:cNvPr>
            <p:cNvSpPr/>
            <p:nvPr/>
          </p:nvSpPr>
          <p:spPr>
            <a:xfrm>
              <a:off x="1009643" y="1579473"/>
              <a:ext cx="98188" cy="10630"/>
            </a:xfrm>
            <a:custGeom>
              <a:avLst/>
              <a:gdLst/>
              <a:ahLst/>
              <a:cxnLst/>
              <a:rect l="l" t="t" r="r" b="b"/>
              <a:pathLst>
                <a:path w="3085" h="334" extrusionOk="0">
                  <a:moveTo>
                    <a:pt x="167" y="0"/>
                  </a:moveTo>
                  <a:cubicBezTo>
                    <a:pt x="72" y="0"/>
                    <a:pt x="0" y="71"/>
                    <a:pt x="0" y="167"/>
                  </a:cubicBezTo>
                  <a:cubicBezTo>
                    <a:pt x="0" y="250"/>
                    <a:pt x="72" y="333"/>
                    <a:pt x="167" y="333"/>
                  </a:cubicBezTo>
                  <a:lnTo>
                    <a:pt x="2917" y="333"/>
                  </a:lnTo>
                  <a:cubicBezTo>
                    <a:pt x="3013" y="333"/>
                    <a:pt x="3084" y="250"/>
                    <a:pt x="3084" y="167"/>
                  </a:cubicBezTo>
                  <a:cubicBezTo>
                    <a:pt x="3084" y="71"/>
                    <a:pt x="3013" y="0"/>
                    <a:pt x="29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2617;p87">
              <a:extLst>
                <a:ext uri="{FF2B5EF4-FFF2-40B4-BE49-F238E27FC236}">
                  <a16:creationId xmlns:a16="http://schemas.microsoft.com/office/drawing/2014/main" id="{9D033287-5050-228F-57A8-8C021B4A2D8A}"/>
                </a:ext>
              </a:extLst>
            </p:cNvPr>
            <p:cNvSpPr/>
            <p:nvPr/>
          </p:nvSpPr>
          <p:spPr>
            <a:xfrm>
              <a:off x="965689" y="1628711"/>
              <a:ext cx="142142" cy="10662"/>
            </a:xfrm>
            <a:custGeom>
              <a:avLst/>
              <a:gdLst/>
              <a:ahLst/>
              <a:cxnLst/>
              <a:rect l="l" t="t" r="r" b="b"/>
              <a:pathLst>
                <a:path w="4466" h="335" extrusionOk="0">
                  <a:moveTo>
                    <a:pt x="155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34"/>
                    <a:pt x="155" y="334"/>
                  </a:cubicBezTo>
                  <a:lnTo>
                    <a:pt x="4298" y="334"/>
                  </a:lnTo>
                  <a:cubicBezTo>
                    <a:pt x="4394" y="334"/>
                    <a:pt x="4465" y="251"/>
                    <a:pt x="4465" y="168"/>
                  </a:cubicBezTo>
                  <a:cubicBezTo>
                    <a:pt x="4465" y="72"/>
                    <a:pt x="4394" y="1"/>
                    <a:pt x="42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2618;p87">
              <a:extLst>
                <a:ext uri="{FF2B5EF4-FFF2-40B4-BE49-F238E27FC236}">
                  <a16:creationId xmlns:a16="http://schemas.microsoft.com/office/drawing/2014/main" id="{5AB98686-02C8-C91E-15DE-3F3301B8DC86}"/>
                </a:ext>
              </a:extLst>
            </p:cNvPr>
            <p:cNvSpPr/>
            <p:nvPr/>
          </p:nvSpPr>
          <p:spPr>
            <a:xfrm>
              <a:off x="1009643" y="1601434"/>
              <a:ext cx="26926" cy="10280"/>
            </a:xfrm>
            <a:custGeom>
              <a:avLst/>
              <a:gdLst/>
              <a:ahLst/>
              <a:cxnLst/>
              <a:rect l="l" t="t" r="r" b="b"/>
              <a:pathLst>
                <a:path w="846" h="323" extrusionOk="0">
                  <a:moveTo>
                    <a:pt x="167" y="1"/>
                  </a:moveTo>
                  <a:cubicBezTo>
                    <a:pt x="72" y="1"/>
                    <a:pt x="0" y="72"/>
                    <a:pt x="0" y="155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691" y="322"/>
                  </a:lnTo>
                  <a:cubicBezTo>
                    <a:pt x="774" y="322"/>
                    <a:pt x="846" y="251"/>
                    <a:pt x="846" y="155"/>
                  </a:cubicBezTo>
                  <a:cubicBezTo>
                    <a:pt x="846" y="72"/>
                    <a:pt x="762" y="1"/>
                    <a:pt x="6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2619;p87">
              <a:extLst>
                <a:ext uri="{FF2B5EF4-FFF2-40B4-BE49-F238E27FC236}">
                  <a16:creationId xmlns:a16="http://schemas.microsoft.com/office/drawing/2014/main" id="{85CB4D29-B309-5F37-25EE-E36CAEEC42CC}"/>
                </a:ext>
              </a:extLst>
            </p:cNvPr>
            <p:cNvSpPr/>
            <p:nvPr/>
          </p:nvSpPr>
          <p:spPr>
            <a:xfrm>
              <a:off x="1047550" y="1601434"/>
              <a:ext cx="26926" cy="10280"/>
            </a:xfrm>
            <a:custGeom>
              <a:avLst/>
              <a:gdLst/>
              <a:ahLst/>
              <a:cxnLst/>
              <a:rect l="l" t="t" r="r" b="b"/>
              <a:pathLst>
                <a:path w="846" h="323" extrusionOk="0">
                  <a:moveTo>
                    <a:pt x="167" y="1"/>
                  </a:moveTo>
                  <a:cubicBezTo>
                    <a:pt x="71" y="1"/>
                    <a:pt x="0" y="72"/>
                    <a:pt x="0" y="155"/>
                  </a:cubicBezTo>
                  <a:cubicBezTo>
                    <a:pt x="0" y="251"/>
                    <a:pt x="71" y="322"/>
                    <a:pt x="167" y="322"/>
                  </a:cubicBezTo>
                  <a:lnTo>
                    <a:pt x="691" y="322"/>
                  </a:lnTo>
                  <a:cubicBezTo>
                    <a:pt x="774" y="322"/>
                    <a:pt x="845" y="251"/>
                    <a:pt x="845" y="155"/>
                  </a:cubicBezTo>
                  <a:cubicBezTo>
                    <a:pt x="845" y="72"/>
                    <a:pt x="774" y="1"/>
                    <a:pt x="6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2620;p87">
              <a:extLst>
                <a:ext uri="{FF2B5EF4-FFF2-40B4-BE49-F238E27FC236}">
                  <a16:creationId xmlns:a16="http://schemas.microsoft.com/office/drawing/2014/main" id="{9E0C7E37-459E-7B1E-BB2B-5877550B60CA}"/>
                </a:ext>
              </a:extLst>
            </p:cNvPr>
            <p:cNvSpPr/>
            <p:nvPr/>
          </p:nvSpPr>
          <p:spPr>
            <a:xfrm>
              <a:off x="966071" y="1579473"/>
              <a:ext cx="32241" cy="32241"/>
            </a:xfrm>
            <a:custGeom>
              <a:avLst/>
              <a:gdLst/>
              <a:ahLst/>
              <a:cxnLst/>
              <a:rect l="l" t="t" r="r" b="b"/>
              <a:pathLst>
                <a:path w="1013" h="1013" extrusionOk="0">
                  <a:moveTo>
                    <a:pt x="691" y="310"/>
                  </a:moveTo>
                  <a:lnTo>
                    <a:pt x="691" y="691"/>
                  </a:lnTo>
                  <a:lnTo>
                    <a:pt x="310" y="691"/>
                  </a:lnTo>
                  <a:lnTo>
                    <a:pt x="310" y="310"/>
                  </a:lnTo>
                  <a:close/>
                  <a:moveTo>
                    <a:pt x="167" y="0"/>
                  </a:moveTo>
                  <a:cubicBezTo>
                    <a:pt x="72" y="0"/>
                    <a:pt x="0" y="71"/>
                    <a:pt x="0" y="167"/>
                  </a:cubicBezTo>
                  <a:lnTo>
                    <a:pt x="0" y="845"/>
                  </a:lnTo>
                  <a:cubicBezTo>
                    <a:pt x="0" y="941"/>
                    <a:pt x="72" y="1012"/>
                    <a:pt x="167" y="1012"/>
                  </a:cubicBezTo>
                  <a:lnTo>
                    <a:pt x="846" y="1012"/>
                  </a:lnTo>
                  <a:cubicBezTo>
                    <a:pt x="941" y="1012"/>
                    <a:pt x="1012" y="941"/>
                    <a:pt x="1012" y="845"/>
                  </a:cubicBezTo>
                  <a:lnTo>
                    <a:pt x="1012" y="167"/>
                  </a:lnTo>
                  <a:cubicBezTo>
                    <a:pt x="1000" y="71"/>
                    <a:pt x="941" y="0"/>
                    <a:pt x="8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6" name="Google Shape;12523;p86">
            <a:extLst>
              <a:ext uri="{FF2B5EF4-FFF2-40B4-BE49-F238E27FC236}">
                <a16:creationId xmlns:a16="http://schemas.microsoft.com/office/drawing/2014/main" id="{90A71E12-A063-E74C-0FFF-CBE425454092}"/>
              </a:ext>
            </a:extLst>
          </p:cNvPr>
          <p:cNvSpPr/>
          <p:nvPr/>
        </p:nvSpPr>
        <p:spPr>
          <a:xfrm>
            <a:off x="6189829" y="5807396"/>
            <a:ext cx="400581" cy="436241"/>
          </a:xfrm>
          <a:custGeom>
            <a:avLst/>
            <a:gdLst/>
            <a:ahLst/>
            <a:cxnLst/>
            <a:rect l="l" t="t" r="r" b="b"/>
            <a:pathLst>
              <a:path w="10133" h="11169" extrusionOk="0">
                <a:moveTo>
                  <a:pt x="5513" y="358"/>
                </a:moveTo>
                <a:cubicBezTo>
                  <a:pt x="5632" y="358"/>
                  <a:pt x="5751" y="394"/>
                  <a:pt x="5822" y="489"/>
                </a:cubicBezTo>
                <a:cubicBezTo>
                  <a:pt x="5894" y="572"/>
                  <a:pt x="5941" y="691"/>
                  <a:pt x="5929" y="810"/>
                </a:cubicBezTo>
                <a:lnTo>
                  <a:pt x="5882" y="1215"/>
                </a:lnTo>
                <a:lnTo>
                  <a:pt x="2417" y="1215"/>
                </a:lnTo>
                <a:cubicBezTo>
                  <a:pt x="2322" y="1215"/>
                  <a:pt x="2250" y="1287"/>
                  <a:pt x="2250" y="1382"/>
                </a:cubicBezTo>
                <a:cubicBezTo>
                  <a:pt x="2250" y="1465"/>
                  <a:pt x="2322" y="1549"/>
                  <a:pt x="2417" y="1549"/>
                </a:cubicBezTo>
                <a:lnTo>
                  <a:pt x="5846" y="1549"/>
                </a:lnTo>
                <a:lnTo>
                  <a:pt x="5810" y="1989"/>
                </a:lnTo>
                <a:lnTo>
                  <a:pt x="5227" y="1989"/>
                </a:lnTo>
                <a:cubicBezTo>
                  <a:pt x="5132" y="1989"/>
                  <a:pt x="5060" y="2061"/>
                  <a:pt x="5060" y="2156"/>
                </a:cubicBezTo>
                <a:cubicBezTo>
                  <a:pt x="5060" y="2251"/>
                  <a:pt x="5132" y="2322"/>
                  <a:pt x="5227" y="2322"/>
                </a:cubicBezTo>
                <a:lnTo>
                  <a:pt x="5763" y="2322"/>
                </a:lnTo>
                <a:lnTo>
                  <a:pt x="5715" y="2763"/>
                </a:lnTo>
                <a:lnTo>
                  <a:pt x="4572" y="2763"/>
                </a:lnTo>
                <a:cubicBezTo>
                  <a:pt x="4477" y="2763"/>
                  <a:pt x="4405" y="2846"/>
                  <a:pt x="4405" y="2930"/>
                </a:cubicBezTo>
                <a:cubicBezTo>
                  <a:pt x="4405" y="3025"/>
                  <a:pt x="4477" y="3096"/>
                  <a:pt x="4572" y="3096"/>
                </a:cubicBezTo>
                <a:lnTo>
                  <a:pt x="5691" y="3096"/>
                </a:lnTo>
                <a:lnTo>
                  <a:pt x="5644" y="3537"/>
                </a:lnTo>
                <a:lnTo>
                  <a:pt x="5239" y="3537"/>
                </a:lnTo>
                <a:cubicBezTo>
                  <a:pt x="5155" y="3537"/>
                  <a:pt x="5072" y="3620"/>
                  <a:pt x="5072" y="3704"/>
                </a:cubicBezTo>
                <a:cubicBezTo>
                  <a:pt x="5072" y="3799"/>
                  <a:pt x="5155" y="3870"/>
                  <a:pt x="5239" y="3870"/>
                </a:cubicBezTo>
                <a:lnTo>
                  <a:pt x="5608" y="3870"/>
                </a:lnTo>
                <a:lnTo>
                  <a:pt x="5572" y="4311"/>
                </a:lnTo>
                <a:lnTo>
                  <a:pt x="4572" y="4311"/>
                </a:lnTo>
                <a:cubicBezTo>
                  <a:pt x="4477" y="4311"/>
                  <a:pt x="4405" y="4394"/>
                  <a:pt x="4405" y="4478"/>
                </a:cubicBezTo>
                <a:cubicBezTo>
                  <a:pt x="4405" y="4573"/>
                  <a:pt x="4477" y="4644"/>
                  <a:pt x="4572" y="4644"/>
                </a:cubicBezTo>
                <a:lnTo>
                  <a:pt x="5525" y="4644"/>
                </a:lnTo>
                <a:lnTo>
                  <a:pt x="5465" y="5311"/>
                </a:lnTo>
                <a:cubicBezTo>
                  <a:pt x="5429" y="5585"/>
                  <a:pt x="5298" y="5954"/>
                  <a:pt x="4441" y="5954"/>
                </a:cubicBezTo>
                <a:lnTo>
                  <a:pt x="1738" y="5954"/>
                </a:lnTo>
                <a:cubicBezTo>
                  <a:pt x="929" y="5930"/>
                  <a:pt x="798" y="5585"/>
                  <a:pt x="762" y="5299"/>
                </a:cubicBezTo>
                <a:lnTo>
                  <a:pt x="393" y="1549"/>
                </a:lnTo>
                <a:lnTo>
                  <a:pt x="1512" y="1549"/>
                </a:lnTo>
                <a:cubicBezTo>
                  <a:pt x="1595" y="1549"/>
                  <a:pt x="1667" y="1465"/>
                  <a:pt x="1667" y="1382"/>
                </a:cubicBezTo>
                <a:cubicBezTo>
                  <a:pt x="1667" y="1287"/>
                  <a:pt x="1595" y="1215"/>
                  <a:pt x="1512" y="1215"/>
                </a:cubicBezTo>
                <a:lnTo>
                  <a:pt x="357" y="1215"/>
                </a:lnTo>
                <a:lnTo>
                  <a:pt x="321" y="810"/>
                </a:lnTo>
                <a:cubicBezTo>
                  <a:pt x="298" y="691"/>
                  <a:pt x="345" y="572"/>
                  <a:pt x="417" y="489"/>
                </a:cubicBezTo>
                <a:cubicBezTo>
                  <a:pt x="500" y="394"/>
                  <a:pt x="619" y="358"/>
                  <a:pt x="738" y="358"/>
                </a:cubicBezTo>
                <a:close/>
                <a:moveTo>
                  <a:pt x="4370" y="6263"/>
                </a:moveTo>
                <a:lnTo>
                  <a:pt x="4370" y="6549"/>
                </a:lnTo>
                <a:cubicBezTo>
                  <a:pt x="4370" y="6716"/>
                  <a:pt x="4227" y="6859"/>
                  <a:pt x="4048" y="6859"/>
                </a:cubicBezTo>
                <a:lnTo>
                  <a:pt x="2203" y="6859"/>
                </a:lnTo>
                <a:cubicBezTo>
                  <a:pt x="2060" y="6859"/>
                  <a:pt x="1905" y="6716"/>
                  <a:pt x="1905" y="6549"/>
                </a:cubicBezTo>
                <a:lnTo>
                  <a:pt x="1905" y="6263"/>
                </a:lnTo>
                <a:close/>
                <a:moveTo>
                  <a:pt x="762" y="1"/>
                </a:moveTo>
                <a:cubicBezTo>
                  <a:pt x="548" y="1"/>
                  <a:pt x="345" y="84"/>
                  <a:pt x="214" y="251"/>
                </a:cubicBezTo>
                <a:cubicBezTo>
                  <a:pt x="60" y="417"/>
                  <a:pt x="0" y="620"/>
                  <a:pt x="24" y="834"/>
                </a:cubicBezTo>
                <a:lnTo>
                  <a:pt x="464" y="5311"/>
                </a:lnTo>
                <a:cubicBezTo>
                  <a:pt x="512" y="5716"/>
                  <a:pt x="738" y="6168"/>
                  <a:pt x="1607" y="6252"/>
                </a:cubicBezTo>
                <a:lnTo>
                  <a:pt x="1607" y="6525"/>
                </a:lnTo>
                <a:cubicBezTo>
                  <a:pt x="1607" y="6871"/>
                  <a:pt x="1893" y="7168"/>
                  <a:pt x="2250" y="7168"/>
                </a:cubicBezTo>
                <a:lnTo>
                  <a:pt x="3012" y="7168"/>
                </a:lnTo>
                <a:lnTo>
                  <a:pt x="3012" y="8966"/>
                </a:lnTo>
                <a:cubicBezTo>
                  <a:pt x="3012" y="10181"/>
                  <a:pt x="3989" y="11169"/>
                  <a:pt x="5215" y="11169"/>
                </a:cubicBezTo>
                <a:lnTo>
                  <a:pt x="7203" y="11169"/>
                </a:lnTo>
                <a:cubicBezTo>
                  <a:pt x="8406" y="11169"/>
                  <a:pt x="9406" y="10192"/>
                  <a:pt x="9406" y="8966"/>
                </a:cubicBezTo>
                <a:lnTo>
                  <a:pt x="9406" y="5668"/>
                </a:lnTo>
                <a:lnTo>
                  <a:pt x="9680" y="5668"/>
                </a:lnTo>
                <a:cubicBezTo>
                  <a:pt x="9930" y="5668"/>
                  <a:pt x="10132" y="5454"/>
                  <a:pt x="10132" y="5204"/>
                </a:cubicBezTo>
                <a:lnTo>
                  <a:pt x="10132" y="2894"/>
                </a:lnTo>
                <a:cubicBezTo>
                  <a:pt x="10073" y="2656"/>
                  <a:pt x="9882" y="2453"/>
                  <a:pt x="9632" y="2453"/>
                </a:cubicBezTo>
                <a:lnTo>
                  <a:pt x="9406" y="2453"/>
                </a:lnTo>
                <a:lnTo>
                  <a:pt x="9406" y="1763"/>
                </a:lnTo>
                <a:cubicBezTo>
                  <a:pt x="9406" y="1680"/>
                  <a:pt x="9335" y="1608"/>
                  <a:pt x="9251" y="1608"/>
                </a:cubicBezTo>
                <a:cubicBezTo>
                  <a:pt x="9156" y="1608"/>
                  <a:pt x="9084" y="1680"/>
                  <a:pt x="9084" y="1763"/>
                </a:cubicBezTo>
                <a:lnTo>
                  <a:pt x="9084" y="2453"/>
                </a:lnTo>
                <a:lnTo>
                  <a:pt x="8858" y="2453"/>
                </a:lnTo>
                <a:cubicBezTo>
                  <a:pt x="8608" y="2453"/>
                  <a:pt x="8394" y="2656"/>
                  <a:pt x="8394" y="2918"/>
                </a:cubicBezTo>
                <a:lnTo>
                  <a:pt x="8394" y="3549"/>
                </a:lnTo>
                <a:cubicBezTo>
                  <a:pt x="8394" y="3644"/>
                  <a:pt x="8477" y="3716"/>
                  <a:pt x="8561" y="3716"/>
                </a:cubicBezTo>
                <a:cubicBezTo>
                  <a:pt x="8656" y="3716"/>
                  <a:pt x="8727" y="3644"/>
                  <a:pt x="8727" y="3549"/>
                </a:cubicBezTo>
                <a:lnTo>
                  <a:pt x="8727" y="2918"/>
                </a:lnTo>
                <a:cubicBezTo>
                  <a:pt x="8727" y="2846"/>
                  <a:pt x="8787" y="2787"/>
                  <a:pt x="8858" y="2787"/>
                </a:cubicBezTo>
                <a:lnTo>
                  <a:pt x="9632" y="2787"/>
                </a:lnTo>
                <a:cubicBezTo>
                  <a:pt x="9704" y="2787"/>
                  <a:pt x="9763" y="2846"/>
                  <a:pt x="9763" y="2918"/>
                </a:cubicBezTo>
                <a:lnTo>
                  <a:pt x="9763" y="5228"/>
                </a:lnTo>
                <a:cubicBezTo>
                  <a:pt x="9763" y="5299"/>
                  <a:pt x="9704" y="5359"/>
                  <a:pt x="9632" y="5359"/>
                </a:cubicBezTo>
                <a:lnTo>
                  <a:pt x="8858" y="5359"/>
                </a:lnTo>
                <a:cubicBezTo>
                  <a:pt x="8787" y="5359"/>
                  <a:pt x="8727" y="5299"/>
                  <a:pt x="8727" y="5228"/>
                </a:cubicBezTo>
                <a:lnTo>
                  <a:pt x="8727" y="4251"/>
                </a:lnTo>
                <a:cubicBezTo>
                  <a:pt x="8727" y="4168"/>
                  <a:pt x="8656" y="4097"/>
                  <a:pt x="8561" y="4097"/>
                </a:cubicBezTo>
                <a:cubicBezTo>
                  <a:pt x="8477" y="4097"/>
                  <a:pt x="8394" y="4168"/>
                  <a:pt x="8394" y="4251"/>
                </a:cubicBezTo>
                <a:lnTo>
                  <a:pt x="8394" y="5228"/>
                </a:lnTo>
                <a:cubicBezTo>
                  <a:pt x="8394" y="5478"/>
                  <a:pt x="8608" y="5680"/>
                  <a:pt x="8858" y="5680"/>
                </a:cubicBezTo>
                <a:lnTo>
                  <a:pt x="9049" y="5680"/>
                </a:lnTo>
                <a:lnTo>
                  <a:pt x="9049" y="8990"/>
                </a:lnTo>
                <a:cubicBezTo>
                  <a:pt x="9049" y="10014"/>
                  <a:pt x="8215" y="10859"/>
                  <a:pt x="7179" y="10859"/>
                </a:cubicBezTo>
                <a:lnTo>
                  <a:pt x="5179" y="10859"/>
                </a:lnTo>
                <a:cubicBezTo>
                  <a:pt x="4155" y="10859"/>
                  <a:pt x="3310" y="10026"/>
                  <a:pt x="3310" y="8990"/>
                </a:cubicBezTo>
                <a:lnTo>
                  <a:pt x="3310" y="7192"/>
                </a:lnTo>
                <a:lnTo>
                  <a:pt x="4072" y="7192"/>
                </a:lnTo>
                <a:cubicBezTo>
                  <a:pt x="4405" y="7192"/>
                  <a:pt x="4703" y="6906"/>
                  <a:pt x="4703" y="6549"/>
                </a:cubicBezTo>
                <a:lnTo>
                  <a:pt x="4703" y="6263"/>
                </a:lnTo>
                <a:cubicBezTo>
                  <a:pt x="5572" y="6204"/>
                  <a:pt x="5810" y="5728"/>
                  <a:pt x="5858" y="5323"/>
                </a:cubicBezTo>
                <a:lnTo>
                  <a:pt x="5941" y="4478"/>
                </a:lnTo>
                <a:lnTo>
                  <a:pt x="6013" y="3704"/>
                </a:lnTo>
                <a:lnTo>
                  <a:pt x="6096" y="2930"/>
                </a:lnTo>
                <a:lnTo>
                  <a:pt x="6239" y="1382"/>
                </a:lnTo>
                <a:lnTo>
                  <a:pt x="6298" y="834"/>
                </a:lnTo>
                <a:cubicBezTo>
                  <a:pt x="6310" y="620"/>
                  <a:pt x="6251" y="417"/>
                  <a:pt x="6108" y="251"/>
                </a:cubicBezTo>
                <a:cubicBezTo>
                  <a:pt x="5953" y="84"/>
                  <a:pt x="5763" y="1"/>
                  <a:pt x="5560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Right Arrow 10">
            <a:extLst>
              <a:ext uri="{FF2B5EF4-FFF2-40B4-BE49-F238E27FC236}">
                <a16:creationId xmlns:a16="http://schemas.microsoft.com/office/drawing/2014/main" id="{B618BEA4-9B15-25C9-1DD8-9354E20A69CB}"/>
              </a:ext>
            </a:extLst>
          </p:cNvPr>
          <p:cNvSpPr/>
          <p:nvPr/>
        </p:nvSpPr>
        <p:spPr>
          <a:xfrm rot="16200000" flipV="1">
            <a:off x="6749899" y="4700017"/>
            <a:ext cx="847075" cy="234760"/>
          </a:xfrm>
          <a:prstGeom prst="rightArrow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ight Arrow 10">
            <a:extLst>
              <a:ext uri="{FF2B5EF4-FFF2-40B4-BE49-F238E27FC236}">
                <a16:creationId xmlns:a16="http://schemas.microsoft.com/office/drawing/2014/main" id="{31433F71-EB02-991D-FC30-E629351B3D77}"/>
              </a:ext>
            </a:extLst>
          </p:cNvPr>
          <p:cNvSpPr/>
          <p:nvPr/>
        </p:nvSpPr>
        <p:spPr>
          <a:xfrm>
            <a:off x="8900289" y="1856064"/>
            <a:ext cx="656608" cy="278857"/>
          </a:xfrm>
          <a:prstGeom prst="rightArrow">
            <a:avLst/>
          </a:prstGeom>
          <a:solidFill>
            <a:srgbClr val="A5D7D2"/>
          </a:solidFill>
          <a:ln>
            <a:solidFill>
              <a:srgbClr val="006E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1" name="Google Shape;12873;p87">
            <a:extLst>
              <a:ext uri="{FF2B5EF4-FFF2-40B4-BE49-F238E27FC236}">
                <a16:creationId xmlns:a16="http://schemas.microsoft.com/office/drawing/2014/main" id="{A689BFB4-4632-8166-7343-836502DFE841}"/>
              </a:ext>
            </a:extLst>
          </p:cNvPr>
          <p:cNvGrpSpPr/>
          <p:nvPr/>
        </p:nvGrpSpPr>
        <p:grpSpPr>
          <a:xfrm>
            <a:off x="7862630" y="3162793"/>
            <a:ext cx="365100" cy="530884"/>
            <a:chOff x="4343157" y="2561115"/>
            <a:chExt cx="218687" cy="349052"/>
          </a:xfrm>
          <a:solidFill>
            <a:schemeClr val="tx2"/>
          </a:solidFill>
        </p:grpSpPr>
        <p:sp>
          <p:nvSpPr>
            <p:cNvPr id="122" name="Google Shape;12874;p87">
              <a:extLst>
                <a:ext uri="{FF2B5EF4-FFF2-40B4-BE49-F238E27FC236}">
                  <a16:creationId xmlns:a16="http://schemas.microsoft.com/office/drawing/2014/main" id="{B06FFD69-0772-AB3A-AB29-46F5B17556B6}"/>
                </a:ext>
              </a:extLst>
            </p:cNvPr>
            <p:cNvSpPr/>
            <p:nvPr/>
          </p:nvSpPr>
          <p:spPr>
            <a:xfrm>
              <a:off x="4343157" y="2561115"/>
              <a:ext cx="218687" cy="349052"/>
            </a:xfrm>
            <a:custGeom>
              <a:avLst/>
              <a:gdLst/>
              <a:ahLst/>
              <a:cxnLst/>
              <a:rect l="l" t="t" r="r" b="b"/>
              <a:pathLst>
                <a:path w="6871" h="10967" extrusionOk="0">
                  <a:moveTo>
                    <a:pt x="6513" y="846"/>
                  </a:moveTo>
                  <a:cubicBezTo>
                    <a:pt x="6513" y="846"/>
                    <a:pt x="6537" y="846"/>
                    <a:pt x="6537" y="870"/>
                  </a:cubicBezTo>
                  <a:lnTo>
                    <a:pt x="6537" y="1203"/>
                  </a:lnTo>
                  <a:lnTo>
                    <a:pt x="6513" y="1203"/>
                  </a:lnTo>
                  <a:lnTo>
                    <a:pt x="6001" y="1227"/>
                  </a:lnTo>
                  <a:cubicBezTo>
                    <a:pt x="5906" y="1227"/>
                    <a:pt x="5834" y="1298"/>
                    <a:pt x="5834" y="1382"/>
                  </a:cubicBezTo>
                  <a:cubicBezTo>
                    <a:pt x="5834" y="1477"/>
                    <a:pt x="5906" y="1548"/>
                    <a:pt x="6001" y="1548"/>
                  </a:cubicBezTo>
                  <a:lnTo>
                    <a:pt x="6180" y="1548"/>
                  </a:lnTo>
                  <a:lnTo>
                    <a:pt x="6180" y="7239"/>
                  </a:lnTo>
                  <a:cubicBezTo>
                    <a:pt x="6180" y="7239"/>
                    <a:pt x="6180" y="7251"/>
                    <a:pt x="6156" y="7251"/>
                  </a:cubicBezTo>
                  <a:lnTo>
                    <a:pt x="655" y="7251"/>
                  </a:lnTo>
                  <a:cubicBezTo>
                    <a:pt x="655" y="7251"/>
                    <a:pt x="643" y="7251"/>
                    <a:pt x="643" y="7239"/>
                  </a:cubicBezTo>
                  <a:lnTo>
                    <a:pt x="643" y="1548"/>
                  </a:lnTo>
                  <a:lnTo>
                    <a:pt x="5310" y="1548"/>
                  </a:lnTo>
                  <a:cubicBezTo>
                    <a:pt x="5406" y="1548"/>
                    <a:pt x="5477" y="1477"/>
                    <a:pt x="5477" y="1382"/>
                  </a:cubicBezTo>
                  <a:cubicBezTo>
                    <a:pt x="5477" y="1298"/>
                    <a:pt x="5406" y="1227"/>
                    <a:pt x="5310" y="1227"/>
                  </a:cubicBezTo>
                  <a:lnTo>
                    <a:pt x="322" y="1227"/>
                  </a:lnTo>
                  <a:cubicBezTo>
                    <a:pt x="322" y="1227"/>
                    <a:pt x="310" y="1227"/>
                    <a:pt x="310" y="1203"/>
                  </a:cubicBezTo>
                  <a:lnTo>
                    <a:pt x="310" y="870"/>
                  </a:lnTo>
                  <a:cubicBezTo>
                    <a:pt x="310" y="870"/>
                    <a:pt x="310" y="846"/>
                    <a:pt x="322" y="846"/>
                  </a:cubicBezTo>
                  <a:close/>
                  <a:moveTo>
                    <a:pt x="5179" y="7561"/>
                  </a:moveTo>
                  <a:lnTo>
                    <a:pt x="5656" y="9990"/>
                  </a:lnTo>
                  <a:lnTo>
                    <a:pt x="3572" y="9990"/>
                  </a:lnTo>
                  <a:lnTo>
                    <a:pt x="3572" y="8085"/>
                  </a:lnTo>
                  <a:cubicBezTo>
                    <a:pt x="3572" y="7990"/>
                    <a:pt x="3501" y="7918"/>
                    <a:pt x="3405" y="7918"/>
                  </a:cubicBezTo>
                  <a:cubicBezTo>
                    <a:pt x="3310" y="7918"/>
                    <a:pt x="3239" y="7990"/>
                    <a:pt x="3239" y="8085"/>
                  </a:cubicBezTo>
                  <a:lnTo>
                    <a:pt x="3239" y="9990"/>
                  </a:lnTo>
                  <a:lnTo>
                    <a:pt x="1155" y="9990"/>
                  </a:lnTo>
                  <a:lnTo>
                    <a:pt x="1643" y="7561"/>
                  </a:lnTo>
                  <a:close/>
                  <a:moveTo>
                    <a:pt x="3417" y="0"/>
                  </a:moveTo>
                  <a:cubicBezTo>
                    <a:pt x="3334" y="0"/>
                    <a:pt x="3263" y="72"/>
                    <a:pt x="3263" y="167"/>
                  </a:cubicBezTo>
                  <a:lnTo>
                    <a:pt x="3263" y="524"/>
                  </a:lnTo>
                  <a:lnTo>
                    <a:pt x="322" y="524"/>
                  </a:lnTo>
                  <a:cubicBezTo>
                    <a:pt x="143" y="524"/>
                    <a:pt x="0" y="667"/>
                    <a:pt x="0" y="846"/>
                  </a:cubicBezTo>
                  <a:lnTo>
                    <a:pt x="0" y="1191"/>
                  </a:lnTo>
                  <a:cubicBezTo>
                    <a:pt x="0" y="1370"/>
                    <a:pt x="143" y="1524"/>
                    <a:pt x="322" y="1524"/>
                  </a:cubicBezTo>
                  <a:lnTo>
                    <a:pt x="334" y="1524"/>
                  </a:lnTo>
                  <a:lnTo>
                    <a:pt x="334" y="7204"/>
                  </a:lnTo>
                  <a:cubicBezTo>
                    <a:pt x="334" y="7382"/>
                    <a:pt x="488" y="7525"/>
                    <a:pt x="667" y="7525"/>
                  </a:cubicBezTo>
                  <a:lnTo>
                    <a:pt x="1334" y="7525"/>
                  </a:lnTo>
                  <a:lnTo>
                    <a:pt x="679" y="10776"/>
                  </a:lnTo>
                  <a:cubicBezTo>
                    <a:pt x="667" y="10859"/>
                    <a:pt x="727" y="10954"/>
                    <a:pt x="798" y="10966"/>
                  </a:cubicBezTo>
                  <a:lnTo>
                    <a:pt x="834" y="10966"/>
                  </a:lnTo>
                  <a:cubicBezTo>
                    <a:pt x="905" y="10966"/>
                    <a:pt x="977" y="10907"/>
                    <a:pt x="1000" y="10835"/>
                  </a:cubicBezTo>
                  <a:lnTo>
                    <a:pt x="1119" y="10264"/>
                  </a:lnTo>
                  <a:lnTo>
                    <a:pt x="3274" y="10264"/>
                  </a:lnTo>
                  <a:lnTo>
                    <a:pt x="3274" y="10788"/>
                  </a:lnTo>
                  <a:cubicBezTo>
                    <a:pt x="3274" y="10883"/>
                    <a:pt x="3346" y="10954"/>
                    <a:pt x="3441" y="10954"/>
                  </a:cubicBezTo>
                  <a:cubicBezTo>
                    <a:pt x="3524" y="10954"/>
                    <a:pt x="3596" y="10883"/>
                    <a:pt x="3596" y="10788"/>
                  </a:cubicBezTo>
                  <a:lnTo>
                    <a:pt x="3596" y="10264"/>
                  </a:lnTo>
                  <a:lnTo>
                    <a:pt x="5763" y="10264"/>
                  </a:lnTo>
                  <a:lnTo>
                    <a:pt x="5882" y="10835"/>
                  </a:lnTo>
                  <a:cubicBezTo>
                    <a:pt x="5894" y="10907"/>
                    <a:pt x="5965" y="10966"/>
                    <a:pt x="6037" y="10966"/>
                  </a:cubicBezTo>
                  <a:lnTo>
                    <a:pt x="6072" y="10966"/>
                  </a:lnTo>
                  <a:cubicBezTo>
                    <a:pt x="6156" y="10954"/>
                    <a:pt x="6215" y="10859"/>
                    <a:pt x="6191" y="10776"/>
                  </a:cubicBezTo>
                  <a:lnTo>
                    <a:pt x="5537" y="7525"/>
                  </a:lnTo>
                  <a:lnTo>
                    <a:pt x="6203" y="7525"/>
                  </a:lnTo>
                  <a:cubicBezTo>
                    <a:pt x="6382" y="7525"/>
                    <a:pt x="6537" y="7382"/>
                    <a:pt x="6537" y="7204"/>
                  </a:cubicBezTo>
                  <a:lnTo>
                    <a:pt x="6537" y="1513"/>
                  </a:lnTo>
                  <a:lnTo>
                    <a:pt x="6549" y="1513"/>
                  </a:lnTo>
                  <a:cubicBezTo>
                    <a:pt x="6727" y="1513"/>
                    <a:pt x="6870" y="1370"/>
                    <a:pt x="6870" y="1191"/>
                  </a:cubicBezTo>
                  <a:lnTo>
                    <a:pt x="6870" y="870"/>
                  </a:lnTo>
                  <a:cubicBezTo>
                    <a:pt x="6846" y="667"/>
                    <a:pt x="6692" y="524"/>
                    <a:pt x="6513" y="524"/>
                  </a:cubicBezTo>
                  <a:lnTo>
                    <a:pt x="3584" y="524"/>
                  </a:lnTo>
                  <a:lnTo>
                    <a:pt x="3584" y="167"/>
                  </a:lnTo>
                  <a:cubicBezTo>
                    <a:pt x="3584" y="72"/>
                    <a:pt x="3513" y="0"/>
                    <a:pt x="34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875;p87">
              <a:extLst>
                <a:ext uri="{FF2B5EF4-FFF2-40B4-BE49-F238E27FC236}">
                  <a16:creationId xmlns:a16="http://schemas.microsoft.com/office/drawing/2014/main" id="{B2B94712-0BF8-D549-9C0F-945EE40754A6}"/>
                </a:ext>
              </a:extLst>
            </p:cNvPr>
            <p:cNvSpPr/>
            <p:nvPr/>
          </p:nvSpPr>
          <p:spPr>
            <a:xfrm flipV="1">
              <a:off x="4381106" y="2651474"/>
              <a:ext cx="142524" cy="103503"/>
            </a:xfrm>
            <a:custGeom>
              <a:avLst/>
              <a:gdLst/>
              <a:ahLst/>
              <a:cxnLst/>
              <a:rect l="l" t="t" r="r" b="b"/>
              <a:pathLst>
                <a:path w="4478" h="3252" extrusionOk="0">
                  <a:moveTo>
                    <a:pt x="3430" y="1"/>
                  </a:moveTo>
                  <a:cubicBezTo>
                    <a:pt x="3347" y="1"/>
                    <a:pt x="3275" y="84"/>
                    <a:pt x="3275" y="168"/>
                  </a:cubicBezTo>
                  <a:cubicBezTo>
                    <a:pt x="3275" y="263"/>
                    <a:pt x="3347" y="334"/>
                    <a:pt x="3430" y="334"/>
                  </a:cubicBezTo>
                  <a:lnTo>
                    <a:pt x="3906" y="334"/>
                  </a:lnTo>
                  <a:lnTo>
                    <a:pt x="2335" y="1906"/>
                  </a:lnTo>
                  <a:lnTo>
                    <a:pt x="2323" y="1906"/>
                  </a:lnTo>
                  <a:lnTo>
                    <a:pt x="1965" y="1549"/>
                  </a:lnTo>
                  <a:cubicBezTo>
                    <a:pt x="1894" y="1483"/>
                    <a:pt x="1808" y="1450"/>
                    <a:pt x="1723" y="1450"/>
                  </a:cubicBezTo>
                  <a:cubicBezTo>
                    <a:pt x="1638" y="1450"/>
                    <a:pt x="1555" y="1483"/>
                    <a:pt x="1489" y="1549"/>
                  </a:cubicBezTo>
                  <a:lnTo>
                    <a:pt x="60" y="2977"/>
                  </a:lnTo>
                  <a:cubicBezTo>
                    <a:pt x="1" y="3037"/>
                    <a:pt x="1" y="3144"/>
                    <a:pt x="60" y="3204"/>
                  </a:cubicBezTo>
                  <a:cubicBezTo>
                    <a:pt x="84" y="3239"/>
                    <a:pt x="132" y="3251"/>
                    <a:pt x="180" y="3251"/>
                  </a:cubicBezTo>
                  <a:cubicBezTo>
                    <a:pt x="215" y="3251"/>
                    <a:pt x="263" y="3239"/>
                    <a:pt x="299" y="3204"/>
                  </a:cubicBezTo>
                  <a:lnTo>
                    <a:pt x="1727" y="1775"/>
                  </a:lnTo>
                  <a:lnTo>
                    <a:pt x="1739" y="1775"/>
                  </a:lnTo>
                  <a:lnTo>
                    <a:pt x="2096" y="2132"/>
                  </a:lnTo>
                  <a:cubicBezTo>
                    <a:pt x="2156" y="2192"/>
                    <a:pt x="2239" y="2239"/>
                    <a:pt x="2335" y="2239"/>
                  </a:cubicBezTo>
                  <a:cubicBezTo>
                    <a:pt x="2418" y="2239"/>
                    <a:pt x="2513" y="2203"/>
                    <a:pt x="2573" y="2132"/>
                  </a:cubicBezTo>
                  <a:lnTo>
                    <a:pt x="4144" y="560"/>
                  </a:lnTo>
                  <a:lnTo>
                    <a:pt x="4144" y="1037"/>
                  </a:lnTo>
                  <a:cubicBezTo>
                    <a:pt x="4144" y="1120"/>
                    <a:pt x="4228" y="1191"/>
                    <a:pt x="4311" y="1191"/>
                  </a:cubicBezTo>
                  <a:cubicBezTo>
                    <a:pt x="4406" y="1191"/>
                    <a:pt x="4478" y="1120"/>
                    <a:pt x="4478" y="1037"/>
                  </a:cubicBezTo>
                  <a:lnTo>
                    <a:pt x="4478" y="168"/>
                  </a:lnTo>
                  <a:cubicBezTo>
                    <a:pt x="4466" y="84"/>
                    <a:pt x="4382" y="1"/>
                    <a:pt x="42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8" name="Titel 1">
            <a:extLst>
              <a:ext uri="{FF2B5EF4-FFF2-40B4-BE49-F238E27FC236}">
                <a16:creationId xmlns:a16="http://schemas.microsoft.com/office/drawing/2014/main" id="{FECE1CC9-3DAB-4842-DE64-CD654EB88E29}"/>
              </a:ext>
            </a:extLst>
          </p:cNvPr>
          <p:cNvSpPr txBox="1">
            <a:spLocks/>
          </p:cNvSpPr>
          <p:nvPr/>
        </p:nvSpPr>
        <p:spPr>
          <a:xfrm>
            <a:off x="9655371" y="1793605"/>
            <a:ext cx="1904082" cy="4841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ts val="2500"/>
              </a:lnSpc>
              <a:spcBef>
                <a:spcPct val="0"/>
              </a:spcBef>
              <a:buNone/>
              <a:defRPr sz="23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it-IT" sz="1400" b="0" dirty="0"/>
              <a:t>Conversion of </a:t>
            </a:r>
            <a:r>
              <a:rPr lang="it-IT" sz="1400" b="0" dirty="0" err="1"/>
              <a:t>succinate</a:t>
            </a:r>
            <a:r>
              <a:rPr lang="it-IT" sz="1400" b="0" dirty="0"/>
              <a:t> </a:t>
            </a:r>
            <a:r>
              <a:rPr lang="it-IT" sz="1400" b="0" dirty="0" err="1"/>
              <a:t>into</a:t>
            </a:r>
            <a:r>
              <a:rPr lang="it-IT" sz="1400" b="0" dirty="0"/>
              <a:t> </a:t>
            </a:r>
            <a:r>
              <a:rPr lang="it-IT" sz="1400" b="0" dirty="0" err="1"/>
              <a:t>nutrients</a:t>
            </a:r>
            <a:endParaRPr lang="de-CH" sz="1400" b="0" dirty="0"/>
          </a:p>
        </p:txBody>
      </p:sp>
      <p:grpSp>
        <p:nvGrpSpPr>
          <p:cNvPr id="129" name="Google Shape;14251;p89">
            <a:extLst>
              <a:ext uri="{FF2B5EF4-FFF2-40B4-BE49-F238E27FC236}">
                <a16:creationId xmlns:a16="http://schemas.microsoft.com/office/drawing/2014/main" id="{3E7936B4-43B0-B2A7-586C-82F60AB0F499}"/>
              </a:ext>
            </a:extLst>
          </p:cNvPr>
          <p:cNvGrpSpPr/>
          <p:nvPr/>
        </p:nvGrpSpPr>
        <p:grpSpPr>
          <a:xfrm>
            <a:off x="11664965" y="1711978"/>
            <a:ext cx="323831" cy="484100"/>
            <a:chOff x="4882340" y="1509358"/>
            <a:chExt cx="246171" cy="351095"/>
          </a:xfrm>
          <a:solidFill>
            <a:srgbClr val="006E6E"/>
          </a:solidFill>
        </p:grpSpPr>
        <p:sp>
          <p:nvSpPr>
            <p:cNvPr id="130" name="Google Shape;14252;p89">
              <a:extLst>
                <a:ext uri="{FF2B5EF4-FFF2-40B4-BE49-F238E27FC236}">
                  <a16:creationId xmlns:a16="http://schemas.microsoft.com/office/drawing/2014/main" id="{3AB85E25-8DF4-4D19-7918-B11B276E1BE3}"/>
                </a:ext>
              </a:extLst>
            </p:cNvPr>
            <p:cNvSpPr/>
            <p:nvPr/>
          </p:nvSpPr>
          <p:spPr>
            <a:xfrm>
              <a:off x="4935709" y="1576784"/>
              <a:ext cx="30724" cy="30692"/>
            </a:xfrm>
            <a:custGeom>
              <a:avLst/>
              <a:gdLst/>
              <a:ahLst/>
              <a:cxnLst/>
              <a:rect l="l" t="t" r="r" b="b"/>
              <a:pathLst>
                <a:path w="966" h="965" extrusionOk="0">
                  <a:moveTo>
                    <a:pt x="787" y="0"/>
                  </a:moveTo>
                  <a:cubicBezTo>
                    <a:pt x="346" y="0"/>
                    <a:pt x="1" y="357"/>
                    <a:pt x="1" y="798"/>
                  </a:cubicBezTo>
                  <a:cubicBezTo>
                    <a:pt x="1" y="881"/>
                    <a:pt x="72" y="965"/>
                    <a:pt x="156" y="965"/>
                  </a:cubicBezTo>
                  <a:cubicBezTo>
                    <a:pt x="251" y="965"/>
                    <a:pt x="322" y="881"/>
                    <a:pt x="322" y="798"/>
                  </a:cubicBezTo>
                  <a:cubicBezTo>
                    <a:pt x="322" y="548"/>
                    <a:pt x="525" y="322"/>
                    <a:pt x="799" y="322"/>
                  </a:cubicBezTo>
                  <a:cubicBezTo>
                    <a:pt x="882" y="322"/>
                    <a:pt x="965" y="250"/>
                    <a:pt x="965" y="155"/>
                  </a:cubicBezTo>
                  <a:cubicBezTo>
                    <a:pt x="953" y="84"/>
                    <a:pt x="870" y="0"/>
                    <a:pt x="7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4253;p89">
              <a:extLst>
                <a:ext uri="{FF2B5EF4-FFF2-40B4-BE49-F238E27FC236}">
                  <a16:creationId xmlns:a16="http://schemas.microsoft.com/office/drawing/2014/main" id="{2723F0E3-E78F-F672-0C93-16ED8E1DFD91}"/>
                </a:ext>
              </a:extLst>
            </p:cNvPr>
            <p:cNvSpPr/>
            <p:nvPr/>
          </p:nvSpPr>
          <p:spPr>
            <a:xfrm>
              <a:off x="5043655" y="1597235"/>
              <a:ext cx="30692" cy="31073"/>
            </a:xfrm>
            <a:custGeom>
              <a:avLst/>
              <a:gdLst/>
              <a:ahLst/>
              <a:cxnLst/>
              <a:rect l="l" t="t" r="r" b="b"/>
              <a:pathLst>
                <a:path w="965" h="977" extrusionOk="0">
                  <a:moveTo>
                    <a:pt x="155" y="0"/>
                  </a:moveTo>
                  <a:cubicBezTo>
                    <a:pt x="72" y="0"/>
                    <a:pt x="0" y="84"/>
                    <a:pt x="0" y="167"/>
                  </a:cubicBezTo>
                  <a:cubicBezTo>
                    <a:pt x="0" y="262"/>
                    <a:pt x="72" y="334"/>
                    <a:pt x="155" y="334"/>
                  </a:cubicBezTo>
                  <a:cubicBezTo>
                    <a:pt x="417" y="334"/>
                    <a:pt x="631" y="536"/>
                    <a:pt x="631" y="810"/>
                  </a:cubicBezTo>
                  <a:cubicBezTo>
                    <a:pt x="631" y="893"/>
                    <a:pt x="714" y="977"/>
                    <a:pt x="798" y="977"/>
                  </a:cubicBezTo>
                  <a:cubicBezTo>
                    <a:pt x="881" y="977"/>
                    <a:pt x="965" y="893"/>
                    <a:pt x="965" y="810"/>
                  </a:cubicBezTo>
                  <a:cubicBezTo>
                    <a:pt x="953" y="357"/>
                    <a:pt x="584" y="0"/>
                    <a:pt x="1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4254;p89">
              <a:extLst>
                <a:ext uri="{FF2B5EF4-FFF2-40B4-BE49-F238E27FC236}">
                  <a16:creationId xmlns:a16="http://schemas.microsoft.com/office/drawing/2014/main" id="{6138C31D-1E15-181D-B01D-94E8FE812927}"/>
                </a:ext>
              </a:extLst>
            </p:cNvPr>
            <p:cNvSpPr/>
            <p:nvPr/>
          </p:nvSpPr>
          <p:spPr>
            <a:xfrm>
              <a:off x="4993657" y="1538046"/>
              <a:ext cx="36003" cy="26271"/>
            </a:xfrm>
            <a:custGeom>
              <a:avLst/>
              <a:gdLst/>
              <a:ahLst/>
              <a:cxnLst/>
              <a:rect l="l" t="t" r="r" b="b"/>
              <a:pathLst>
                <a:path w="1132" h="826" extrusionOk="0">
                  <a:moveTo>
                    <a:pt x="315" y="0"/>
                  </a:moveTo>
                  <a:cubicBezTo>
                    <a:pt x="262" y="0"/>
                    <a:pt x="209" y="5"/>
                    <a:pt x="155" y="16"/>
                  </a:cubicBezTo>
                  <a:cubicBezTo>
                    <a:pt x="60" y="28"/>
                    <a:pt x="0" y="123"/>
                    <a:pt x="36" y="206"/>
                  </a:cubicBezTo>
                  <a:cubicBezTo>
                    <a:pt x="46" y="282"/>
                    <a:pt x="109" y="336"/>
                    <a:pt x="176" y="336"/>
                  </a:cubicBezTo>
                  <a:cubicBezTo>
                    <a:pt x="193" y="336"/>
                    <a:pt x="210" y="332"/>
                    <a:pt x="227" y="325"/>
                  </a:cubicBezTo>
                  <a:cubicBezTo>
                    <a:pt x="257" y="320"/>
                    <a:pt x="288" y="317"/>
                    <a:pt x="318" y="317"/>
                  </a:cubicBezTo>
                  <a:cubicBezTo>
                    <a:pt x="537" y="317"/>
                    <a:pt x="744" y="463"/>
                    <a:pt x="786" y="683"/>
                  </a:cubicBezTo>
                  <a:cubicBezTo>
                    <a:pt x="810" y="766"/>
                    <a:pt x="882" y="825"/>
                    <a:pt x="953" y="825"/>
                  </a:cubicBezTo>
                  <a:lnTo>
                    <a:pt x="989" y="825"/>
                  </a:lnTo>
                  <a:cubicBezTo>
                    <a:pt x="1072" y="790"/>
                    <a:pt x="1132" y="718"/>
                    <a:pt x="1108" y="623"/>
                  </a:cubicBezTo>
                  <a:cubicBezTo>
                    <a:pt x="1024" y="248"/>
                    <a:pt x="686" y="0"/>
                    <a:pt x="3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4255;p89">
              <a:extLst>
                <a:ext uri="{FF2B5EF4-FFF2-40B4-BE49-F238E27FC236}">
                  <a16:creationId xmlns:a16="http://schemas.microsoft.com/office/drawing/2014/main" id="{EEB4DC5B-EA74-BA97-2B73-BACA762E883F}"/>
                </a:ext>
              </a:extLst>
            </p:cNvPr>
            <p:cNvSpPr/>
            <p:nvPr/>
          </p:nvSpPr>
          <p:spPr>
            <a:xfrm>
              <a:off x="4931924" y="1693795"/>
              <a:ext cx="146589" cy="104161"/>
            </a:xfrm>
            <a:custGeom>
              <a:avLst/>
              <a:gdLst/>
              <a:ahLst/>
              <a:cxnLst/>
              <a:rect l="l" t="t" r="r" b="b"/>
              <a:pathLst>
                <a:path w="4609" h="3275" extrusionOk="0">
                  <a:moveTo>
                    <a:pt x="2299" y="334"/>
                  </a:moveTo>
                  <a:cubicBezTo>
                    <a:pt x="2834" y="334"/>
                    <a:pt x="3346" y="477"/>
                    <a:pt x="3716" y="727"/>
                  </a:cubicBezTo>
                  <a:cubicBezTo>
                    <a:pt x="4073" y="989"/>
                    <a:pt x="4263" y="1298"/>
                    <a:pt x="4263" y="1643"/>
                  </a:cubicBezTo>
                  <a:cubicBezTo>
                    <a:pt x="4287" y="1977"/>
                    <a:pt x="4073" y="2298"/>
                    <a:pt x="3716" y="2548"/>
                  </a:cubicBezTo>
                  <a:cubicBezTo>
                    <a:pt x="3346" y="2798"/>
                    <a:pt x="2834" y="2953"/>
                    <a:pt x="2299" y="2953"/>
                  </a:cubicBezTo>
                  <a:cubicBezTo>
                    <a:pt x="1763" y="2953"/>
                    <a:pt x="1263" y="2798"/>
                    <a:pt x="894" y="2548"/>
                  </a:cubicBezTo>
                  <a:cubicBezTo>
                    <a:pt x="525" y="2298"/>
                    <a:pt x="334" y="1977"/>
                    <a:pt x="334" y="1643"/>
                  </a:cubicBezTo>
                  <a:cubicBezTo>
                    <a:pt x="334" y="1298"/>
                    <a:pt x="525" y="989"/>
                    <a:pt x="894" y="727"/>
                  </a:cubicBezTo>
                  <a:cubicBezTo>
                    <a:pt x="1263" y="477"/>
                    <a:pt x="1763" y="334"/>
                    <a:pt x="2299" y="334"/>
                  </a:cubicBezTo>
                  <a:close/>
                  <a:moveTo>
                    <a:pt x="2299" y="0"/>
                  </a:moveTo>
                  <a:cubicBezTo>
                    <a:pt x="1703" y="0"/>
                    <a:pt x="1120" y="167"/>
                    <a:pt x="691" y="465"/>
                  </a:cubicBezTo>
                  <a:cubicBezTo>
                    <a:pt x="251" y="774"/>
                    <a:pt x="1" y="1191"/>
                    <a:pt x="1" y="1643"/>
                  </a:cubicBezTo>
                  <a:cubicBezTo>
                    <a:pt x="1" y="2084"/>
                    <a:pt x="251" y="2501"/>
                    <a:pt x="691" y="2810"/>
                  </a:cubicBezTo>
                  <a:cubicBezTo>
                    <a:pt x="1132" y="3108"/>
                    <a:pt x="1691" y="3275"/>
                    <a:pt x="2299" y="3275"/>
                  </a:cubicBezTo>
                  <a:cubicBezTo>
                    <a:pt x="2894" y="3275"/>
                    <a:pt x="3477" y="3108"/>
                    <a:pt x="3906" y="2810"/>
                  </a:cubicBezTo>
                  <a:cubicBezTo>
                    <a:pt x="4358" y="2501"/>
                    <a:pt x="4608" y="2084"/>
                    <a:pt x="4608" y="1643"/>
                  </a:cubicBezTo>
                  <a:cubicBezTo>
                    <a:pt x="4597" y="1191"/>
                    <a:pt x="4358" y="774"/>
                    <a:pt x="3906" y="465"/>
                  </a:cubicBezTo>
                  <a:cubicBezTo>
                    <a:pt x="3477" y="167"/>
                    <a:pt x="2906" y="0"/>
                    <a:pt x="22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4256;p89">
              <a:extLst>
                <a:ext uri="{FF2B5EF4-FFF2-40B4-BE49-F238E27FC236}">
                  <a16:creationId xmlns:a16="http://schemas.microsoft.com/office/drawing/2014/main" id="{A78A013B-2D59-F549-10BE-C96DF18ECA43}"/>
                </a:ext>
              </a:extLst>
            </p:cNvPr>
            <p:cNvSpPr/>
            <p:nvPr/>
          </p:nvSpPr>
          <p:spPr>
            <a:xfrm>
              <a:off x="4882340" y="1509358"/>
              <a:ext cx="246171" cy="351095"/>
            </a:xfrm>
            <a:custGeom>
              <a:avLst/>
              <a:gdLst/>
              <a:ahLst/>
              <a:cxnLst/>
              <a:rect l="l" t="t" r="r" b="b"/>
              <a:pathLst>
                <a:path w="7740" h="11039" extrusionOk="0">
                  <a:moveTo>
                    <a:pt x="3953" y="311"/>
                  </a:moveTo>
                  <a:cubicBezTo>
                    <a:pt x="4096" y="322"/>
                    <a:pt x="4251" y="406"/>
                    <a:pt x="4334" y="525"/>
                  </a:cubicBezTo>
                  <a:cubicBezTo>
                    <a:pt x="4371" y="571"/>
                    <a:pt x="4415" y="589"/>
                    <a:pt x="4466" y="589"/>
                  </a:cubicBezTo>
                  <a:cubicBezTo>
                    <a:pt x="4481" y="589"/>
                    <a:pt x="4496" y="587"/>
                    <a:pt x="4513" y="584"/>
                  </a:cubicBezTo>
                  <a:cubicBezTo>
                    <a:pt x="4572" y="561"/>
                    <a:pt x="4632" y="549"/>
                    <a:pt x="4691" y="549"/>
                  </a:cubicBezTo>
                  <a:cubicBezTo>
                    <a:pt x="5036" y="549"/>
                    <a:pt x="5322" y="799"/>
                    <a:pt x="5322" y="1096"/>
                  </a:cubicBezTo>
                  <a:cubicBezTo>
                    <a:pt x="5322" y="1144"/>
                    <a:pt x="5334" y="1192"/>
                    <a:pt x="5382" y="1215"/>
                  </a:cubicBezTo>
                  <a:cubicBezTo>
                    <a:pt x="5405" y="1251"/>
                    <a:pt x="5453" y="1263"/>
                    <a:pt x="5513" y="1263"/>
                  </a:cubicBezTo>
                  <a:lnTo>
                    <a:pt x="5608" y="1263"/>
                  </a:lnTo>
                  <a:cubicBezTo>
                    <a:pt x="5977" y="1263"/>
                    <a:pt x="6275" y="1537"/>
                    <a:pt x="6275" y="1870"/>
                  </a:cubicBezTo>
                  <a:cubicBezTo>
                    <a:pt x="6275" y="1966"/>
                    <a:pt x="6263" y="2037"/>
                    <a:pt x="6215" y="2108"/>
                  </a:cubicBezTo>
                  <a:cubicBezTo>
                    <a:pt x="6179" y="2168"/>
                    <a:pt x="6203" y="2227"/>
                    <a:pt x="6227" y="2275"/>
                  </a:cubicBezTo>
                  <a:cubicBezTo>
                    <a:pt x="6263" y="2323"/>
                    <a:pt x="6322" y="2347"/>
                    <a:pt x="6382" y="2347"/>
                  </a:cubicBezTo>
                  <a:lnTo>
                    <a:pt x="6441" y="2347"/>
                  </a:lnTo>
                  <a:cubicBezTo>
                    <a:pt x="6810" y="2347"/>
                    <a:pt x="7108" y="2620"/>
                    <a:pt x="7108" y="2966"/>
                  </a:cubicBezTo>
                  <a:cubicBezTo>
                    <a:pt x="7108" y="3049"/>
                    <a:pt x="7096" y="3120"/>
                    <a:pt x="7049" y="3204"/>
                  </a:cubicBezTo>
                  <a:cubicBezTo>
                    <a:pt x="7037" y="3216"/>
                    <a:pt x="7037" y="3239"/>
                    <a:pt x="7037" y="3275"/>
                  </a:cubicBezTo>
                  <a:cubicBezTo>
                    <a:pt x="7037" y="3359"/>
                    <a:pt x="7108" y="3442"/>
                    <a:pt x="7191" y="3442"/>
                  </a:cubicBezTo>
                  <a:lnTo>
                    <a:pt x="7299" y="3442"/>
                  </a:lnTo>
                  <a:cubicBezTo>
                    <a:pt x="7465" y="3442"/>
                    <a:pt x="7489" y="3561"/>
                    <a:pt x="7489" y="3597"/>
                  </a:cubicBezTo>
                  <a:cubicBezTo>
                    <a:pt x="7418" y="3680"/>
                    <a:pt x="7370" y="3763"/>
                    <a:pt x="7275" y="3811"/>
                  </a:cubicBezTo>
                  <a:cubicBezTo>
                    <a:pt x="7239" y="3811"/>
                    <a:pt x="7227" y="3823"/>
                    <a:pt x="7215" y="3835"/>
                  </a:cubicBezTo>
                  <a:lnTo>
                    <a:pt x="7191" y="3823"/>
                  </a:lnTo>
                  <a:lnTo>
                    <a:pt x="7180" y="3811"/>
                  </a:lnTo>
                  <a:cubicBezTo>
                    <a:pt x="7168" y="3811"/>
                    <a:pt x="7168" y="3787"/>
                    <a:pt x="7156" y="3787"/>
                  </a:cubicBezTo>
                  <a:cubicBezTo>
                    <a:pt x="7108" y="3763"/>
                    <a:pt x="7072" y="3728"/>
                    <a:pt x="7037" y="3716"/>
                  </a:cubicBezTo>
                  <a:cubicBezTo>
                    <a:pt x="7013" y="3716"/>
                    <a:pt x="7013" y="3704"/>
                    <a:pt x="7001" y="3704"/>
                  </a:cubicBezTo>
                  <a:cubicBezTo>
                    <a:pt x="6989" y="3704"/>
                    <a:pt x="6989" y="3692"/>
                    <a:pt x="6977" y="3692"/>
                  </a:cubicBezTo>
                  <a:cubicBezTo>
                    <a:pt x="6941" y="3668"/>
                    <a:pt x="6918" y="3668"/>
                    <a:pt x="6882" y="3656"/>
                  </a:cubicBezTo>
                  <a:lnTo>
                    <a:pt x="6477" y="3656"/>
                  </a:lnTo>
                  <a:cubicBezTo>
                    <a:pt x="6418" y="3668"/>
                    <a:pt x="6358" y="3704"/>
                    <a:pt x="6298" y="3728"/>
                  </a:cubicBezTo>
                  <a:cubicBezTo>
                    <a:pt x="6287" y="3728"/>
                    <a:pt x="6287" y="3751"/>
                    <a:pt x="6275" y="3751"/>
                  </a:cubicBezTo>
                  <a:cubicBezTo>
                    <a:pt x="6275" y="3751"/>
                    <a:pt x="6263" y="3751"/>
                    <a:pt x="6263" y="3763"/>
                  </a:cubicBezTo>
                  <a:cubicBezTo>
                    <a:pt x="6239" y="3763"/>
                    <a:pt x="6239" y="3775"/>
                    <a:pt x="6227" y="3775"/>
                  </a:cubicBezTo>
                  <a:cubicBezTo>
                    <a:pt x="6227" y="3775"/>
                    <a:pt x="6215" y="3775"/>
                    <a:pt x="6215" y="3787"/>
                  </a:cubicBezTo>
                  <a:cubicBezTo>
                    <a:pt x="6203" y="3787"/>
                    <a:pt x="6203" y="3811"/>
                    <a:pt x="6179" y="3811"/>
                  </a:cubicBezTo>
                  <a:lnTo>
                    <a:pt x="6167" y="3823"/>
                  </a:lnTo>
                  <a:lnTo>
                    <a:pt x="6156" y="3835"/>
                  </a:lnTo>
                  <a:cubicBezTo>
                    <a:pt x="6144" y="3835"/>
                    <a:pt x="6144" y="3859"/>
                    <a:pt x="6120" y="3859"/>
                  </a:cubicBezTo>
                  <a:lnTo>
                    <a:pt x="6108" y="3871"/>
                  </a:lnTo>
                  <a:lnTo>
                    <a:pt x="6084" y="3894"/>
                  </a:lnTo>
                  <a:cubicBezTo>
                    <a:pt x="6060" y="3918"/>
                    <a:pt x="6037" y="3942"/>
                    <a:pt x="6025" y="3978"/>
                  </a:cubicBezTo>
                  <a:cubicBezTo>
                    <a:pt x="6001" y="3990"/>
                    <a:pt x="6001" y="4001"/>
                    <a:pt x="5989" y="4013"/>
                  </a:cubicBezTo>
                  <a:cubicBezTo>
                    <a:pt x="5989" y="4001"/>
                    <a:pt x="5977" y="4001"/>
                    <a:pt x="5977" y="3990"/>
                  </a:cubicBezTo>
                  <a:lnTo>
                    <a:pt x="5965" y="3978"/>
                  </a:lnTo>
                  <a:cubicBezTo>
                    <a:pt x="5941" y="3954"/>
                    <a:pt x="5941" y="3942"/>
                    <a:pt x="5929" y="3942"/>
                  </a:cubicBezTo>
                  <a:lnTo>
                    <a:pt x="5906" y="3918"/>
                  </a:lnTo>
                  <a:lnTo>
                    <a:pt x="5882" y="3918"/>
                  </a:lnTo>
                  <a:lnTo>
                    <a:pt x="5858" y="3882"/>
                  </a:lnTo>
                  <a:lnTo>
                    <a:pt x="5846" y="3882"/>
                  </a:lnTo>
                  <a:cubicBezTo>
                    <a:pt x="5822" y="3871"/>
                    <a:pt x="5822" y="3871"/>
                    <a:pt x="5810" y="3871"/>
                  </a:cubicBezTo>
                  <a:cubicBezTo>
                    <a:pt x="5798" y="3871"/>
                    <a:pt x="5798" y="3859"/>
                    <a:pt x="5786" y="3859"/>
                  </a:cubicBezTo>
                  <a:cubicBezTo>
                    <a:pt x="5763" y="3859"/>
                    <a:pt x="5763" y="3835"/>
                    <a:pt x="5751" y="3835"/>
                  </a:cubicBezTo>
                  <a:cubicBezTo>
                    <a:pt x="5739" y="3835"/>
                    <a:pt x="5739" y="3823"/>
                    <a:pt x="5727" y="3823"/>
                  </a:cubicBezTo>
                  <a:cubicBezTo>
                    <a:pt x="5703" y="3823"/>
                    <a:pt x="5691" y="3811"/>
                    <a:pt x="5691" y="3811"/>
                  </a:cubicBezTo>
                  <a:cubicBezTo>
                    <a:pt x="5679" y="3811"/>
                    <a:pt x="5667" y="3787"/>
                    <a:pt x="5644" y="3787"/>
                  </a:cubicBezTo>
                  <a:cubicBezTo>
                    <a:pt x="5632" y="3787"/>
                    <a:pt x="5620" y="3775"/>
                    <a:pt x="5608" y="3775"/>
                  </a:cubicBezTo>
                  <a:cubicBezTo>
                    <a:pt x="5584" y="3775"/>
                    <a:pt x="5572" y="3763"/>
                    <a:pt x="5560" y="3763"/>
                  </a:cubicBezTo>
                  <a:cubicBezTo>
                    <a:pt x="5548" y="3763"/>
                    <a:pt x="5525" y="3751"/>
                    <a:pt x="5513" y="3751"/>
                  </a:cubicBezTo>
                  <a:cubicBezTo>
                    <a:pt x="5501" y="3751"/>
                    <a:pt x="5489" y="3751"/>
                    <a:pt x="5465" y="3728"/>
                  </a:cubicBezTo>
                  <a:lnTo>
                    <a:pt x="5132" y="3728"/>
                  </a:lnTo>
                  <a:cubicBezTo>
                    <a:pt x="5108" y="3728"/>
                    <a:pt x="5096" y="3728"/>
                    <a:pt x="5084" y="3751"/>
                  </a:cubicBezTo>
                  <a:lnTo>
                    <a:pt x="5072" y="3751"/>
                  </a:lnTo>
                  <a:cubicBezTo>
                    <a:pt x="5048" y="3751"/>
                    <a:pt x="5036" y="3763"/>
                    <a:pt x="5024" y="3763"/>
                  </a:cubicBezTo>
                  <a:lnTo>
                    <a:pt x="5013" y="3763"/>
                  </a:lnTo>
                  <a:cubicBezTo>
                    <a:pt x="4989" y="3763"/>
                    <a:pt x="4989" y="3763"/>
                    <a:pt x="4977" y="3775"/>
                  </a:cubicBezTo>
                  <a:lnTo>
                    <a:pt x="4965" y="3775"/>
                  </a:lnTo>
                  <a:cubicBezTo>
                    <a:pt x="4953" y="3775"/>
                    <a:pt x="4953" y="3787"/>
                    <a:pt x="4929" y="3787"/>
                  </a:cubicBezTo>
                  <a:lnTo>
                    <a:pt x="4917" y="3787"/>
                  </a:lnTo>
                  <a:cubicBezTo>
                    <a:pt x="4905" y="3787"/>
                    <a:pt x="4905" y="3811"/>
                    <a:pt x="4894" y="3811"/>
                  </a:cubicBezTo>
                  <a:lnTo>
                    <a:pt x="4870" y="3811"/>
                  </a:lnTo>
                  <a:cubicBezTo>
                    <a:pt x="4858" y="3811"/>
                    <a:pt x="4846" y="3823"/>
                    <a:pt x="4834" y="3823"/>
                  </a:cubicBezTo>
                  <a:lnTo>
                    <a:pt x="4810" y="3823"/>
                  </a:lnTo>
                  <a:cubicBezTo>
                    <a:pt x="4798" y="3823"/>
                    <a:pt x="4798" y="3835"/>
                    <a:pt x="4786" y="3835"/>
                  </a:cubicBezTo>
                  <a:cubicBezTo>
                    <a:pt x="4786" y="3835"/>
                    <a:pt x="4774" y="3835"/>
                    <a:pt x="4774" y="3859"/>
                  </a:cubicBezTo>
                  <a:cubicBezTo>
                    <a:pt x="4751" y="3859"/>
                    <a:pt x="4751" y="3871"/>
                    <a:pt x="4739" y="3871"/>
                  </a:cubicBezTo>
                  <a:cubicBezTo>
                    <a:pt x="4739" y="3871"/>
                    <a:pt x="4727" y="3871"/>
                    <a:pt x="4727" y="3882"/>
                  </a:cubicBezTo>
                  <a:cubicBezTo>
                    <a:pt x="4715" y="3882"/>
                    <a:pt x="4715" y="3894"/>
                    <a:pt x="4691" y="3894"/>
                  </a:cubicBezTo>
                  <a:lnTo>
                    <a:pt x="4679" y="3918"/>
                  </a:lnTo>
                  <a:lnTo>
                    <a:pt x="4655" y="3942"/>
                  </a:lnTo>
                  <a:lnTo>
                    <a:pt x="4620" y="3978"/>
                  </a:lnTo>
                  <a:cubicBezTo>
                    <a:pt x="4620" y="3978"/>
                    <a:pt x="4620" y="3990"/>
                    <a:pt x="4608" y="3990"/>
                  </a:cubicBezTo>
                  <a:cubicBezTo>
                    <a:pt x="4608" y="4001"/>
                    <a:pt x="4596" y="4001"/>
                    <a:pt x="4596" y="4013"/>
                  </a:cubicBezTo>
                  <a:cubicBezTo>
                    <a:pt x="4596" y="4013"/>
                    <a:pt x="4596" y="4037"/>
                    <a:pt x="4572" y="4037"/>
                  </a:cubicBezTo>
                  <a:cubicBezTo>
                    <a:pt x="4572" y="4049"/>
                    <a:pt x="4560" y="4049"/>
                    <a:pt x="4560" y="4061"/>
                  </a:cubicBezTo>
                  <a:lnTo>
                    <a:pt x="4560" y="4073"/>
                  </a:lnTo>
                  <a:cubicBezTo>
                    <a:pt x="4536" y="4049"/>
                    <a:pt x="4513" y="4013"/>
                    <a:pt x="4489" y="3990"/>
                  </a:cubicBezTo>
                  <a:cubicBezTo>
                    <a:pt x="4322" y="3823"/>
                    <a:pt x="4120" y="3740"/>
                    <a:pt x="3881" y="3740"/>
                  </a:cubicBezTo>
                  <a:lnTo>
                    <a:pt x="3858" y="3740"/>
                  </a:lnTo>
                  <a:cubicBezTo>
                    <a:pt x="3620" y="3740"/>
                    <a:pt x="3417" y="3823"/>
                    <a:pt x="3250" y="3990"/>
                  </a:cubicBezTo>
                  <a:cubicBezTo>
                    <a:pt x="3227" y="4013"/>
                    <a:pt x="3191" y="4049"/>
                    <a:pt x="3179" y="4073"/>
                  </a:cubicBezTo>
                  <a:lnTo>
                    <a:pt x="3179" y="4061"/>
                  </a:lnTo>
                  <a:cubicBezTo>
                    <a:pt x="3179" y="4049"/>
                    <a:pt x="3167" y="4049"/>
                    <a:pt x="3167" y="4037"/>
                  </a:cubicBezTo>
                  <a:cubicBezTo>
                    <a:pt x="3167" y="4037"/>
                    <a:pt x="3167" y="4013"/>
                    <a:pt x="3143" y="4013"/>
                  </a:cubicBezTo>
                  <a:cubicBezTo>
                    <a:pt x="3143" y="4001"/>
                    <a:pt x="3131" y="4001"/>
                    <a:pt x="3131" y="3990"/>
                  </a:cubicBezTo>
                  <a:lnTo>
                    <a:pt x="3119" y="3978"/>
                  </a:lnTo>
                  <a:lnTo>
                    <a:pt x="3084" y="3942"/>
                  </a:lnTo>
                  <a:lnTo>
                    <a:pt x="3060" y="3918"/>
                  </a:lnTo>
                  <a:lnTo>
                    <a:pt x="3048" y="3894"/>
                  </a:lnTo>
                  <a:cubicBezTo>
                    <a:pt x="3024" y="3894"/>
                    <a:pt x="3024" y="3882"/>
                    <a:pt x="3012" y="3882"/>
                  </a:cubicBezTo>
                  <a:cubicBezTo>
                    <a:pt x="3012" y="3882"/>
                    <a:pt x="3000" y="3882"/>
                    <a:pt x="3000" y="3871"/>
                  </a:cubicBezTo>
                  <a:cubicBezTo>
                    <a:pt x="2989" y="3871"/>
                    <a:pt x="2989" y="3859"/>
                    <a:pt x="2965" y="3859"/>
                  </a:cubicBezTo>
                  <a:cubicBezTo>
                    <a:pt x="2965" y="3859"/>
                    <a:pt x="2953" y="3859"/>
                    <a:pt x="2953" y="3835"/>
                  </a:cubicBezTo>
                  <a:cubicBezTo>
                    <a:pt x="2941" y="3835"/>
                    <a:pt x="2941" y="3823"/>
                    <a:pt x="2929" y="3823"/>
                  </a:cubicBezTo>
                  <a:lnTo>
                    <a:pt x="2905" y="3823"/>
                  </a:lnTo>
                  <a:cubicBezTo>
                    <a:pt x="2893" y="3811"/>
                    <a:pt x="2881" y="3811"/>
                    <a:pt x="2869" y="3811"/>
                  </a:cubicBezTo>
                  <a:lnTo>
                    <a:pt x="2846" y="3811"/>
                  </a:lnTo>
                  <a:cubicBezTo>
                    <a:pt x="2834" y="3811"/>
                    <a:pt x="2834" y="3787"/>
                    <a:pt x="2822" y="3787"/>
                  </a:cubicBezTo>
                  <a:lnTo>
                    <a:pt x="2810" y="3787"/>
                  </a:lnTo>
                  <a:cubicBezTo>
                    <a:pt x="2786" y="3787"/>
                    <a:pt x="2786" y="3775"/>
                    <a:pt x="2774" y="3775"/>
                  </a:cubicBezTo>
                  <a:lnTo>
                    <a:pt x="2762" y="3775"/>
                  </a:lnTo>
                  <a:cubicBezTo>
                    <a:pt x="2750" y="3775"/>
                    <a:pt x="2750" y="3775"/>
                    <a:pt x="2727" y="3763"/>
                  </a:cubicBezTo>
                  <a:lnTo>
                    <a:pt x="2715" y="3763"/>
                  </a:lnTo>
                  <a:cubicBezTo>
                    <a:pt x="2703" y="3763"/>
                    <a:pt x="2691" y="3751"/>
                    <a:pt x="2667" y="3751"/>
                  </a:cubicBezTo>
                  <a:lnTo>
                    <a:pt x="2655" y="3751"/>
                  </a:lnTo>
                  <a:cubicBezTo>
                    <a:pt x="2643" y="3751"/>
                    <a:pt x="2631" y="3751"/>
                    <a:pt x="2608" y="3728"/>
                  </a:cubicBezTo>
                  <a:lnTo>
                    <a:pt x="2310" y="3728"/>
                  </a:lnTo>
                  <a:cubicBezTo>
                    <a:pt x="2298" y="3728"/>
                    <a:pt x="2286" y="3728"/>
                    <a:pt x="2274" y="3751"/>
                  </a:cubicBezTo>
                  <a:cubicBezTo>
                    <a:pt x="2250" y="3751"/>
                    <a:pt x="2238" y="3751"/>
                    <a:pt x="2227" y="3763"/>
                  </a:cubicBezTo>
                  <a:cubicBezTo>
                    <a:pt x="2179" y="3775"/>
                    <a:pt x="2131" y="3787"/>
                    <a:pt x="2107" y="3811"/>
                  </a:cubicBezTo>
                  <a:cubicBezTo>
                    <a:pt x="2096" y="3811"/>
                    <a:pt x="2072" y="3823"/>
                    <a:pt x="2060" y="3823"/>
                  </a:cubicBezTo>
                  <a:cubicBezTo>
                    <a:pt x="2048" y="3823"/>
                    <a:pt x="2036" y="3835"/>
                    <a:pt x="2036" y="3835"/>
                  </a:cubicBezTo>
                  <a:cubicBezTo>
                    <a:pt x="2012" y="3835"/>
                    <a:pt x="2000" y="3859"/>
                    <a:pt x="2000" y="3859"/>
                  </a:cubicBezTo>
                  <a:cubicBezTo>
                    <a:pt x="1988" y="3859"/>
                    <a:pt x="1988" y="3871"/>
                    <a:pt x="1976" y="3871"/>
                  </a:cubicBezTo>
                  <a:cubicBezTo>
                    <a:pt x="1953" y="3871"/>
                    <a:pt x="1953" y="3882"/>
                    <a:pt x="1941" y="3882"/>
                  </a:cubicBezTo>
                  <a:cubicBezTo>
                    <a:pt x="1929" y="3882"/>
                    <a:pt x="1929" y="3894"/>
                    <a:pt x="1917" y="3918"/>
                  </a:cubicBezTo>
                  <a:cubicBezTo>
                    <a:pt x="1893" y="3918"/>
                    <a:pt x="1893" y="3930"/>
                    <a:pt x="1881" y="3930"/>
                  </a:cubicBezTo>
                  <a:lnTo>
                    <a:pt x="1857" y="3954"/>
                  </a:lnTo>
                  <a:cubicBezTo>
                    <a:pt x="1834" y="3978"/>
                    <a:pt x="1834" y="3990"/>
                    <a:pt x="1822" y="3990"/>
                  </a:cubicBezTo>
                  <a:cubicBezTo>
                    <a:pt x="1822" y="3990"/>
                    <a:pt x="1822" y="4001"/>
                    <a:pt x="1810" y="4001"/>
                  </a:cubicBezTo>
                  <a:cubicBezTo>
                    <a:pt x="1810" y="4013"/>
                    <a:pt x="1798" y="4013"/>
                    <a:pt x="1798" y="4037"/>
                  </a:cubicBezTo>
                  <a:cubicBezTo>
                    <a:pt x="1774" y="4013"/>
                    <a:pt x="1774" y="4001"/>
                    <a:pt x="1762" y="3990"/>
                  </a:cubicBezTo>
                  <a:cubicBezTo>
                    <a:pt x="1762" y="3978"/>
                    <a:pt x="1750" y="3978"/>
                    <a:pt x="1738" y="3954"/>
                  </a:cubicBezTo>
                  <a:cubicBezTo>
                    <a:pt x="1738" y="3954"/>
                    <a:pt x="1738" y="3942"/>
                    <a:pt x="1715" y="3942"/>
                  </a:cubicBezTo>
                  <a:cubicBezTo>
                    <a:pt x="1572" y="3763"/>
                    <a:pt x="1334" y="3656"/>
                    <a:pt x="1095" y="3656"/>
                  </a:cubicBezTo>
                  <a:lnTo>
                    <a:pt x="905" y="3656"/>
                  </a:lnTo>
                  <a:cubicBezTo>
                    <a:pt x="869" y="3680"/>
                    <a:pt x="845" y="3680"/>
                    <a:pt x="810" y="3692"/>
                  </a:cubicBezTo>
                  <a:cubicBezTo>
                    <a:pt x="798" y="3692"/>
                    <a:pt x="798" y="3704"/>
                    <a:pt x="786" y="3704"/>
                  </a:cubicBezTo>
                  <a:cubicBezTo>
                    <a:pt x="762" y="3704"/>
                    <a:pt x="762" y="3716"/>
                    <a:pt x="750" y="3716"/>
                  </a:cubicBezTo>
                  <a:cubicBezTo>
                    <a:pt x="703" y="3740"/>
                    <a:pt x="667" y="3763"/>
                    <a:pt x="631" y="3799"/>
                  </a:cubicBezTo>
                  <a:cubicBezTo>
                    <a:pt x="619" y="3799"/>
                    <a:pt x="619" y="3811"/>
                    <a:pt x="607" y="3811"/>
                  </a:cubicBezTo>
                  <a:lnTo>
                    <a:pt x="583" y="3823"/>
                  </a:lnTo>
                  <a:lnTo>
                    <a:pt x="572" y="3835"/>
                  </a:lnTo>
                  <a:cubicBezTo>
                    <a:pt x="560" y="3823"/>
                    <a:pt x="524" y="3811"/>
                    <a:pt x="512" y="3811"/>
                  </a:cubicBezTo>
                  <a:cubicBezTo>
                    <a:pt x="405" y="3775"/>
                    <a:pt x="369" y="3692"/>
                    <a:pt x="381" y="3597"/>
                  </a:cubicBezTo>
                  <a:cubicBezTo>
                    <a:pt x="381" y="3561"/>
                    <a:pt x="405" y="3454"/>
                    <a:pt x="572" y="3442"/>
                  </a:cubicBezTo>
                  <a:lnTo>
                    <a:pt x="667" y="3442"/>
                  </a:lnTo>
                  <a:cubicBezTo>
                    <a:pt x="726" y="3442"/>
                    <a:pt x="786" y="3418"/>
                    <a:pt x="810" y="3359"/>
                  </a:cubicBezTo>
                  <a:cubicBezTo>
                    <a:pt x="845" y="3323"/>
                    <a:pt x="857" y="3263"/>
                    <a:pt x="822" y="3204"/>
                  </a:cubicBezTo>
                  <a:cubicBezTo>
                    <a:pt x="798" y="3120"/>
                    <a:pt x="762" y="3037"/>
                    <a:pt x="762" y="2966"/>
                  </a:cubicBezTo>
                  <a:cubicBezTo>
                    <a:pt x="762" y="2620"/>
                    <a:pt x="1084" y="2347"/>
                    <a:pt x="1441" y="2347"/>
                  </a:cubicBezTo>
                  <a:lnTo>
                    <a:pt x="1500" y="2347"/>
                  </a:lnTo>
                  <a:cubicBezTo>
                    <a:pt x="1560" y="2347"/>
                    <a:pt x="1619" y="2335"/>
                    <a:pt x="1643" y="2275"/>
                  </a:cubicBezTo>
                  <a:cubicBezTo>
                    <a:pt x="1679" y="2227"/>
                    <a:pt x="1691" y="2168"/>
                    <a:pt x="1655" y="2108"/>
                  </a:cubicBezTo>
                  <a:cubicBezTo>
                    <a:pt x="1631" y="2037"/>
                    <a:pt x="1595" y="1954"/>
                    <a:pt x="1595" y="1870"/>
                  </a:cubicBezTo>
                  <a:cubicBezTo>
                    <a:pt x="1595" y="1537"/>
                    <a:pt x="1893" y="1263"/>
                    <a:pt x="2274" y="1263"/>
                  </a:cubicBezTo>
                  <a:lnTo>
                    <a:pt x="2357" y="1263"/>
                  </a:lnTo>
                  <a:cubicBezTo>
                    <a:pt x="2405" y="1263"/>
                    <a:pt x="2453" y="1251"/>
                    <a:pt x="2488" y="1215"/>
                  </a:cubicBezTo>
                  <a:cubicBezTo>
                    <a:pt x="2524" y="1192"/>
                    <a:pt x="2548" y="1144"/>
                    <a:pt x="2548" y="1096"/>
                  </a:cubicBezTo>
                  <a:cubicBezTo>
                    <a:pt x="2548" y="787"/>
                    <a:pt x="2834" y="549"/>
                    <a:pt x="3179" y="549"/>
                  </a:cubicBezTo>
                  <a:cubicBezTo>
                    <a:pt x="3239" y="549"/>
                    <a:pt x="3298" y="561"/>
                    <a:pt x="3358" y="584"/>
                  </a:cubicBezTo>
                  <a:cubicBezTo>
                    <a:pt x="3371" y="587"/>
                    <a:pt x="3385" y="589"/>
                    <a:pt x="3399" y="589"/>
                  </a:cubicBezTo>
                  <a:cubicBezTo>
                    <a:pt x="3448" y="589"/>
                    <a:pt x="3499" y="571"/>
                    <a:pt x="3536" y="525"/>
                  </a:cubicBezTo>
                  <a:cubicBezTo>
                    <a:pt x="3620" y="406"/>
                    <a:pt x="3762" y="322"/>
                    <a:pt x="3917" y="311"/>
                  </a:cubicBezTo>
                  <a:close/>
                  <a:moveTo>
                    <a:pt x="1072" y="3930"/>
                  </a:moveTo>
                  <a:cubicBezTo>
                    <a:pt x="1179" y="3930"/>
                    <a:pt x="1274" y="3954"/>
                    <a:pt x="1345" y="4001"/>
                  </a:cubicBezTo>
                  <a:cubicBezTo>
                    <a:pt x="1476" y="4085"/>
                    <a:pt x="1572" y="4228"/>
                    <a:pt x="1595" y="4382"/>
                  </a:cubicBezTo>
                  <a:lnTo>
                    <a:pt x="1595" y="4430"/>
                  </a:lnTo>
                  <a:lnTo>
                    <a:pt x="1607" y="4537"/>
                  </a:lnTo>
                  <a:lnTo>
                    <a:pt x="1607" y="4549"/>
                  </a:lnTo>
                  <a:lnTo>
                    <a:pt x="1762" y="5895"/>
                  </a:lnTo>
                  <a:cubicBezTo>
                    <a:pt x="1774" y="5978"/>
                    <a:pt x="1834" y="6037"/>
                    <a:pt x="1929" y="6037"/>
                  </a:cubicBezTo>
                  <a:lnTo>
                    <a:pt x="1941" y="6037"/>
                  </a:lnTo>
                  <a:cubicBezTo>
                    <a:pt x="2024" y="6026"/>
                    <a:pt x="2084" y="5954"/>
                    <a:pt x="2084" y="5859"/>
                  </a:cubicBezTo>
                  <a:lnTo>
                    <a:pt x="1941" y="4525"/>
                  </a:lnTo>
                  <a:lnTo>
                    <a:pt x="1941" y="4466"/>
                  </a:lnTo>
                  <a:lnTo>
                    <a:pt x="1941" y="4454"/>
                  </a:lnTo>
                  <a:lnTo>
                    <a:pt x="1941" y="4430"/>
                  </a:lnTo>
                  <a:lnTo>
                    <a:pt x="1941" y="4418"/>
                  </a:lnTo>
                  <a:lnTo>
                    <a:pt x="1941" y="4382"/>
                  </a:lnTo>
                  <a:lnTo>
                    <a:pt x="1941" y="4359"/>
                  </a:lnTo>
                  <a:lnTo>
                    <a:pt x="1941" y="4347"/>
                  </a:lnTo>
                  <a:lnTo>
                    <a:pt x="1941" y="4323"/>
                  </a:lnTo>
                  <a:lnTo>
                    <a:pt x="1941" y="4311"/>
                  </a:lnTo>
                  <a:cubicBezTo>
                    <a:pt x="1941" y="4311"/>
                    <a:pt x="1941" y="4299"/>
                    <a:pt x="1953" y="4299"/>
                  </a:cubicBezTo>
                  <a:cubicBezTo>
                    <a:pt x="1953" y="4299"/>
                    <a:pt x="1953" y="4287"/>
                    <a:pt x="1965" y="4287"/>
                  </a:cubicBezTo>
                  <a:lnTo>
                    <a:pt x="1965" y="4263"/>
                  </a:lnTo>
                  <a:cubicBezTo>
                    <a:pt x="1965" y="4263"/>
                    <a:pt x="1965" y="4252"/>
                    <a:pt x="1988" y="4252"/>
                  </a:cubicBezTo>
                  <a:cubicBezTo>
                    <a:pt x="1988" y="4252"/>
                    <a:pt x="1988" y="4240"/>
                    <a:pt x="2000" y="4240"/>
                  </a:cubicBezTo>
                  <a:lnTo>
                    <a:pt x="2000" y="4228"/>
                  </a:lnTo>
                  <a:cubicBezTo>
                    <a:pt x="2000" y="4228"/>
                    <a:pt x="2000" y="4204"/>
                    <a:pt x="2012" y="4204"/>
                  </a:cubicBezTo>
                  <a:lnTo>
                    <a:pt x="2024" y="4192"/>
                  </a:lnTo>
                  <a:cubicBezTo>
                    <a:pt x="2024" y="4192"/>
                    <a:pt x="2024" y="4180"/>
                    <a:pt x="2048" y="4180"/>
                  </a:cubicBezTo>
                  <a:lnTo>
                    <a:pt x="2060" y="4168"/>
                  </a:lnTo>
                  <a:lnTo>
                    <a:pt x="2072" y="4144"/>
                  </a:lnTo>
                  <a:lnTo>
                    <a:pt x="2084" y="4132"/>
                  </a:lnTo>
                  <a:cubicBezTo>
                    <a:pt x="2179" y="4049"/>
                    <a:pt x="2310" y="4001"/>
                    <a:pt x="2441" y="4001"/>
                  </a:cubicBezTo>
                  <a:lnTo>
                    <a:pt x="2465" y="4001"/>
                  </a:lnTo>
                  <a:cubicBezTo>
                    <a:pt x="2536" y="4001"/>
                    <a:pt x="2596" y="4013"/>
                    <a:pt x="2655" y="4049"/>
                  </a:cubicBezTo>
                  <a:cubicBezTo>
                    <a:pt x="2834" y="4121"/>
                    <a:pt x="2965" y="4299"/>
                    <a:pt x="2977" y="4502"/>
                  </a:cubicBezTo>
                  <a:lnTo>
                    <a:pt x="3012" y="5335"/>
                  </a:lnTo>
                  <a:cubicBezTo>
                    <a:pt x="3012" y="5423"/>
                    <a:pt x="3074" y="5491"/>
                    <a:pt x="3158" y="5491"/>
                  </a:cubicBezTo>
                  <a:cubicBezTo>
                    <a:pt x="3165" y="5491"/>
                    <a:pt x="3172" y="5491"/>
                    <a:pt x="3179" y="5490"/>
                  </a:cubicBezTo>
                  <a:cubicBezTo>
                    <a:pt x="3262" y="5490"/>
                    <a:pt x="3334" y="5418"/>
                    <a:pt x="3322" y="5323"/>
                  </a:cubicBezTo>
                  <a:lnTo>
                    <a:pt x="3298" y="4537"/>
                  </a:lnTo>
                  <a:lnTo>
                    <a:pt x="3298" y="4525"/>
                  </a:lnTo>
                  <a:lnTo>
                    <a:pt x="3298" y="4502"/>
                  </a:lnTo>
                  <a:lnTo>
                    <a:pt x="3298" y="4490"/>
                  </a:lnTo>
                  <a:lnTo>
                    <a:pt x="3298" y="4478"/>
                  </a:lnTo>
                  <a:lnTo>
                    <a:pt x="3298" y="4466"/>
                  </a:lnTo>
                  <a:lnTo>
                    <a:pt x="3298" y="4442"/>
                  </a:lnTo>
                  <a:lnTo>
                    <a:pt x="3298" y="4430"/>
                  </a:lnTo>
                  <a:lnTo>
                    <a:pt x="3298" y="4418"/>
                  </a:lnTo>
                  <a:lnTo>
                    <a:pt x="3298" y="4406"/>
                  </a:lnTo>
                  <a:lnTo>
                    <a:pt x="3298" y="4382"/>
                  </a:lnTo>
                  <a:lnTo>
                    <a:pt x="3298" y="4371"/>
                  </a:lnTo>
                  <a:lnTo>
                    <a:pt x="3298" y="4359"/>
                  </a:lnTo>
                  <a:lnTo>
                    <a:pt x="3298" y="4347"/>
                  </a:lnTo>
                  <a:lnTo>
                    <a:pt x="3298" y="4323"/>
                  </a:lnTo>
                  <a:lnTo>
                    <a:pt x="3298" y="4311"/>
                  </a:lnTo>
                  <a:lnTo>
                    <a:pt x="3298" y="4299"/>
                  </a:lnTo>
                  <a:lnTo>
                    <a:pt x="3298" y="4287"/>
                  </a:lnTo>
                  <a:lnTo>
                    <a:pt x="3298" y="4263"/>
                  </a:lnTo>
                  <a:lnTo>
                    <a:pt x="3298" y="4252"/>
                  </a:lnTo>
                  <a:lnTo>
                    <a:pt x="3298" y="4240"/>
                  </a:lnTo>
                  <a:lnTo>
                    <a:pt x="3298" y="4228"/>
                  </a:lnTo>
                  <a:lnTo>
                    <a:pt x="3298" y="4204"/>
                  </a:lnTo>
                  <a:lnTo>
                    <a:pt x="3298" y="4192"/>
                  </a:lnTo>
                  <a:lnTo>
                    <a:pt x="3298" y="4180"/>
                  </a:lnTo>
                  <a:cubicBezTo>
                    <a:pt x="3298" y="4180"/>
                    <a:pt x="3298" y="4168"/>
                    <a:pt x="3310" y="4168"/>
                  </a:cubicBezTo>
                  <a:lnTo>
                    <a:pt x="3310" y="4144"/>
                  </a:lnTo>
                  <a:cubicBezTo>
                    <a:pt x="3310" y="4144"/>
                    <a:pt x="3310" y="4132"/>
                    <a:pt x="3322" y="4132"/>
                  </a:cubicBezTo>
                  <a:lnTo>
                    <a:pt x="3322" y="4121"/>
                  </a:lnTo>
                  <a:lnTo>
                    <a:pt x="3334" y="4109"/>
                  </a:lnTo>
                  <a:lnTo>
                    <a:pt x="3358" y="4085"/>
                  </a:lnTo>
                  <a:cubicBezTo>
                    <a:pt x="3429" y="4001"/>
                    <a:pt x="3536" y="3954"/>
                    <a:pt x="3655" y="3942"/>
                  </a:cubicBezTo>
                  <a:lnTo>
                    <a:pt x="3739" y="3942"/>
                  </a:lnTo>
                  <a:cubicBezTo>
                    <a:pt x="3893" y="3942"/>
                    <a:pt x="4024" y="4001"/>
                    <a:pt x="4108" y="4109"/>
                  </a:cubicBezTo>
                  <a:cubicBezTo>
                    <a:pt x="4191" y="4180"/>
                    <a:pt x="4227" y="4287"/>
                    <a:pt x="4251" y="4382"/>
                  </a:cubicBezTo>
                  <a:lnTo>
                    <a:pt x="4251" y="4418"/>
                  </a:lnTo>
                  <a:lnTo>
                    <a:pt x="4251" y="4442"/>
                  </a:lnTo>
                  <a:lnTo>
                    <a:pt x="4251" y="4478"/>
                  </a:lnTo>
                  <a:lnTo>
                    <a:pt x="4251" y="4490"/>
                  </a:lnTo>
                  <a:lnTo>
                    <a:pt x="4215" y="5264"/>
                  </a:lnTo>
                  <a:cubicBezTo>
                    <a:pt x="4215" y="5359"/>
                    <a:pt x="4274" y="5430"/>
                    <a:pt x="4370" y="5430"/>
                  </a:cubicBezTo>
                  <a:cubicBezTo>
                    <a:pt x="4453" y="5430"/>
                    <a:pt x="4524" y="5371"/>
                    <a:pt x="4524" y="5275"/>
                  </a:cubicBezTo>
                  <a:lnTo>
                    <a:pt x="4560" y="4442"/>
                  </a:lnTo>
                  <a:cubicBezTo>
                    <a:pt x="4572" y="4168"/>
                    <a:pt x="4798" y="3942"/>
                    <a:pt x="5084" y="3942"/>
                  </a:cubicBezTo>
                  <a:lnTo>
                    <a:pt x="5096" y="3942"/>
                  </a:lnTo>
                  <a:cubicBezTo>
                    <a:pt x="5227" y="3942"/>
                    <a:pt x="5346" y="3990"/>
                    <a:pt x="5453" y="4073"/>
                  </a:cubicBezTo>
                  <a:lnTo>
                    <a:pt x="5465" y="4085"/>
                  </a:lnTo>
                  <a:lnTo>
                    <a:pt x="5477" y="4109"/>
                  </a:lnTo>
                  <a:lnTo>
                    <a:pt x="5501" y="4121"/>
                  </a:lnTo>
                  <a:cubicBezTo>
                    <a:pt x="5501" y="4121"/>
                    <a:pt x="5501" y="4132"/>
                    <a:pt x="5513" y="4132"/>
                  </a:cubicBezTo>
                  <a:lnTo>
                    <a:pt x="5525" y="4144"/>
                  </a:lnTo>
                  <a:cubicBezTo>
                    <a:pt x="5536" y="4168"/>
                    <a:pt x="5536" y="4180"/>
                    <a:pt x="5560" y="4192"/>
                  </a:cubicBezTo>
                  <a:cubicBezTo>
                    <a:pt x="5560" y="4204"/>
                    <a:pt x="5572" y="4204"/>
                    <a:pt x="5572" y="4228"/>
                  </a:cubicBezTo>
                  <a:cubicBezTo>
                    <a:pt x="5572" y="4228"/>
                    <a:pt x="5572" y="4240"/>
                    <a:pt x="5584" y="4240"/>
                  </a:cubicBezTo>
                  <a:lnTo>
                    <a:pt x="5584" y="4252"/>
                  </a:lnTo>
                  <a:lnTo>
                    <a:pt x="5584" y="4263"/>
                  </a:lnTo>
                  <a:lnTo>
                    <a:pt x="5584" y="4287"/>
                  </a:lnTo>
                  <a:lnTo>
                    <a:pt x="5584" y="4299"/>
                  </a:lnTo>
                  <a:lnTo>
                    <a:pt x="5584" y="4311"/>
                  </a:lnTo>
                  <a:lnTo>
                    <a:pt x="5584" y="4323"/>
                  </a:lnTo>
                  <a:lnTo>
                    <a:pt x="5584" y="4347"/>
                  </a:lnTo>
                  <a:lnTo>
                    <a:pt x="5584" y="4359"/>
                  </a:lnTo>
                  <a:lnTo>
                    <a:pt x="5584" y="4371"/>
                  </a:lnTo>
                  <a:lnTo>
                    <a:pt x="5584" y="4382"/>
                  </a:lnTo>
                  <a:lnTo>
                    <a:pt x="5584" y="4406"/>
                  </a:lnTo>
                  <a:lnTo>
                    <a:pt x="5584" y="4418"/>
                  </a:lnTo>
                  <a:lnTo>
                    <a:pt x="5584" y="4430"/>
                  </a:lnTo>
                  <a:lnTo>
                    <a:pt x="5584" y="4442"/>
                  </a:lnTo>
                  <a:lnTo>
                    <a:pt x="5584" y="4466"/>
                  </a:lnTo>
                  <a:lnTo>
                    <a:pt x="5584" y="4490"/>
                  </a:lnTo>
                  <a:lnTo>
                    <a:pt x="5584" y="4525"/>
                  </a:lnTo>
                  <a:lnTo>
                    <a:pt x="5441" y="5847"/>
                  </a:lnTo>
                  <a:cubicBezTo>
                    <a:pt x="5417" y="5930"/>
                    <a:pt x="5501" y="6014"/>
                    <a:pt x="5584" y="6026"/>
                  </a:cubicBezTo>
                  <a:lnTo>
                    <a:pt x="5596" y="6026"/>
                  </a:lnTo>
                  <a:cubicBezTo>
                    <a:pt x="5679" y="6026"/>
                    <a:pt x="5751" y="5966"/>
                    <a:pt x="5763" y="5871"/>
                  </a:cubicBezTo>
                  <a:lnTo>
                    <a:pt x="5917" y="4549"/>
                  </a:lnTo>
                  <a:lnTo>
                    <a:pt x="5929" y="4406"/>
                  </a:lnTo>
                  <a:cubicBezTo>
                    <a:pt x="5953" y="4132"/>
                    <a:pt x="6179" y="3942"/>
                    <a:pt x="6453" y="3942"/>
                  </a:cubicBezTo>
                  <a:lnTo>
                    <a:pt x="6513" y="3942"/>
                  </a:lnTo>
                  <a:cubicBezTo>
                    <a:pt x="6537" y="3942"/>
                    <a:pt x="6572" y="3942"/>
                    <a:pt x="6584" y="3954"/>
                  </a:cubicBezTo>
                  <a:cubicBezTo>
                    <a:pt x="6608" y="3954"/>
                    <a:pt x="6644" y="3966"/>
                    <a:pt x="6656" y="3990"/>
                  </a:cubicBezTo>
                  <a:cubicBezTo>
                    <a:pt x="6691" y="4001"/>
                    <a:pt x="6703" y="4013"/>
                    <a:pt x="6727" y="4025"/>
                  </a:cubicBezTo>
                  <a:cubicBezTo>
                    <a:pt x="6763" y="4049"/>
                    <a:pt x="6775" y="4061"/>
                    <a:pt x="6787" y="4073"/>
                  </a:cubicBezTo>
                  <a:lnTo>
                    <a:pt x="6822" y="4109"/>
                  </a:lnTo>
                  <a:lnTo>
                    <a:pt x="6846" y="4132"/>
                  </a:lnTo>
                  <a:lnTo>
                    <a:pt x="6870" y="4144"/>
                  </a:lnTo>
                  <a:cubicBezTo>
                    <a:pt x="6870" y="4168"/>
                    <a:pt x="6882" y="4168"/>
                    <a:pt x="6882" y="4180"/>
                  </a:cubicBezTo>
                  <a:lnTo>
                    <a:pt x="6882" y="4192"/>
                  </a:lnTo>
                  <a:cubicBezTo>
                    <a:pt x="6882" y="4204"/>
                    <a:pt x="6894" y="4204"/>
                    <a:pt x="6894" y="4228"/>
                  </a:cubicBezTo>
                  <a:lnTo>
                    <a:pt x="6894" y="4240"/>
                  </a:lnTo>
                  <a:cubicBezTo>
                    <a:pt x="6894" y="4252"/>
                    <a:pt x="6906" y="4252"/>
                    <a:pt x="6906" y="4263"/>
                  </a:cubicBezTo>
                  <a:cubicBezTo>
                    <a:pt x="6906" y="4287"/>
                    <a:pt x="6929" y="4299"/>
                    <a:pt x="6929" y="4299"/>
                  </a:cubicBezTo>
                  <a:lnTo>
                    <a:pt x="6929" y="4311"/>
                  </a:lnTo>
                  <a:cubicBezTo>
                    <a:pt x="6929" y="4323"/>
                    <a:pt x="6929" y="4347"/>
                    <a:pt x="6941" y="4347"/>
                  </a:cubicBezTo>
                  <a:cubicBezTo>
                    <a:pt x="7168" y="4406"/>
                    <a:pt x="7168" y="4490"/>
                    <a:pt x="7144" y="4573"/>
                  </a:cubicBezTo>
                  <a:lnTo>
                    <a:pt x="6048" y="10478"/>
                  </a:lnTo>
                  <a:cubicBezTo>
                    <a:pt x="6013" y="10609"/>
                    <a:pt x="5894" y="10717"/>
                    <a:pt x="5751" y="10717"/>
                  </a:cubicBezTo>
                  <a:lnTo>
                    <a:pt x="5394" y="10717"/>
                  </a:lnTo>
                  <a:lnTo>
                    <a:pt x="5572" y="9157"/>
                  </a:lnTo>
                  <a:cubicBezTo>
                    <a:pt x="5584" y="9062"/>
                    <a:pt x="5513" y="8990"/>
                    <a:pt x="5417" y="8978"/>
                  </a:cubicBezTo>
                  <a:cubicBezTo>
                    <a:pt x="5408" y="8975"/>
                    <a:pt x="5398" y="8974"/>
                    <a:pt x="5388" y="8974"/>
                  </a:cubicBezTo>
                  <a:cubicBezTo>
                    <a:pt x="5318" y="8974"/>
                    <a:pt x="5260" y="9048"/>
                    <a:pt x="5239" y="9121"/>
                  </a:cubicBezTo>
                  <a:lnTo>
                    <a:pt x="5060" y="10717"/>
                  </a:lnTo>
                  <a:lnTo>
                    <a:pt x="4465" y="10717"/>
                  </a:lnTo>
                  <a:lnTo>
                    <a:pt x="4513" y="9609"/>
                  </a:lnTo>
                  <a:cubicBezTo>
                    <a:pt x="4513" y="9526"/>
                    <a:pt x="4453" y="9455"/>
                    <a:pt x="4370" y="9455"/>
                  </a:cubicBezTo>
                  <a:cubicBezTo>
                    <a:pt x="4274" y="9455"/>
                    <a:pt x="4203" y="9514"/>
                    <a:pt x="4203" y="9597"/>
                  </a:cubicBezTo>
                  <a:lnTo>
                    <a:pt x="4155" y="10705"/>
                  </a:lnTo>
                  <a:lnTo>
                    <a:pt x="3560" y="10705"/>
                  </a:lnTo>
                  <a:lnTo>
                    <a:pt x="3512" y="9585"/>
                  </a:lnTo>
                  <a:cubicBezTo>
                    <a:pt x="3512" y="9497"/>
                    <a:pt x="3451" y="9429"/>
                    <a:pt x="3376" y="9429"/>
                  </a:cubicBezTo>
                  <a:cubicBezTo>
                    <a:pt x="3370" y="9429"/>
                    <a:pt x="3364" y="9430"/>
                    <a:pt x="3358" y="9431"/>
                  </a:cubicBezTo>
                  <a:cubicBezTo>
                    <a:pt x="3262" y="9431"/>
                    <a:pt x="3191" y="9514"/>
                    <a:pt x="3203" y="9597"/>
                  </a:cubicBezTo>
                  <a:lnTo>
                    <a:pt x="3250" y="10705"/>
                  </a:lnTo>
                  <a:lnTo>
                    <a:pt x="2655" y="10705"/>
                  </a:lnTo>
                  <a:lnTo>
                    <a:pt x="2477" y="9109"/>
                  </a:lnTo>
                  <a:cubicBezTo>
                    <a:pt x="2465" y="9014"/>
                    <a:pt x="2381" y="8954"/>
                    <a:pt x="2298" y="8954"/>
                  </a:cubicBezTo>
                  <a:cubicBezTo>
                    <a:pt x="2203" y="8978"/>
                    <a:pt x="2143" y="9050"/>
                    <a:pt x="2143" y="9133"/>
                  </a:cubicBezTo>
                  <a:lnTo>
                    <a:pt x="2322" y="10705"/>
                  </a:lnTo>
                  <a:lnTo>
                    <a:pt x="1965" y="10705"/>
                  </a:lnTo>
                  <a:cubicBezTo>
                    <a:pt x="1822" y="10705"/>
                    <a:pt x="1703" y="10598"/>
                    <a:pt x="1667" y="10455"/>
                  </a:cubicBezTo>
                  <a:lnTo>
                    <a:pt x="572" y="4549"/>
                  </a:lnTo>
                  <a:cubicBezTo>
                    <a:pt x="560" y="4478"/>
                    <a:pt x="560" y="4406"/>
                    <a:pt x="583" y="4335"/>
                  </a:cubicBezTo>
                  <a:cubicBezTo>
                    <a:pt x="583" y="4311"/>
                    <a:pt x="583" y="4299"/>
                    <a:pt x="595" y="4299"/>
                  </a:cubicBezTo>
                  <a:lnTo>
                    <a:pt x="595" y="4287"/>
                  </a:lnTo>
                  <a:cubicBezTo>
                    <a:pt x="595" y="4263"/>
                    <a:pt x="619" y="4252"/>
                    <a:pt x="619" y="4252"/>
                  </a:cubicBezTo>
                  <a:cubicBezTo>
                    <a:pt x="619" y="4240"/>
                    <a:pt x="631" y="4240"/>
                    <a:pt x="631" y="4228"/>
                  </a:cubicBezTo>
                  <a:lnTo>
                    <a:pt x="631" y="4204"/>
                  </a:lnTo>
                  <a:cubicBezTo>
                    <a:pt x="631" y="4192"/>
                    <a:pt x="643" y="4192"/>
                    <a:pt x="643" y="4180"/>
                  </a:cubicBezTo>
                  <a:lnTo>
                    <a:pt x="643" y="4168"/>
                  </a:lnTo>
                  <a:cubicBezTo>
                    <a:pt x="643" y="4144"/>
                    <a:pt x="655" y="4144"/>
                    <a:pt x="655" y="4132"/>
                  </a:cubicBezTo>
                  <a:lnTo>
                    <a:pt x="679" y="4121"/>
                  </a:lnTo>
                  <a:lnTo>
                    <a:pt x="703" y="4085"/>
                  </a:lnTo>
                  <a:lnTo>
                    <a:pt x="738" y="4061"/>
                  </a:lnTo>
                  <a:cubicBezTo>
                    <a:pt x="750" y="4049"/>
                    <a:pt x="774" y="4037"/>
                    <a:pt x="798" y="4013"/>
                  </a:cubicBezTo>
                  <a:cubicBezTo>
                    <a:pt x="822" y="4001"/>
                    <a:pt x="833" y="3990"/>
                    <a:pt x="869" y="3966"/>
                  </a:cubicBezTo>
                  <a:cubicBezTo>
                    <a:pt x="893" y="3954"/>
                    <a:pt x="917" y="3954"/>
                    <a:pt x="941" y="3942"/>
                  </a:cubicBezTo>
                  <a:cubicBezTo>
                    <a:pt x="976" y="3942"/>
                    <a:pt x="988" y="3930"/>
                    <a:pt x="1012" y="3930"/>
                  </a:cubicBezTo>
                  <a:close/>
                  <a:moveTo>
                    <a:pt x="3822" y="1"/>
                  </a:moveTo>
                  <a:cubicBezTo>
                    <a:pt x="3620" y="25"/>
                    <a:pt x="3429" y="120"/>
                    <a:pt x="3298" y="251"/>
                  </a:cubicBezTo>
                  <a:cubicBezTo>
                    <a:pt x="3250" y="239"/>
                    <a:pt x="3191" y="239"/>
                    <a:pt x="3143" y="239"/>
                  </a:cubicBezTo>
                  <a:cubicBezTo>
                    <a:pt x="2691" y="239"/>
                    <a:pt x="2298" y="549"/>
                    <a:pt x="2227" y="953"/>
                  </a:cubicBezTo>
                  <a:cubicBezTo>
                    <a:pt x="1691" y="965"/>
                    <a:pt x="1262" y="1382"/>
                    <a:pt x="1262" y="1870"/>
                  </a:cubicBezTo>
                  <a:cubicBezTo>
                    <a:pt x="1262" y="1930"/>
                    <a:pt x="1262" y="1977"/>
                    <a:pt x="1274" y="2037"/>
                  </a:cubicBezTo>
                  <a:cubicBezTo>
                    <a:pt x="798" y="2096"/>
                    <a:pt x="417" y="2489"/>
                    <a:pt x="417" y="2966"/>
                  </a:cubicBezTo>
                  <a:cubicBezTo>
                    <a:pt x="417" y="3013"/>
                    <a:pt x="417" y="3061"/>
                    <a:pt x="441" y="3120"/>
                  </a:cubicBezTo>
                  <a:cubicBezTo>
                    <a:pt x="250" y="3168"/>
                    <a:pt x="60" y="3299"/>
                    <a:pt x="36" y="3561"/>
                  </a:cubicBezTo>
                  <a:cubicBezTo>
                    <a:pt x="0" y="3751"/>
                    <a:pt x="95" y="3942"/>
                    <a:pt x="262" y="4049"/>
                  </a:cubicBezTo>
                  <a:lnTo>
                    <a:pt x="262" y="4121"/>
                  </a:lnTo>
                  <a:cubicBezTo>
                    <a:pt x="262" y="4192"/>
                    <a:pt x="274" y="4252"/>
                    <a:pt x="298" y="4311"/>
                  </a:cubicBezTo>
                  <a:cubicBezTo>
                    <a:pt x="286" y="4418"/>
                    <a:pt x="286" y="4525"/>
                    <a:pt x="298" y="4633"/>
                  </a:cubicBezTo>
                  <a:lnTo>
                    <a:pt x="1405" y="10538"/>
                  </a:lnTo>
                  <a:cubicBezTo>
                    <a:pt x="1465" y="10836"/>
                    <a:pt x="1715" y="11038"/>
                    <a:pt x="2012" y="11038"/>
                  </a:cubicBezTo>
                  <a:lnTo>
                    <a:pt x="5822" y="11038"/>
                  </a:lnTo>
                  <a:cubicBezTo>
                    <a:pt x="6120" y="11038"/>
                    <a:pt x="6370" y="10836"/>
                    <a:pt x="6429" y="10538"/>
                  </a:cubicBezTo>
                  <a:lnTo>
                    <a:pt x="7537" y="4633"/>
                  </a:lnTo>
                  <a:cubicBezTo>
                    <a:pt x="7549" y="4525"/>
                    <a:pt x="7549" y="4418"/>
                    <a:pt x="7537" y="4311"/>
                  </a:cubicBezTo>
                  <a:cubicBezTo>
                    <a:pt x="7561" y="4252"/>
                    <a:pt x="7584" y="4180"/>
                    <a:pt x="7584" y="4121"/>
                  </a:cubicBezTo>
                  <a:lnTo>
                    <a:pt x="7584" y="4049"/>
                  </a:lnTo>
                  <a:cubicBezTo>
                    <a:pt x="7656" y="3942"/>
                    <a:pt x="7739" y="3751"/>
                    <a:pt x="7727" y="3561"/>
                  </a:cubicBezTo>
                  <a:cubicBezTo>
                    <a:pt x="7703" y="3299"/>
                    <a:pt x="7525" y="3168"/>
                    <a:pt x="7334" y="3120"/>
                  </a:cubicBezTo>
                  <a:cubicBezTo>
                    <a:pt x="7346" y="3061"/>
                    <a:pt x="7346" y="3025"/>
                    <a:pt x="7346" y="2966"/>
                  </a:cubicBezTo>
                  <a:cubicBezTo>
                    <a:pt x="7346" y="2501"/>
                    <a:pt x="6965" y="2108"/>
                    <a:pt x="6489" y="2037"/>
                  </a:cubicBezTo>
                  <a:cubicBezTo>
                    <a:pt x="6513" y="1989"/>
                    <a:pt x="6513" y="1930"/>
                    <a:pt x="6513" y="1870"/>
                  </a:cubicBezTo>
                  <a:cubicBezTo>
                    <a:pt x="6513" y="1370"/>
                    <a:pt x="6072" y="965"/>
                    <a:pt x="5536" y="953"/>
                  </a:cubicBezTo>
                  <a:cubicBezTo>
                    <a:pt x="5455" y="545"/>
                    <a:pt x="5075" y="239"/>
                    <a:pt x="4633" y="239"/>
                  </a:cubicBezTo>
                  <a:cubicBezTo>
                    <a:pt x="4625" y="239"/>
                    <a:pt x="4616" y="239"/>
                    <a:pt x="4608" y="239"/>
                  </a:cubicBezTo>
                  <a:cubicBezTo>
                    <a:pt x="4560" y="239"/>
                    <a:pt x="4501" y="239"/>
                    <a:pt x="4453" y="251"/>
                  </a:cubicBezTo>
                  <a:cubicBezTo>
                    <a:pt x="4322" y="120"/>
                    <a:pt x="4143" y="25"/>
                    <a:pt x="392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 spc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193709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 dirty="0"/>
              <a:t>Thanks for </a:t>
            </a:r>
            <a:r>
              <a:rPr lang="de-CH" dirty="0" err="1"/>
              <a:t>your</a:t>
            </a:r>
            <a:r>
              <a:rPr lang="de-CH" dirty="0"/>
              <a:t> </a:t>
            </a:r>
            <a:r>
              <a:rPr lang="de-CH" dirty="0" err="1"/>
              <a:t>attention</a:t>
            </a:r>
            <a:r>
              <a:rPr lang="de-CH" b="0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692768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References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de-CH"/>
              <a:t>Universität Basel</a:t>
            </a:r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11826-9277-4232-A2B5-17D05DFC7392}" type="slidenum">
              <a:rPr lang="de-CH" smtClean="0"/>
              <a:pPr/>
              <a:t>14</a:t>
            </a:fld>
            <a:endParaRPr lang="de-CH" dirty="0"/>
          </a:p>
        </p:txBody>
      </p:sp>
      <p:sp>
        <p:nvSpPr>
          <p:cNvPr id="7" name="Datumsplatzhalter 3">
            <a:extLst>
              <a:ext uri="{FF2B5EF4-FFF2-40B4-BE49-F238E27FC236}">
                <a16:creationId xmlns:a16="http://schemas.microsoft.com/office/drawing/2014/main" id="{C485F576-BF49-0DD5-8C5B-0AAB4A8C75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800" y="6524626"/>
            <a:ext cx="2878667" cy="180000"/>
          </a:xfrm>
        </p:spPr>
        <p:txBody>
          <a:bodyPr/>
          <a:lstStyle/>
          <a:p>
            <a:r>
              <a:rPr lang="de-CH" dirty="0"/>
              <a:t>Tommaso Cappelli, 24.08.2026</a:t>
            </a:r>
          </a:p>
        </p:txBody>
      </p:sp>
      <p:graphicFrame>
        <p:nvGraphicFramePr>
          <p:cNvPr id="8" name="Tabelle 5">
            <a:extLst>
              <a:ext uri="{FF2B5EF4-FFF2-40B4-BE49-F238E27FC236}">
                <a16:creationId xmlns:a16="http://schemas.microsoft.com/office/drawing/2014/main" id="{93112C76-0BD6-CEFC-0B0B-14EDBADE0B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8646020"/>
              </p:ext>
            </p:extLst>
          </p:nvPr>
        </p:nvGraphicFramePr>
        <p:xfrm>
          <a:off x="335161" y="1124744"/>
          <a:ext cx="11521677" cy="2640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0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707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CH" dirty="0"/>
                        <a:t>1</a:t>
                      </a:r>
                    </a:p>
                  </a:txBody>
                  <a:tcPr marL="144000" marR="144000" marT="90000" marB="9000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dirty="0" err="1"/>
                        <a:t>Identification</a:t>
                      </a:r>
                      <a:r>
                        <a:rPr lang="de-CH" dirty="0"/>
                        <a:t> of </a:t>
                      </a:r>
                      <a:r>
                        <a:rPr lang="de-CH" dirty="0" err="1"/>
                        <a:t>mutations</a:t>
                      </a:r>
                      <a:r>
                        <a:rPr lang="de-CH" dirty="0"/>
                        <a:t> in </a:t>
                      </a:r>
                      <a:r>
                        <a:rPr lang="de-CH" dirty="0" err="1"/>
                        <a:t>laboratory</a:t>
                      </a:r>
                      <a:r>
                        <a:rPr lang="de-CH" dirty="0"/>
                        <a:t> </a:t>
                      </a:r>
                      <a:r>
                        <a:rPr lang="de-CH" dirty="0" err="1"/>
                        <a:t>evolved</a:t>
                      </a:r>
                      <a:r>
                        <a:rPr lang="de-CH" dirty="0"/>
                        <a:t> </a:t>
                      </a:r>
                      <a:r>
                        <a:rPr lang="de-CH" dirty="0" err="1"/>
                        <a:t>micobes</a:t>
                      </a:r>
                      <a:r>
                        <a:rPr lang="de-CH" dirty="0"/>
                        <a:t> </a:t>
                      </a:r>
                      <a:r>
                        <a:rPr lang="de-CH" dirty="0" err="1"/>
                        <a:t>from</a:t>
                      </a:r>
                      <a:r>
                        <a:rPr lang="de-CH" dirty="0"/>
                        <a:t> </a:t>
                      </a:r>
                      <a:r>
                        <a:rPr lang="de-CH" dirty="0" err="1"/>
                        <a:t>next</a:t>
                      </a:r>
                      <a:r>
                        <a:rPr lang="de-CH" dirty="0"/>
                        <a:t>-generation </a:t>
                      </a:r>
                      <a:r>
                        <a:rPr lang="de-CH" dirty="0" err="1"/>
                        <a:t>sequencing</a:t>
                      </a:r>
                      <a:r>
                        <a:rPr lang="de-CH" dirty="0"/>
                        <a:t> </a:t>
                      </a:r>
                      <a:r>
                        <a:rPr lang="de-CH" dirty="0" err="1"/>
                        <a:t>data</a:t>
                      </a:r>
                      <a:r>
                        <a:rPr lang="de-CH" dirty="0"/>
                        <a:t> </a:t>
                      </a:r>
                      <a:r>
                        <a:rPr lang="de-CH" dirty="0" err="1"/>
                        <a:t>using</a:t>
                      </a:r>
                      <a:r>
                        <a:rPr lang="de-CH" dirty="0"/>
                        <a:t> </a:t>
                      </a:r>
                      <a:r>
                        <a:rPr lang="de-CH" i="1" dirty="0" err="1"/>
                        <a:t>breseq</a:t>
                      </a:r>
                      <a:r>
                        <a:rPr lang="de-CH" i="0" dirty="0"/>
                        <a:t>, D.E. Deatherage and J. Barrick, 2014</a:t>
                      </a:r>
                      <a:endParaRPr lang="de-CH" dirty="0"/>
                    </a:p>
                  </a:txBody>
                  <a:tcPr marL="144000" marR="144000" marT="90000" marB="9000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dirty="0"/>
                        <a:t>2</a:t>
                      </a:r>
                    </a:p>
                  </a:txBody>
                  <a:tcPr marL="144000" marR="144000" marT="90000" marB="9000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Polymorphism and selection of </a:t>
                      </a:r>
                      <a:r>
                        <a:rPr lang="en-US" i="1" dirty="0" err="1"/>
                        <a:t>rpoS</a:t>
                      </a:r>
                      <a:r>
                        <a:rPr lang="en-US" i="0" dirty="0"/>
                        <a:t> in pathogenic </a:t>
                      </a:r>
                      <a:r>
                        <a:rPr lang="en-US" i="1" dirty="0" err="1"/>
                        <a:t>E.Coli</a:t>
                      </a:r>
                      <a:r>
                        <a:rPr lang="en-US" i="0" dirty="0"/>
                        <a:t>, S.M. Chiang </a:t>
                      </a:r>
                      <a:r>
                        <a:rPr lang="en-US" i="1" dirty="0"/>
                        <a:t>et.al, </a:t>
                      </a:r>
                      <a:r>
                        <a:rPr lang="en-US" i="0" dirty="0"/>
                        <a:t>2009</a:t>
                      </a:r>
                      <a:endParaRPr lang="de-CH" dirty="0"/>
                    </a:p>
                  </a:txBody>
                  <a:tcPr marL="144000" marR="144000" marT="90000" marB="9000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dirty="0"/>
                        <a:t>3</a:t>
                      </a:r>
                    </a:p>
                  </a:txBody>
                  <a:tcPr marL="144000" marR="144000" marT="90000" marB="9000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The </a:t>
                      </a:r>
                      <a:r>
                        <a:rPr lang="de-CH" dirty="0" err="1"/>
                        <a:t>response</a:t>
                      </a:r>
                      <a:r>
                        <a:rPr lang="de-CH" dirty="0"/>
                        <a:t> </a:t>
                      </a:r>
                      <a:r>
                        <a:rPr lang="de-CH" dirty="0" err="1"/>
                        <a:t>regulator</a:t>
                      </a:r>
                      <a:r>
                        <a:rPr lang="de-CH" dirty="0"/>
                        <a:t> </a:t>
                      </a:r>
                      <a:r>
                        <a:rPr lang="de-CH" i="1" dirty="0" err="1"/>
                        <a:t>rssB</a:t>
                      </a:r>
                      <a:r>
                        <a:rPr lang="de-CH" i="1" dirty="0"/>
                        <a:t> </a:t>
                      </a:r>
                      <a:r>
                        <a:rPr lang="de-CH" dirty="0" err="1"/>
                        <a:t>controls</a:t>
                      </a:r>
                      <a:r>
                        <a:rPr lang="de-CH" dirty="0"/>
                        <a:t> </a:t>
                      </a:r>
                      <a:r>
                        <a:rPr lang="de-CH" dirty="0" err="1"/>
                        <a:t>stability</a:t>
                      </a:r>
                      <a:r>
                        <a:rPr lang="de-CH" dirty="0"/>
                        <a:t> of the </a:t>
                      </a:r>
                      <a:r>
                        <a:rPr lang="de-CH" dirty="0" err="1"/>
                        <a:t>sigma</a:t>
                      </a:r>
                      <a:r>
                        <a:rPr lang="de-CH" dirty="0"/>
                        <a:t>(S) </a:t>
                      </a:r>
                      <a:r>
                        <a:rPr lang="de-CH" dirty="0" err="1"/>
                        <a:t>subunit</a:t>
                      </a:r>
                      <a:r>
                        <a:rPr lang="de-CH" dirty="0"/>
                        <a:t> of RNA </a:t>
                      </a:r>
                      <a:r>
                        <a:rPr lang="de-CH" dirty="0" err="1"/>
                        <a:t>polymerase</a:t>
                      </a:r>
                      <a:r>
                        <a:rPr lang="de-CH" dirty="0"/>
                        <a:t> in </a:t>
                      </a:r>
                      <a:r>
                        <a:rPr lang="de-CH" i="1" dirty="0"/>
                        <a:t>Escherichia Coli, </a:t>
                      </a:r>
                      <a:r>
                        <a:rPr lang="de-CH" i="0" dirty="0" err="1"/>
                        <a:t>A.Muffler</a:t>
                      </a:r>
                      <a:r>
                        <a:rPr lang="de-CH" i="0" dirty="0"/>
                        <a:t> </a:t>
                      </a:r>
                      <a:r>
                        <a:rPr lang="de-CH" i="1" dirty="0"/>
                        <a:t>et al., </a:t>
                      </a:r>
                      <a:r>
                        <a:rPr lang="de-CH" i="0" dirty="0"/>
                        <a:t>1996</a:t>
                      </a:r>
                    </a:p>
                  </a:txBody>
                  <a:tcPr marL="144000" marR="144000" marT="90000" marB="9000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dirty="0"/>
                        <a:t>4</a:t>
                      </a:r>
                    </a:p>
                  </a:txBody>
                  <a:tcPr marL="144000" marR="144000" marT="90000" marB="9000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Promoter-</a:t>
                      </a:r>
                      <a:r>
                        <a:rPr lang="it-IT" dirty="0" err="1"/>
                        <a:t>specific</a:t>
                      </a:r>
                      <a:r>
                        <a:rPr lang="it-IT" dirty="0"/>
                        <a:t> control of E. coli RNA </a:t>
                      </a:r>
                      <a:r>
                        <a:rPr lang="it-IT" dirty="0" err="1"/>
                        <a:t>polymerase</a:t>
                      </a:r>
                      <a:r>
                        <a:rPr lang="it-IT" dirty="0"/>
                        <a:t> by </a:t>
                      </a:r>
                      <a:r>
                        <a:rPr lang="it-IT" dirty="0" err="1"/>
                        <a:t>ppGpp</a:t>
                      </a:r>
                      <a:r>
                        <a:rPr lang="it-IT" dirty="0"/>
                        <a:t> and a general </a:t>
                      </a:r>
                      <a:r>
                        <a:rPr lang="it-IT" dirty="0" err="1"/>
                        <a:t>transcription</a:t>
                      </a:r>
                      <a:r>
                        <a:rPr lang="it-IT" dirty="0"/>
                        <a:t> </a:t>
                      </a:r>
                      <a:r>
                        <a:rPr lang="it-IT" dirty="0" err="1"/>
                        <a:t>factor</a:t>
                      </a:r>
                      <a:r>
                        <a:rPr lang="it-IT" dirty="0"/>
                        <a:t>, </a:t>
                      </a:r>
                    </a:p>
                    <a:p>
                      <a:r>
                        <a:rPr lang="it-IT" dirty="0"/>
                        <a:t>Jeffrey W. Roberts, 2009</a:t>
                      </a:r>
                      <a:endParaRPr lang="de-CH" dirty="0"/>
                    </a:p>
                  </a:txBody>
                  <a:tcPr marL="144000" marR="144000" marT="90000" marB="9000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20918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DF84E-2C50-8941-AFD2-2C295123E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194739-961C-AC68-C8B4-FAADC3C7A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1. Computational </a:t>
            </a:r>
            <a:r>
              <a:rPr lang="de-CH" dirty="0" err="1"/>
              <a:t>analysis</a:t>
            </a:r>
            <a:r>
              <a:rPr lang="de-CH" dirty="0"/>
              <a:t> of 92 </a:t>
            </a:r>
            <a:r>
              <a:rPr lang="de-CH" i="1" dirty="0" err="1"/>
              <a:t>E.Coli</a:t>
            </a:r>
            <a:r>
              <a:rPr lang="de-CH" i="1" dirty="0"/>
              <a:t> </a:t>
            </a:r>
            <a:r>
              <a:rPr lang="de-CH" dirty="0" err="1"/>
              <a:t>strains</a:t>
            </a:r>
            <a:r>
              <a:rPr lang="de-CH" dirty="0"/>
              <a:t> </a:t>
            </a:r>
            <a:r>
              <a:rPr lang="de-CH" dirty="0" err="1"/>
              <a:t>core</a:t>
            </a:r>
            <a:r>
              <a:rPr lang="de-CH" dirty="0"/>
              <a:t> </a:t>
            </a:r>
            <a:r>
              <a:rPr lang="de-CH" dirty="0" err="1"/>
              <a:t>genomes</a:t>
            </a:r>
            <a:r>
              <a:rPr lang="de-CH" dirty="0"/>
              <a:t> to </a:t>
            </a:r>
            <a:r>
              <a:rPr lang="de-CH" dirty="0" err="1"/>
              <a:t>understand</a:t>
            </a:r>
            <a:r>
              <a:rPr lang="de-CH" dirty="0"/>
              <a:t> the </a:t>
            </a:r>
            <a:r>
              <a:rPr lang="de-CH" dirty="0" err="1"/>
              <a:t>impact</a:t>
            </a:r>
            <a:r>
              <a:rPr lang="de-CH" dirty="0"/>
              <a:t> of </a:t>
            </a:r>
            <a:r>
              <a:rPr lang="de-CH" dirty="0" err="1"/>
              <a:t>mutations</a:t>
            </a:r>
            <a:r>
              <a:rPr lang="de-CH" dirty="0"/>
              <a:t> and </a:t>
            </a:r>
            <a:r>
              <a:rPr lang="de-CH" dirty="0" err="1"/>
              <a:t>recombination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7158B66-1B06-C144-8CB8-A617DC653A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766" y="2086732"/>
            <a:ext cx="3941535" cy="3842056"/>
          </a:xfrm>
        </p:spPr>
        <p:txBody>
          <a:bodyPr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de-CH" dirty="0" err="1"/>
              <a:t>Starting</a:t>
            </a:r>
            <a:r>
              <a:rPr lang="de-CH" dirty="0"/>
              <a:t> </a:t>
            </a:r>
            <a:r>
              <a:rPr lang="de-CH" dirty="0" err="1"/>
              <a:t>point</a:t>
            </a:r>
            <a:r>
              <a:rPr lang="de-CH" dirty="0"/>
              <a:t>: </a:t>
            </a:r>
            <a:r>
              <a:rPr lang="de-CH" dirty="0" err="1"/>
              <a:t>data</a:t>
            </a:r>
            <a:r>
              <a:rPr lang="de-CH" dirty="0"/>
              <a:t> </a:t>
            </a:r>
            <a:r>
              <a:rPr lang="de-CH" dirty="0" err="1"/>
              <a:t>from</a:t>
            </a:r>
            <a:r>
              <a:rPr lang="de-CH" dirty="0"/>
              <a:t> the </a:t>
            </a:r>
            <a:r>
              <a:rPr lang="de-CH" dirty="0">
                <a:hlinkClick r:id="rId2"/>
              </a:rPr>
              <a:t>RECOPHY</a:t>
            </a:r>
            <a:r>
              <a:rPr lang="de-CH" dirty="0"/>
              <a:t> </a:t>
            </a:r>
            <a:r>
              <a:rPr lang="de-CH" dirty="0" err="1"/>
              <a:t>website</a:t>
            </a:r>
            <a:r>
              <a:rPr lang="de-CH" dirty="0"/>
              <a:t> (4M+ </a:t>
            </a:r>
            <a:r>
              <a:rPr lang="de-CH" dirty="0" err="1"/>
              <a:t>bases</a:t>
            </a:r>
            <a:r>
              <a:rPr lang="de-CH" dirty="0"/>
              <a:t> for 92 </a:t>
            </a:r>
            <a:r>
              <a:rPr lang="de-CH" dirty="0" err="1"/>
              <a:t>strains</a:t>
            </a:r>
            <a:r>
              <a:rPr lang="de-CH" dirty="0"/>
              <a:t>)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de-CH" dirty="0"/>
              <a:t>Focus: allele </a:t>
            </a:r>
            <a:r>
              <a:rPr lang="de-CH" dirty="0" err="1"/>
              <a:t>variation</a:t>
            </a:r>
            <a:r>
              <a:rPr lang="de-CH" dirty="0"/>
              <a:t> </a:t>
            </a:r>
            <a:r>
              <a:rPr lang="de-CH" dirty="0" err="1"/>
              <a:t>frequency</a:t>
            </a:r>
            <a:r>
              <a:rPr lang="de-CH" dirty="0"/>
              <a:t> (# of genes </a:t>
            </a:r>
            <a:r>
              <a:rPr lang="de-CH" dirty="0" err="1"/>
              <a:t>with</a:t>
            </a:r>
            <a:r>
              <a:rPr lang="de-CH" dirty="0"/>
              <a:t> n </a:t>
            </a:r>
            <a:r>
              <a:rPr lang="de-CH" dirty="0" err="1"/>
              <a:t>strains</a:t>
            </a:r>
            <a:r>
              <a:rPr lang="de-CH" dirty="0"/>
              <a:t> </a:t>
            </a:r>
            <a:r>
              <a:rPr lang="de-CH" dirty="0" err="1"/>
              <a:t>with</a:t>
            </a:r>
            <a:r>
              <a:rPr lang="de-CH" dirty="0"/>
              <a:t> a </a:t>
            </a:r>
            <a:r>
              <a:rPr lang="de-CH" dirty="0" err="1"/>
              <a:t>variation</a:t>
            </a:r>
            <a:r>
              <a:rPr lang="de-CH" dirty="0"/>
              <a:t>) for </a:t>
            </a:r>
            <a:r>
              <a:rPr lang="de-CH" dirty="0" err="1"/>
              <a:t>each</a:t>
            </a:r>
            <a:r>
              <a:rPr lang="de-CH" dirty="0"/>
              <a:t> SNP and </a:t>
            </a:r>
            <a:r>
              <a:rPr lang="de-CH" dirty="0" err="1"/>
              <a:t>nCDF</a:t>
            </a:r>
            <a:r>
              <a:rPr lang="de-CH" dirty="0"/>
              <a:t> of </a:t>
            </a:r>
            <a:r>
              <a:rPr lang="de-CH" dirty="0" err="1"/>
              <a:t>unique</a:t>
            </a:r>
            <a:r>
              <a:rPr lang="de-CH" dirty="0"/>
              <a:t> genes </a:t>
            </a:r>
            <a:r>
              <a:rPr lang="de-CH" dirty="0" err="1"/>
              <a:t>with</a:t>
            </a:r>
            <a:r>
              <a:rPr lang="de-CH" dirty="0"/>
              <a:t> the same allele </a:t>
            </a:r>
            <a:r>
              <a:rPr lang="de-CH" dirty="0" err="1"/>
              <a:t>variation</a:t>
            </a:r>
            <a:r>
              <a:rPr lang="de-CH" dirty="0"/>
              <a:t> </a:t>
            </a:r>
            <a:r>
              <a:rPr lang="de-CH" dirty="0" err="1"/>
              <a:t>frequency</a:t>
            </a:r>
            <a:r>
              <a:rPr lang="de-CH" dirty="0"/>
              <a:t>.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de-CH" dirty="0" err="1"/>
              <a:t>Results</a:t>
            </a:r>
            <a:r>
              <a:rPr lang="de-CH" dirty="0"/>
              <a:t>: lots of </a:t>
            </a:r>
            <a:r>
              <a:rPr lang="de-CH" dirty="0" err="1"/>
              <a:t>bases</a:t>
            </a:r>
            <a:r>
              <a:rPr lang="de-CH" dirty="0"/>
              <a:t> </a:t>
            </a:r>
            <a:r>
              <a:rPr lang="de-CH" dirty="0" err="1"/>
              <a:t>with</a:t>
            </a:r>
            <a:r>
              <a:rPr lang="de-CH" dirty="0"/>
              <a:t> the same, </a:t>
            </a:r>
            <a:r>
              <a:rPr lang="de-CH" dirty="0" err="1"/>
              <a:t>unique</a:t>
            </a:r>
            <a:r>
              <a:rPr lang="de-CH" dirty="0"/>
              <a:t> allele </a:t>
            </a:r>
            <a:r>
              <a:rPr lang="de-CH" dirty="0" err="1"/>
              <a:t>variation</a:t>
            </a:r>
            <a:r>
              <a:rPr lang="de-CH" dirty="0"/>
              <a:t> </a:t>
            </a:r>
            <a:r>
              <a:rPr lang="de-CH" dirty="0" err="1"/>
              <a:t>pattern</a:t>
            </a:r>
            <a:br>
              <a:rPr lang="de-CH" dirty="0"/>
            </a:br>
            <a:r>
              <a:rPr lang="de-CH" dirty="0"/>
              <a:t>-&gt;The 9 </a:t>
            </a:r>
            <a:r>
              <a:rPr lang="de-CH" dirty="0" err="1"/>
              <a:t>strains</a:t>
            </a:r>
            <a:r>
              <a:rPr lang="de-CH" dirty="0"/>
              <a:t> will </a:t>
            </a:r>
            <a:r>
              <a:rPr lang="de-CH" dirty="0" err="1"/>
              <a:t>have</a:t>
            </a:r>
            <a:r>
              <a:rPr lang="de-CH" dirty="0"/>
              <a:t> a </a:t>
            </a:r>
            <a:r>
              <a:rPr lang="de-CH" dirty="0" err="1"/>
              <a:t>significantly</a:t>
            </a:r>
            <a:r>
              <a:rPr lang="de-CH" dirty="0"/>
              <a:t> </a:t>
            </a:r>
            <a:r>
              <a:rPr lang="de-CH" dirty="0" err="1"/>
              <a:t>further</a:t>
            </a:r>
            <a:r>
              <a:rPr lang="de-CH" dirty="0"/>
              <a:t> </a:t>
            </a:r>
            <a:r>
              <a:rPr lang="de-CH" dirty="0" err="1"/>
              <a:t>common</a:t>
            </a:r>
            <a:r>
              <a:rPr lang="de-CH" dirty="0"/>
              <a:t> </a:t>
            </a:r>
            <a:r>
              <a:rPr lang="de-CH" dirty="0" err="1"/>
              <a:t>ancestor</a:t>
            </a:r>
            <a:r>
              <a:rPr lang="de-CH" dirty="0"/>
              <a:t> </a:t>
            </a:r>
            <a:r>
              <a:rPr lang="de-CH" dirty="0" err="1"/>
              <a:t>from</a:t>
            </a:r>
            <a:r>
              <a:rPr lang="de-CH" dirty="0"/>
              <a:t> the </a:t>
            </a:r>
            <a:r>
              <a:rPr lang="de-CH" dirty="0" err="1"/>
              <a:t>others</a:t>
            </a:r>
            <a:r>
              <a:rPr lang="de-CH" dirty="0"/>
              <a:t>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de-CH" dirty="0"/>
          </a:p>
          <a:p>
            <a:pPr algn="ctr"/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0C81D4B-2B44-6145-E3BF-9B2BC8315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de-CH"/>
              <a:t>Universität Basel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991417F-33D8-17FB-6815-45A9EAA92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11826-9277-4232-A2B5-17D05DFC7392}" type="slidenum">
              <a:rPr lang="de-CH" smtClean="0"/>
              <a:pPr/>
              <a:t>15</a:t>
            </a:fld>
            <a:endParaRPr lang="de-CH" dirty="0"/>
          </a:p>
        </p:txBody>
      </p:sp>
      <p:cxnSp>
        <p:nvCxnSpPr>
          <p:cNvPr id="8" name="Gerade Verbindung 7">
            <a:extLst>
              <a:ext uri="{FF2B5EF4-FFF2-40B4-BE49-F238E27FC236}">
                <a16:creationId xmlns:a16="http://schemas.microsoft.com/office/drawing/2014/main" id="{93C851D8-685B-E15B-63A8-97B9082BD285}"/>
              </a:ext>
            </a:extLst>
          </p:cNvPr>
          <p:cNvCxnSpPr/>
          <p:nvPr/>
        </p:nvCxnSpPr>
        <p:spPr>
          <a:xfrm>
            <a:off x="334800" y="1520825"/>
            <a:ext cx="11521840" cy="0"/>
          </a:xfrm>
          <a:prstGeom prst="line">
            <a:avLst/>
          </a:prstGeom>
          <a:ln w="254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magine 8">
            <a:extLst>
              <a:ext uri="{FF2B5EF4-FFF2-40B4-BE49-F238E27FC236}">
                <a16:creationId xmlns:a16="http://schemas.microsoft.com/office/drawing/2014/main" id="{FAF22E2C-0439-061F-BEE4-94991B82AA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0216" y="3410225"/>
            <a:ext cx="4095013" cy="2581367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6909153B-63FB-639A-AD54-653F23371E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7808" y="1988839"/>
            <a:ext cx="3672408" cy="2738199"/>
          </a:xfrm>
          <a:prstGeom prst="rect">
            <a:avLst/>
          </a:prstGeom>
        </p:spPr>
      </p:pic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979875DA-2976-F998-7D24-618033253A63}"/>
              </a:ext>
            </a:extLst>
          </p:cNvPr>
          <p:cNvSpPr txBox="1">
            <a:spLocks/>
          </p:cNvSpPr>
          <p:nvPr/>
        </p:nvSpPr>
        <p:spPr>
          <a:xfrm>
            <a:off x="-672752" y="1111742"/>
            <a:ext cx="6965276" cy="25226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22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ts val="22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ts val="22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ts val="22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ts val="22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CH" sz="1400" dirty="0" err="1"/>
              <a:t>Hypotesis</a:t>
            </a:r>
            <a:r>
              <a:rPr lang="de-CH" sz="1400" dirty="0"/>
              <a:t>: </a:t>
            </a:r>
            <a:r>
              <a:rPr lang="de-CH" sz="1400" dirty="0" err="1"/>
              <a:t>only</a:t>
            </a:r>
            <a:r>
              <a:rPr lang="de-CH" sz="1400" dirty="0"/>
              <a:t> a </a:t>
            </a:r>
            <a:r>
              <a:rPr lang="de-CH" sz="1400" dirty="0" err="1"/>
              <a:t>mutation</a:t>
            </a:r>
            <a:r>
              <a:rPr lang="de-CH" sz="1400" dirty="0"/>
              <a:t> </a:t>
            </a:r>
            <a:r>
              <a:rPr lang="de-CH" sz="1400" dirty="0" err="1"/>
              <a:t>can</a:t>
            </a:r>
            <a:r>
              <a:rPr lang="de-CH" sz="1400" dirty="0"/>
              <a:t> happen per bp (</a:t>
            </a:r>
            <a:r>
              <a:rPr lang="de-CH" sz="1400" dirty="0" err="1"/>
              <a:t>binary</a:t>
            </a:r>
            <a:r>
              <a:rPr lang="de-CH" sz="1400" dirty="0"/>
              <a:t> </a:t>
            </a:r>
            <a:r>
              <a:rPr lang="de-CH" sz="1400" dirty="0" err="1"/>
              <a:t>model</a:t>
            </a:r>
            <a:r>
              <a:rPr lang="de-CH" sz="1400" dirty="0"/>
              <a:t>)</a:t>
            </a:r>
          </a:p>
          <a:p>
            <a:pPr algn="ctr"/>
            <a:endParaRPr lang="de-CH" dirty="0"/>
          </a:p>
        </p:txBody>
      </p:sp>
      <p:sp>
        <p:nvSpPr>
          <p:cNvPr id="7" name="Datumsplatzhalter 3">
            <a:extLst>
              <a:ext uri="{FF2B5EF4-FFF2-40B4-BE49-F238E27FC236}">
                <a16:creationId xmlns:a16="http://schemas.microsoft.com/office/drawing/2014/main" id="{CC6C37F2-7E44-CFBC-B41B-04E219F30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800" y="6524626"/>
            <a:ext cx="2878667" cy="180000"/>
          </a:xfrm>
        </p:spPr>
        <p:txBody>
          <a:bodyPr/>
          <a:lstStyle/>
          <a:p>
            <a:r>
              <a:rPr lang="de-CH" dirty="0"/>
              <a:t>Tommaso Cappelli, 24.08.2026</a:t>
            </a:r>
          </a:p>
        </p:txBody>
      </p:sp>
    </p:spTree>
    <p:extLst>
      <p:ext uri="{BB962C8B-B14F-4D97-AF65-F5344CB8AC3E}">
        <p14:creationId xmlns:p14="http://schemas.microsoft.com/office/powerpoint/2010/main" val="32036373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6BFE1-916D-C164-839A-0CACF64BE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E31410-B233-EC4B-6541-15B60CEEB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Implementing</a:t>
            </a:r>
            <a:r>
              <a:rPr lang="de-CH" dirty="0"/>
              <a:t> the 4-gamete-test to </a:t>
            </a:r>
            <a:r>
              <a:rPr lang="de-CH" dirty="0" err="1"/>
              <a:t>assess</a:t>
            </a:r>
            <a:r>
              <a:rPr lang="de-CH" dirty="0"/>
              <a:t> </a:t>
            </a:r>
            <a:r>
              <a:rPr lang="de-CH" dirty="0" err="1"/>
              <a:t>how</a:t>
            </a:r>
            <a:r>
              <a:rPr lang="de-CH" dirty="0"/>
              <a:t> </a:t>
            </a:r>
            <a:r>
              <a:rPr lang="de-CH" dirty="0" err="1"/>
              <a:t>meaningful</a:t>
            </a:r>
            <a:r>
              <a:rPr lang="de-CH" dirty="0"/>
              <a:t> </a:t>
            </a:r>
            <a:r>
              <a:rPr lang="de-CH" dirty="0" err="1"/>
              <a:t>is</a:t>
            </a:r>
            <a:r>
              <a:rPr lang="de-CH" dirty="0"/>
              <a:t>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C11B739-AE1D-B316-D36E-6C0327647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800" y="1613464"/>
            <a:ext cx="3024896" cy="4623848"/>
          </a:xfrm>
        </p:spPr>
        <p:txBody>
          <a:bodyPr/>
          <a:lstStyle/>
          <a:p>
            <a:r>
              <a:rPr lang="de-CH" sz="1600" dirty="0" err="1"/>
              <a:t>Assuming</a:t>
            </a:r>
            <a:r>
              <a:rPr lang="de-CH" sz="1600" dirty="0"/>
              <a:t> </a:t>
            </a:r>
            <a:r>
              <a:rPr lang="de-CH" sz="1600" dirty="0" err="1"/>
              <a:t>that</a:t>
            </a:r>
            <a:r>
              <a:rPr lang="de-CH" sz="1600" dirty="0"/>
              <a:t> a bp </a:t>
            </a:r>
            <a:r>
              <a:rPr lang="de-CH" sz="1600" dirty="0" err="1"/>
              <a:t>can</a:t>
            </a:r>
            <a:r>
              <a:rPr lang="de-CH" sz="1600" dirty="0"/>
              <a:t> </a:t>
            </a:r>
            <a:r>
              <a:rPr lang="de-CH" sz="1600" dirty="0" err="1"/>
              <a:t>only</a:t>
            </a:r>
            <a:r>
              <a:rPr lang="de-CH" sz="1600" dirty="0"/>
              <a:t> </a:t>
            </a:r>
            <a:r>
              <a:rPr lang="de-CH" sz="1600" dirty="0" err="1"/>
              <a:t>mutate</a:t>
            </a:r>
            <a:r>
              <a:rPr lang="de-CH" sz="1600" dirty="0"/>
              <a:t> </a:t>
            </a:r>
            <a:r>
              <a:rPr lang="de-CH" sz="1600" dirty="0" err="1"/>
              <a:t>once</a:t>
            </a:r>
            <a:r>
              <a:rPr lang="de-CH" sz="1600" dirty="0"/>
              <a:t> </a:t>
            </a:r>
            <a:r>
              <a:rPr lang="de-CH" sz="1600" dirty="0" err="1"/>
              <a:t>if</a:t>
            </a:r>
            <a:r>
              <a:rPr lang="de-CH" sz="1600" dirty="0"/>
              <a:t> </a:t>
            </a:r>
            <a:r>
              <a:rPr lang="de-CH" sz="1600" dirty="0" err="1"/>
              <a:t>there</a:t>
            </a:r>
            <a:r>
              <a:rPr lang="de-CH" sz="1600" dirty="0"/>
              <a:t> </a:t>
            </a:r>
            <a:r>
              <a:rPr lang="de-CH" sz="1600" dirty="0" err="1"/>
              <a:t>were</a:t>
            </a:r>
            <a:r>
              <a:rPr lang="de-CH" sz="1600" dirty="0"/>
              <a:t> </a:t>
            </a:r>
            <a:r>
              <a:rPr lang="de-CH" sz="1600" dirty="0" err="1"/>
              <a:t>no</a:t>
            </a:r>
            <a:r>
              <a:rPr lang="de-CH" sz="1600" dirty="0"/>
              <a:t> </a:t>
            </a:r>
            <a:r>
              <a:rPr lang="de-CH" sz="1600" dirty="0" err="1"/>
              <a:t>recombination</a:t>
            </a:r>
            <a:r>
              <a:rPr lang="de-CH" sz="1600" dirty="0"/>
              <a:t> </a:t>
            </a:r>
            <a:r>
              <a:rPr lang="de-CH" sz="1600" dirty="0" err="1"/>
              <a:t>events</a:t>
            </a:r>
            <a:r>
              <a:rPr lang="de-CH" sz="1600" dirty="0"/>
              <a:t>, </a:t>
            </a:r>
            <a:r>
              <a:rPr lang="de-CH" sz="1600" dirty="0" err="1"/>
              <a:t>finding</a:t>
            </a:r>
            <a:r>
              <a:rPr lang="de-CH" sz="1600" dirty="0"/>
              <a:t> in 2 bps </a:t>
            </a:r>
            <a:r>
              <a:rPr lang="de-CH" sz="1600" dirty="0" err="1"/>
              <a:t>every</a:t>
            </a:r>
            <a:r>
              <a:rPr lang="de-CH" sz="1600" dirty="0"/>
              <a:t> possible </a:t>
            </a:r>
            <a:r>
              <a:rPr lang="de-CH" sz="1600" dirty="0" err="1"/>
              <a:t>row</a:t>
            </a:r>
            <a:r>
              <a:rPr lang="de-CH" sz="1600" dirty="0"/>
              <a:t> </a:t>
            </a:r>
            <a:r>
              <a:rPr lang="de-CH" sz="1600" dirty="0" err="1"/>
              <a:t>combination</a:t>
            </a:r>
            <a:r>
              <a:rPr lang="de-CH" sz="1600" dirty="0"/>
              <a:t> (00,01,10,11) </a:t>
            </a:r>
            <a:r>
              <a:rPr lang="de-CH" sz="1600" dirty="0" err="1"/>
              <a:t>means</a:t>
            </a:r>
            <a:r>
              <a:rPr lang="de-CH" sz="1600" dirty="0"/>
              <a:t> </a:t>
            </a:r>
            <a:r>
              <a:rPr lang="de-CH" sz="1600" dirty="0" err="1"/>
              <a:t>there</a:t>
            </a:r>
            <a:r>
              <a:rPr lang="de-CH" sz="1600" dirty="0"/>
              <a:t> </a:t>
            </a:r>
            <a:r>
              <a:rPr lang="de-CH" sz="1600" dirty="0" err="1"/>
              <a:t>has</a:t>
            </a:r>
            <a:r>
              <a:rPr lang="de-CH" sz="1600" dirty="0"/>
              <a:t> </a:t>
            </a:r>
            <a:r>
              <a:rPr lang="de-CH" sz="1600" dirty="0" err="1"/>
              <a:t>been</a:t>
            </a:r>
            <a:r>
              <a:rPr lang="de-CH" sz="1600" dirty="0"/>
              <a:t> a </a:t>
            </a:r>
            <a:r>
              <a:rPr lang="de-CH" sz="1600" b="1" dirty="0" err="1"/>
              <a:t>recombination</a:t>
            </a:r>
            <a:r>
              <a:rPr lang="de-CH" sz="1600" b="1" dirty="0"/>
              <a:t> </a:t>
            </a:r>
            <a:r>
              <a:rPr lang="de-CH" sz="1600" b="1" dirty="0" err="1"/>
              <a:t>event</a:t>
            </a:r>
            <a:r>
              <a:rPr lang="de-CH" sz="1600" b="1" dirty="0"/>
              <a:t> </a:t>
            </a:r>
            <a:r>
              <a:rPr lang="de-CH" sz="1600" dirty="0"/>
              <a:t>and a </a:t>
            </a:r>
            <a:r>
              <a:rPr lang="de-CH" sz="1600" b="1" dirty="0" err="1"/>
              <a:t>clash</a:t>
            </a:r>
            <a:r>
              <a:rPr lang="de-CH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1600" b="1" dirty="0"/>
              <a:t>Lots </a:t>
            </a:r>
            <a:r>
              <a:rPr lang="de-CH" sz="1600" dirty="0"/>
              <a:t>of </a:t>
            </a:r>
            <a:r>
              <a:rPr lang="de-CH" sz="1600" dirty="0" err="1"/>
              <a:t>incompatible</a:t>
            </a:r>
            <a:r>
              <a:rPr lang="de-CH" sz="1600" dirty="0"/>
              <a:t> SNPs: </a:t>
            </a:r>
            <a:r>
              <a:rPr lang="de-CH" sz="1600" dirty="0" err="1"/>
              <a:t>recombination</a:t>
            </a:r>
            <a:r>
              <a:rPr lang="de-CH" sz="1600" dirty="0"/>
              <a:t> </a:t>
            </a:r>
            <a:r>
              <a:rPr lang="de-CH" sz="1600" dirty="0" err="1"/>
              <a:t>has</a:t>
            </a:r>
            <a:r>
              <a:rPr lang="de-CH" sz="1600" dirty="0"/>
              <a:t> </a:t>
            </a:r>
            <a:r>
              <a:rPr lang="de-CH" sz="1600" dirty="0" err="1"/>
              <a:t>played</a:t>
            </a:r>
            <a:r>
              <a:rPr lang="de-CH" sz="1600" dirty="0"/>
              <a:t> a </a:t>
            </a:r>
            <a:r>
              <a:rPr lang="de-CH" sz="1600" dirty="0" err="1"/>
              <a:t>significant</a:t>
            </a:r>
            <a:r>
              <a:rPr lang="de-CH" sz="1600" dirty="0"/>
              <a:t> </a:t>
            </a:r>
            <a:r>
              <a:rPr lang="de-CH" sz="1600" dirty="0" err="1"/>
              <a:t>role</a:t>
            </a:r>
            <a:r>
              <a:rPr lang="de-CH" sz="1600" dirty="0"/>
              <a:t> in </a:t>
            </a:r>
            <a:r>
              <a:rPr lang="de-CH" sz="1600" dirty="0" err="1"/>
              <a:t>evolution</a:t>
            </a:r>
            <a:r>
              <a:rPr lang="de-CH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CH" sz="1600" dirty="0"/>
              <a:t>The </a:t>
            </a:r>
            <a:r>
              <a:rPr lang="de-CH" sz="1600" dirty="0" err="1"/>
              <a:t>number</a:t>
            </a:r>
            <a:r>
              <a:rPr lang="de-CH" sz="1600" dirty="0"/>
              <a:t> of </a:t>
            </a:r>
            <a:r>
              <a:rPr lang="de-CH" sz="1600" dirty="0" err="1"/>
              <a:t>clashes</a:t>
            </a:r>
            <a:r>
              <a:rPr lang="de-CH" sz="1600" dirty="0"/>
              <a:t> for </a:t>
            </a:r>
            <a:r>
              <a:rPr lang="de-CH" sz="1600" dirty="0" err="1"/>
              <a:t>each</a:t>
            </a:r>
            <a:r>
              <a:rPr lang="de-CH" sz="1600" dirty="0"/>
              <a:t> 30-SNP </a:t>
            </a:r>
            <a:r>
              <a:rPr lang="de-CH" sz="1600" dirty="0" err="1"/>
              <a:t>intervals</a:t>
            </a:r>
            <a:r>
              <a:rPr lang="de-CH" sz="1600" dirty="0"/>
              <a:t>  </a:t>
            </a:r>
            <a:r>
              <a:rPr lang="de-CH" sz="1600" dirty="0" err="1"/>
              <a:t>strongly</a:t>
            </a:r>
            <a:r>
              <a:rPr lang="de-CH" sz="1600" dirty="0"/>
              <a:t> </a:t>
            </a:r>
            <a:r>
              <a:rPr lang="de-CH" sz="1600" dirty="0" err="1"/>
              <a:t>resembles</a:t>
            </a:r>
            <a:r>
              <a:rPr lang="de-CH" sz="1600" dirty="0"/>
              <a:t> a </a:t>
            </a:r>
            <a:r>
              <a:rPr lang="de-CH" sz="1600" b="1" dirty="0"/>
              <a:t>Poisson </a:t>
            </a:r>
            <a:r>
              <a:rPr lang="de-CH" sz="1600" b="1" dirty="0" err="1"/>
              <a:t>curve</a:t>
            </a:r>
            <a:r>
              <a:rPr lang="de-CH" sz="1600" b="1" dirty="0"/>
              <a:t>. </a:t>
            </a:r>
            <a:r>
              <a:rPr lang="de-CH" sz="1600" dirty="0" err="1"/>
              <a:t>Surprising</a:t>
            </a:r>
            <a:r>
              <a:rPr lang="de-CH" sz="1600" dirty="0"/>
              <a:t> </a:t>
            </a:r>
            <a:r>
              <a:rPr lang="de-CH" sz="1600" dirty="0" err="1"/>
              <a:t>how</a:t>
            </a:r>
            <a:r>
              <a:rPr lang="de-CH" sz="1600" dirty="0"/>
              <a:t> </a:t>
            </a:r>
            <a:r>
              <a:rPr lang="de-CH" sz="1600" dirty="0" err="1"/>
              <a:t>well</a:t>
            </a:r>
            <a:r>
              <a:rPr lang="de-CH" sz="1600" dirty="0"/>
              <a:t> </a:t>
            </a:r>
            <a:r>
              <a:rPr lang="de-CH" sz="1600" dirty="0" err="1"/>
              <a:t>it’s</a:t>
            </a:r>
            <a:r>
              <a:rPr lang="de-CH" sz="1600" dirty="0"/>
              <a:t> </a:t>
            </a:r>
            <a:r>
              <a:rPr lang="de-CH" sz="1600" dirty="0" err="1"/>
              <a:t>fitting</a:t>
            </a:r>
            <a:r>
              <a:rPr lang="de-CH" sz="1600" dirty="0"/>
              <a:t> a </a:t>
            </a:r>
            <a:r>
              <a:rPr lang="de-CH" sz="1600" dirty="0" err="1"/>
              <a:t>binomial</a:t>
            </a:r>
            <a:r>
              <a:rPr lang="de-CH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CH" sz="1600" b="1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C764C28-0145-45BC-CCA4-F84D282A8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de-CH"/>
              <a:t>Universität Basel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17D1AC-B986-F89B-8836-9C92C7FE2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11826-9277-4232-A2B5-17D05DFC7392}" type="slidenum">
              <a:rPr lang="de-CH" smtClean="0"/>
              <a:pPr/>
              <a:t>16</a:t>
            </a:fld>
            <a:endParaRPr lang="de-CH" dirty="0"/>
          </a:p>
        </p:txBody>
      </p:sp>
      <p:cxnSp>
        <p:nvCxnSpPr>
          <p:cNvPr id="8" name="Gerade Verbindung 7">
            <a:extLst>
              <a:ext uri="{FF2B5EF4-FFF2-40B4-BE49-F238E27FC236}">
                <a16:creationId xmlns:a16="http://schemas.microsoft.com/office/drawing/2014/main" id="{BA2D3636-17BE-B8FB-E8E1-A8C0C6B91C5C}"/>
              </a:ext>
            </a:extLst>
          </p:cNvPr>
          <p:cNvCxnSpPr/>
          <p:nvPr/>
        </p:nvCxnSpPr>
        <p:spPr>
          <a:xfrm>
            <a:off x="334800" y="1520825"/>
            <a:ext cx="11521840" cy="0"/>
          </a:xfrm>
          <a:prstGeom prst="line">
            <a:avLst/>
          </a:prstGeom>
          <a:ln w="254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magine 8">
            <a:extLst>
              <a:ext uri="{FF2B5EF4-FFF2-40B4-BE49-F238E27FC236}">
                <a16:creationId xmlns:a16="http://schemas.microsoft.com/office/drawing/2014/main" id="{4BC7A8A1-557F-85E4-80F8-8B83BA5B7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704" y="1613464"/>
            <a:ext cx="3930334" cy="2992946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6B9FD9A6-624C-49AE-E794-3C8B9AB30F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8202" y="3191718"/>
            <a:ext cx="4128805" cy="3261469"/>
          </a:xfrm>
          <a:prstGeom prst="rect">
            <a:avLst/>
          </a:prstGeom>
        </p:spPr>
      </p:pic>
      <p:sp>
        <p:nvSpPr>
          <p:cNvPr id="7" name="Datumsplatzhalter 3">
            <a:extLst>
              <a:ext uri="{FF2B5EF4-FFF2-40B4-BE49-F238E27FC236}">
                <a16:creationId xmlns:a16="http://schemas.microsoft.com/office/drawing/2014/main" id="{817867A4-1684-09DC-19CF-868E61BDF3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800" y="6524626"/>
            <a:ext cx="2878667" cy="180000"/>
          </a:xfrm>
        </p:spPr>
        <p:txBody>
          <a:bodyPr/>
          <a:lstStyle/>
          <a:p>
            <a:r>
              <a:rPr lang="de-CH" dirty="0"/>
              <a:t>Tommaso Cappelli, 24.08.2026</a:t>
            </a:r>
          </a:p>
        </p:txBody>
      </p:sp>
    </p:spTree>
    <p:extLst>
      <p:ext uri="{BB962C8B-B14F-4D97-AF65-F5344CB8AC3E}">
        <p14:creationId xmlns:p14="http://schemas.microsoft.com/office/powerpoint/2010/main" val="1327532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3. </a:t>
            </a:r>
            <a:r>
              <a:rPr lang="de-CH" dirty="0" err="1"/>
              <a:t>Studying</a:t>
            </a:r>
            <a:r>
              <a:rPr lang="de-CH" dirty="0"/>
              <a:t> the </a:t>
            </a:r>
            <a:r>
              <a:rPr lang="de-CH" dirty="0" err="1"/>
              <a:t>efficiency</a:t>
            </a:r>
            <a:r>
              <a:rPr lang="de-CH" dirty="0"/>
              <a:t> of an experimental </a:t>
            </a:r>
            <a:r>
              <a:rPr lang="de-CH" dirty="0" err="1"/>
              <a:t>algorithm</a:t>
            </a:r>
            <a:r>
              <a:rPr lang="de-CH" dirty="0"/>
              <a:t> to track the </a:t>
            </a:r>
            <a:r>
              <a:rPr lang="de-CH" dirty="0" err="1"/>
              <a:t>frequencies</a:t>
            </a:r>
            <a:r>
              <a:rPr lang="de-CH" dirty="0"/>
              <a:t> and </a:t>
            </a:r>
            <a:r>
              <a:rPr lang="de-CH" dirty="0" err="1"/>
              <a:t>assign</a:t>
            </a:r>
            <a:r>
              <a:rPr lang="de-CH" dirty="0"/>
              <a:t> </a:t>
            </a:r>
            <a:r>
              <a:rPr lang="de-CH" dirty="0" err="1"/>
              <a:t>detected</a:t>
            </a:r>
            <a:r>
              <a:rPr lang="de-CH" dirty="0"/>
              <a:t> </a:t>
            </a:r>
            <a:r>
              <a:rPr lang="de-CH" dirty="0" err="1"/>
              <a:t>reads</a:t>
            </a:r>
            <a:r>
              <a:rPr lang="de-CH" dirty="0"/>
              <a:t> to multiple </a:t>
            </a:r>
            <a:r>
              <a:rPr lang="de-CH" dirty="0" err="1"/>
              <a:t>strains</a:t>
            </a:r>
            <a:endParaRPr lang="de-CH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34963" y="1664804"/>
            <a:ext cx="5689600" cy="3132347"/>
          </a:xfrm>
        </p:spPr>
        <p:txBody>
          <a:bodyPr/>
          <a:lstStyle/>
          <a:p>
            <a:r>
              <a:rPr lang="de-CH" dirty="0" err="1"/>
              <a:t>One</a:t>
            </a:r>
            <a:r>
              <a:rPr lang="de-CH" dirty="0"/>
              <a:t> of the </a:t>
            </a:r>
            <a:r>
              <a:rPr lang="de-CH" dirty="0" err="1"/>
              <a:t>most</a:t>
            </a:r>
            <a:r>
              <a:rPr lang="de-CH" dirty="0"/>
              <a:t> important </a:t>
            </a:r>
            <a:r>
              <a:rPr lang="de-CH" dirty="0" err="1"/>
              <a:t>topics</a:t>
            </a:r>
            <a:r>
              <a:rPr lang="de-CH" dirty="0"/>
              <a:t> of the lab </a:t>
            </a:r>
            <a:r>
              <a:rPr lang="de-CH" dirty="0" err="1"/>
              <a:t>is</a:t>
            </a:r>
            <a:r>
              <a:rPr lang="de-CH" dirty="0"/>
              <a:t> to </a:t>
            </a:r>
            <a:r>
              <a:rPr lang="de-CH" dirty="0" err="1"/>
              <a:t>study</a:t>
            </a:r>
            <a:r>
              <a:rPr lang="de-CH" dirty="0"/>
              <a:t> the </a:t>
            </a:r>
            <a:r>
              <a:rPr lang="de-CH" dirty="0" err="1"/>
              <a:t>effect</a:t>
            </a:r>
            <a:r>
              <a:rPr lang="de-CH" dirty="0"/>
              <a:t> of </a:t>
            </a:r>
            <a:r>
              <a:rPr lang="de-CH" dirty="0" err="1"/>
              <a:t>media</a:t>
            </a:r>
            <a:r>
              <a:rPr lang="de-CH" dirty="0"/>
              <a:t> and </a:t>
            </a:r>
            <a:r>
              <a:rPr lang="de-CH" dirty="0" err="1"/>
              <a:t>genomic</a:t>
            </a:r>
            <a:r>
              <a:rPr lang="de-CH" dirty="0"/>
              <a:t> </a:t>
            </a:r>
            <a:r>
              <a:rPr lang="de-CH" dirty="0" err="1"/>
              <a:t>evolution</a:t>
            </a:r>
            <a:r>
              <a:rPr lang="de-CH" dirty="0"/>
              <a:t> in the </a:t>
            </a:r>
            <a:r>
              <a:rPr lang="de-CH" dirty="0" err="1"/>
              <a:t>competition</a:t>
            </a:r>
            <a:r>
              <a:rPr lang="de-CH" dirty="0"/>
              <a:t> of multiple </a:t>
            </a:r>
            <a:r>
              <a:rPr lang="de-CH" i="1" dirty="0" err="1"/>
              <a:t>E.Coli</a:t>
            </a:r>
            <a:r>
              <a:rPr lang="de-CH" i="1" dirty="0"/>
              <a:t> </a:t>
            </a:r>
            <a:r>
              <a:rPr lang="de-CH" dirty="0" err="1"/>
              <a:t>strains</a:t>
            </a:r>
            <a:r>
              <a:rPr lang="de-CH" dirty="0"/>
              <a:t> in the same sample. To do so, it </a:t>
            </a:r>
            <a:r>
              <a:rPr lang="de-CH" dirty="0" err="1"/>
              <a:t>is</a:t>
            </a:r>
            <a:r>
              <a:rPr lang="de-CH" dirty="0"/>
              <a:t> </a:t>
            </a:r>
            <a:r>
              <a:rPr lang="de-CH" dirty="0" err="1"/>
              <a:t>necessary</a:t>
            </a:r>
            <a:r>
              <a:rPr lang="de-CH" dirty="0"/>
              <a:t> to </a:t>
            </a:r>
            <a:r>
              <a:rPr lang="de-CH" dirty="0" err="1"/>
              <a:t>map</a:t>
            </a:r>
            <a:r>
              <a:rPr lang="de-CH" dirty="0"/>
              <a:t> the </a:t>
            </a:r>
            <a:r>
              <a:rPr lang="de-CH" dirty="0" err="1"/>
              <a:t>reads</a:t>
            </a:r>
            <a:r>
              <a:rPr lang="de-CH" dirty="0"/>
              <a:t> </a:t>
            </a:r>
            <a:r>
              <a:rPr lang="de-CH" dirty="0" err="1"/>
              <a:t>from</a:t>
            </a:r>
            <a:r>
              <a:rPr lang="de-CH" dirty="0"/>
              <a:t> </a:t>
            </a:r>
            <a:r>
              <a:rPr lang="de-CH" dirty="0" err="1"/>
              <a:t>each</a:t>
            </a:r>
            <a:r>
              <a:rPr lang="de-CH" dirty="0"/>
              <a:t> sample </a:t>
            </a:r>
            <a:r>
              <a:rPr lang="de-CH" dirty="0" err="1"/>
              <a:t>correctly</a:t>
            </a:r>
            <a:r>
              <a:rPr lang="de-CH" dirty="0"/>
              <a:t> to the </a:t>
            </a:r>
            <a:r>
              <a:rPr lang="de-CH" dirty="0" err="1"/>
              <a:t>right</a:t>
            </a:r>
            <a:r>
              <a:rPr lang="de-CH" dirty="0"/>
              <a:t> </a:t>
            </a:r>
            <a:r>
              <a:rPr lang="de-CH" dirty="0" err="1"/>
              <a:t>strain</a:t>
            </a:r>
            <a:r>
              <a:rPr lang="de-CH" dirty="0"/>
              <a:t>, and </a:t>
            </a:r>
            <a:r>
              <a:rPr lang="de-CH" dirty="0" err="1"/>
              <a:t>then</a:t>
            </a:r>
            <a:r>
              <a:rPr lang="de-CH" dirty="0"/>
              <a:t> </a:t>
            </a:r>
            <a:r>
              <a:rPr lang="de-CH" dirty="0" err="1"/>
              <a:t>estimate</a:t>
            </a:r>
            <a:r>
              <a:rPr lang="de-CH" dirty="0"/>
              <a:t> the </a:t>
            </a:r>
            <a:r>
              <a:rPr lang="de-CH" dirty="0" err="1"/>
              <a:t>frequencies</a:t>
            </a:r>
            <a:r>
              <a:rPr lang="de-CH" dirty="0"/>
              <a:t>.</a:t>
            </a:r>
          </a:p>
          <a:p>
            <a:endParaRPr lang="de-CH" dirty="0"/>
          </a:p>
          <a:p>
            <a:r>
              <a:rPr lang="de-CH" dirty="0"/>
              <a:t>In </a:t>
            </a:r>
            <a:r>
              <a:rPr lang="de-CH" dirty="0" err="1"/>
              <a:t>chloromphenical</a:t>
            </a:r>
            <a:r>
              <a:rPr lang="de-CH" dirty="0"/>
              <a:t>, the </a:t>
            </a:r>
            <a:r>
              <a:rPr lang="de-CH" dirty="0" err="1"/>
              <a:t>main</a:t>
            </a:r>
            <a:r>
              <a:rPr lang="de-CH" dirty="0"/>
              <a:t> </a:t>
            </a:r>
            <a:r>
              <a:rPr lang="de-CH" dirty="0" err="1"/>
              <a:t>growth</a:t>
            </a:r>
            <a:r>
              <a:rPr lang="de-CH" dirty="0"/>
              <a:t> </a:t>
            </a:r>
            <a:r>
              <a:rPr lang="de-CH" dirty="0" err="1"/>
              <a:t>media</a:t>
            </a:r>
            <a:r>
              <a:rPr lang="de-CH" dirty="0"/>
              <a:t> </a:t>
            </a:r>
            <a:r>
              <a:rPr lang="de-CH" dirty="0" err="1"/>
              <a:t>used</a:t>
            </a:r>
            <a:r>
              <a:rPr lang="de-CH" dirty="0"/>
              <a:t> to </a:t>
            </a:r>
            <a:r>
              <a:rPr lang="de-CH" dirty="0" err="1"/>
              <a:t>provide</a:t>
            </a:r>
            <a:r>
              <a:rPr lang="de-CH" dirty="0"/>
              <a:t> stress </a:t>
            </a:r>
            <a:r>
              <a:rPr lang="de-CH" dirty="0" err="1"/>
              <a:t>condition</a:t>
            </a:r>
            <a:r>
              <a:rPr lang="de-CH" dirty="0"/>
              <a:t>, </a:t>
            </a:r>
            <a:r>
              <a:rPr lang="de-CH" dirty="0" err="1"/>
              <a:t>we</a:t>
            </a:r>
            <a:r>
              <a:rPr lang="de-CH" dirty="0"/>
              <a:t> </a:t>
            </a:r>
            <a:r>
              <a:rPr lang="de-CH" dirty="0" err="1"/>
              <a:t>could</a:t>
            </a:r>
            <a:r>
              <a:rPr lang="de-CH" dirty="0"/>
              <a:t> </a:t>
            </a:r>
            <a:r>
              <a:rPr lang="de-CH" dirty="0" err="1"/>
              <a:t>notice</a:t>
            </a:r>
            <a:r>
              <a:rPr lang="de-CH" dirty="0"/>
              <a:t> multiple viral </a:t>
            </a:r>
            <a:r>
              <a:rPr lang="de-CH" dirty="0" err="1"/>
              <a:t>activation</a:t>
            </a:r>
            <a:r>
              <a:rPr lang="de-CH" dirty="0"/>
              <a:t> </a:t>
            </a:r>
            <a:r>
              <a:rPr lang="de-CH" dirty="0" err="1"/>
              <a:t>through</a:t>
            </a:r>
            <a:r>
              <a:rPr lang="de-CH" dirty="0"/>
              <a:t> </a:t>
            </a:r>
            <a:r>
              <a:rPr lang="de-CH" dirty="0" err="1"/>
              <a:t>plots</a:t>
            </a:r>
            <a:r>
              <a:rPr lang="de-CH" dirty="0"/>
              <a:t> </a:t>
            </a:r>
            <a:r>
              <a:rPr lang="de-CH" dirty="0" err="1"/>
              <a:t>regarding</a:t>
            </a:r>
            <a:r>
              <a:rPr lang="de-CH" dirty="0"/>
              <a:t> the </a:t>
            </a:r>
            <a:r>
              <a:rPr lang="de-CH" dirty="0" err="1"/>
              <a:t>coverages</a:t>
            </a:r>
            <a:r>
              <a:rPr lang="de-CH" dirty="0"/>
              <a:t>.</a:t>
            </a:r>
          </a:p>
          <a:p>
            <a:endParaRPr lang="de-CH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de-CH"/>
              <a:t>Universität Basel</a:t>
            </a:r>
            <a:endParaRPr lang="de-CH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11826-9277-4232-A2B5-17D05DFC7392}" type="slidenum">
              <a:rPr lang="de-CH" smtClean="0"/>
              <a:pPr/>
              <a:t>17</a:t>
            </a:fld>
            <a:endParaRPr lang="de-CH" dirty="0"/>
          </a:p>
        </p:txBody>
      </p:sp>
      <p:cxnSp>
        <p:nvCxnSpPr>
          <p:cNvPr id="8" name="Gerade Verbindung 7"/>
          <p:cNvCxnSpPr/>
          <p:nvPr/>
        </p:nvCxnSpPr>
        <p:spPr>
          <a:xfrm>
            <a:off x="334800" y="1520825"/>
            <a:ext cx="11521840" cy="0"/>
          </a:xfrm>
          <a:prstGeom prst="line">
            <a:avLst/>
          </a:prstGeom>
          <a:ln w="254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magine 9">
            <a:extLst>
              <a:ext uri="{FF2B5EF4-FFF2-40B4-BE49-F238E27FC236}">
                <a16:creationId xmlns:a16="http://schemas.microsoft.com/office/drawing/2014/main" id="{EE78B877-6120-78D6-E17A-6C5EB2723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2104" y="1602910"/>
            <a:ext cx="4308208" cy="2503522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C4EE96AD-A982-EEE3-4B00-F27E3D635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5571" y="4106432"/>
            <a:ext cx="4659394" cy="2244848"/>
          </a:xfrm>
          <a:prstGeom prst="rect">
            <a:avLst/>
          </a:prstGeom>
        </p:spPr>
      </p:pic>
      <p:sp>
        <p:nvSpPr>
          <p:cNvPr id="15" name="Datumsplatzhalter 3">
            <a:extLst>
              <a:ext uri="{FF2B5EF4-FFF2-40B4-BE49-F238E27FC236}">
                <a16:creationId xmlns:a16="http://schemas.microsoft.com/office/drawing/2014/main" id="{17F1B2C9-9865-3A63-5995-4D326ED614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800" y="6524626"/>
            <a:ext cx="2878667" cy="180000"/>
          </a:xfrm>
        </p:spPr>
        <p:txBody>
          <a:bodyPr/>
          <a:lstStyle/>
          <a:p>
            <a:r>
              <a:rPr lang="de-CH" dirty="0"/>
              <a:t>Tommaso Cappelli, 24.08.2026</a:t>
            </a:r>
          </a:p>
        </p:txBody>
      </p:sp>
    </p:spTree>
    <p:extLst>
      <p:ext uri="{BB962C8B-B14F-4D97-AF65-F5344CB8AC3E}">
        <p14:creationId xmlns:p14="http://schemas.microsoft.com/office/powerpoint/2010/main" val="34908328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E3F80-22CE-DBE1-E3B1-AC54E047A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7993C-8FDF-7A50-71CF-788D25CB8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3. </a:t>
            </a:r>
            <a:r>
              <a:rPr lang="de-CH" dirty="0" err="1"/>
              <a:t>Studying</a:t>
            </a:r>
            <a:r>
              <a:rPr lang="de-CH" dirty="0"/>
              <a:t> the </a:t>
            </a:r>
            <a:r>
              <a:rPr lang="de-CH" dirty="0" err="1"/>
              <a:t>efficiency</a:t>
            </a:r>
            <a:r>
              <a:rPr lang="de-CH" dirty="0"/>
              <a:t> of an experimental </a:t>
            </a:r>
            <a:r>
              <a:rPr lang="de-CH" dirty="0" err="1"/>
              <a:t>algorithm</a:t>
            </a:r>
            <a:r>
              <a:rPr lang="de-CH" dirty="0"/>
              <a:t> to track the </a:t>
            </a:r>
            <a:r>
              <a:rPr lang="de-CH" dirty="0" err="1"/>
              <a:t>frequencies</a:t>
            </a:r>
            <a:r>
              <a:rPr lang="de-CH" dirty="0"/>
              <a:t> and </a:t>
            </a:r>
            <a:r>
              <a:rPr lang="de-CH" dirty="0" err="1"/>
              <a:t>assign</a:t>
            </a:r>
            <a:r>
              <a:rPr lang="de-CH" dirty="0"/>
              <a:t> </a:t>
            </a:r>
            <a:r>
              <a:rPr lang="de-CH" dirty="0" err="1"/>
              <a:t>detected</a:t>
            </a:r>
            <a:r>
              <a:rPr lang="de-CH" dirty="0"/>
              <a:t> </a:t>
            </a:r>
            <a:r>
              <a:rPr lang="de-CH" dirty="0" err="1"/>
              <a:t>reads</a:t>
            </a:r>
            <a:r>
              <a:rPr lang="de-CH" dirty="0"/>
              <a:t> to multiple </a:t>
            </a:r>
            <a:r>
              <a:rPr lang="de-CH" dirty="0" err="1"/>
              <a:t>strains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4E87413-94B1-F2AF-10AA-249A7A85E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963" y="1664804"/>
            <a:ext cx="5689600" cy="4572484"/>
          </a:xfrm>
        </p:spPr>
        <p:txBody>
          <a:bodyPr/>
          <a:lstStyle/>
          <a:p>
            <a:endParaRPr lang="de-CH" dirty="0"/>
          </a:p>
          <a:p>
            <a:r>
              <a:rPr lang="de-CH" dirty="0" err="1"/>
              <a:t>Trying</a:t>
            </a:r>
            <a:r>
              <a:rPr lang="de-CH" dirty="0"/>
              <a:t> to </a:t>
            </a:r>
            <a:r>
              <a:rPr lang="de-CH" dirty="0" err="1"/>
              <a:t>run</a:t>
            </a:r>
            <a:r>
              <a:rPr lang="de-CH" dirty="0"/>
              <a:t> </a:t>
            </a:r>
            <a:r>
              <a:rPr lang="de-CH" i="1" dirty="0" err="1"/>
              <a:t>breseq</a:t>
            </a:r>
            <a:r>
              <a:rPr lang="de-CH" i="1" dirty="0"/>
              <a:t>, </a:t>
            </a:r>
            <a:r>
              <a:rPr lang="de-CH" dirty="0"/>
              <a:t>the same </a:t>
            </a:r>
            <a:r>
              <a:rPr lang="de-CH" dirty="0" err="1"/>
              <a:t>algorithm</a:t>
            </a:r>
            <a:r>
              <a:rPr lang="de-CH" dirty="0"/>
              <a:t> </a:t>
            </a:r>
            <a:r>
              <a:rPr lang="de-CH" dirty="0" err="1"/>
              <a:t>used</a:t>
            </a:r>
            <a:r>
              <a:rPr lang="de-CH" dirty="0"/>
              <a:t> for </a:t>
            </a:r>
            <a:r>
              <a:rPr lang="de-CH" dirty="0" err="1"/>
              <a:t>single</a:t>
            </a:r>
            <a:r>
              <a:rPr lang="de-CH" dirty="0"/>
              <a:t> </a:t>
            </a:r>
            <a:r>
              <a:rPr lang="de-CH" dirty="0" err="1"/>
              <a:t>strain</a:t>
            </a:r>
            <a:r>
              <a:rPr lang="de-CH" dirty="0"/>
              <a:t> sample, </a:t>
            </a:r>
            <a:r>
              <a:rPr lang="de-CH" dirty="0" err="1"/>
              <a:t>with</a:t>
            </a:r>
            <a:r>
              <a:rPr lang="de-CH" dirty="0"/>
              <a:t> </a:t>
            </a:r>
            <a:r>
              <a:rPr lang="de-CH" dirty="0" err="1"/>
              <a:t>its</a:t>
            </a:r>
            <a:r>
              <a:rPr lang="de-CH" dirty="0"/>
              <a:t> </a:t>
            </a:r>
            <a:r>
              <a:rPr lang="de-CH" dirty="0" err="1"/>
              <a:t>standard</a:t>
            </a:r>
            <a:r>
              <a:rPr lang="de-CH" dirty="0"/>
              <a:t> </a:t>
            </a:r>
            <a:r>
              <a:rPr lang="de-CH" dirty="0" err="1"/>
              <a:t>filters</a:t>
            </a:r>
            <a:r>
              <a:rPr lang="de-CH" dirty="0"/>
              <a:t> </a:t>
            </a:r>
            <a:r>
              <a:rPr lang="de-CH" dirty="0" err="1"/>
              <a:t>showcased</a:t>
            </a:r>
            <a:r>
              <a:rPr lang="de-CH" dirty="0"/>
              <a:t> </a:t>
            </a:r>
            <a:r>
              <a:rPr lang="de-CH" dirty="0" err="1"/>
              <a:t>new</a:t>
            </a:r>
            <a:r>
              <a:rPr lang="de-CH" dirty="0"/>
              <a:t> </a:t>
            </a:r>
            <a:r>
              <a:rPr lang="de-CH" dirty="0" err="1"/>
              <a:t>issues</a:t>
            </a:r>
            <a:r>
              <a:rPr lang="de-CH" dirty="0"/>
              <a:t> in </a:t>
            </a:r>
            <a:r>
              <a:rPr lang="de-CH" dirty="0" err="1"/>
              <a:t>localized</a:t>
            </a:r>
            <a:r>
              <a:rPr lang="de-CH" dirty="0"/>
              <a:t> </a:t>
            </a:r>
            <a:r>
              <a:rPr lang="de-CH" dirty="0" err="1"/>
              <a:t>sections</a:t>
            </a:r>
            <a:r>
              <a:rPr lang="de-CH" dirty="0"/>
              <a:t> of low </a:t>
            </a:r>
            <a:r>
              <a:rPr lang="de-CH" dirty="0" err="1"/>
              <a:t>frequency</a:t>
            </a:r>
            <a:r>
              <a:rPr lang="de-CH" dirty="0"/>
              <a:t> </a:t>
            </a:r>
            <a:r>
              <a:rPr lang="de-CH" dirty="0" err="1"/>
              <a:t>strains</a:t>
            </a:r>
            <a:r>
              <a:rPr lang="de-CH" dirty="0"/>
              <a:t>.</a:t>
            </a:r>
          </a:p>
          <a:p>
            <a:endParaRPr lang="de-CH" dirty="0"/>
          </a:p>
          <a:p>
            <a:r>
              <a:rPr lang="de-CH" dirty="0"/>
              <a:t>The </a:t>
            </a:r>
            <a:r>
              <a:rPr lang="de-CH" dirty="0" err="1"/>
              <a:t>outstanding</a:t>
            </a:r>
            <a:r>
              <a:rPr lang="de-CH" dirty="0"/>
              <a:t> </a:t>
            </a:r>
            <a:r>
              <a:rPr lang="de-CH" dirty="0" err="1"/>
              <a:t>number</a:t>
            </a:r>
            <a:r>
              <a:rPr lang="de-CH" dirty="0"/>
              <a:t> of </a:t>
            </a:r>
            <a:r>
              <a:rPr lang="de-CH" dirty="0" err="1"/>
              <a:t>variations</a:t>
            </a:r>
            <a:r>
              <a:rPr lang="de-CH" dirty="0"/>
              <a:t> in so </a:t>
            </a:r>
            <a:r>
              <a:rPr lang="de-CH" dirty="0" err="1"/>
              <a:t>few</a:t>
            </a:r>
            <a:r>
              <a:rPr lang="de-CH" dirty="0"/>
              <a:t> </a:t>
            </a:r>
            <a:r>
              <a:rPr lang="de-CH" dirty="0" err="1"/>
              <a:t>regions</a:t>
            </a:r>
            <a:r>
              <a:rPr lang="de-CH" dirty="0"/>
              <a:t>, </a:t>
            </a:r>
            <a:r>
              <a:rPr lang="de-CH" dirty="0" err="1"/>
              <a:t>along</a:t>
            </a:r>
            <a:r>
              <a:rPr lang="de-CH" dirty="0"/>
              <a:t> </a:t>
            </a:r>
            <a:r>
              <a:rPr lang="de-CH" dirty="0" err="1"/>
              <a:t>with</a:t>
            </a:r>
            <a:r>
              <a:rPr lang="de-CH" dirty="0"/>
              <a:t> </a:t>
            </a:r>
            <a:r>
              <a:rPr lang="de-CH" dirty="0" err="1"/>
              <a:t>other</a:t>
            </a:r>
            <a:r>
              <a:rPr lang="de-CH" dirty="0"/>
              <a:t> </a:t>
            </a:r>
            <a:r>
              <a:rPr lang="de-CH" dirty="0" err="1"/>
              <a:t>statistics</a:t>
            </a:r>
            <a:r>
              <a:rPr lang="de-CH" dirty="0"/>
              <a:t> </a:t>
            </a:r>
            <a:r>
              <a:rPr lang="de-CH" dirty="0" err="1"/>
              <a:t>from</a:t>
            </a:r>
            <a:r>
              <a:rPr lang="de-CH" dirty="0"/>
              <a:t> the </a:t>
            </a:r>
            <a:r>
              <a:rPr lang="de-CH" dirty="0" err="1"/>
              <a:t>PhDs</a:t>
            </a:r>
            <a:r>
              <a:rPr lang="de-CH" dirty="0"/>
              <a:t> </a:t>
            </a:r>
            <a:r>
              <a:rPr lang="de-CH" dirty="0" err="1"/>
              <a:t>working</a:t>
            </a:r>
            <a:r>
              <a:rPr lang="de-CH" dirty="0"/>
              <a:t> at </a:t>
            </a:r>
            <a:r>
              <a:rPr lang="de-CH" dirty="0" err="1"/>
              <a:t>these</a:t>
            </a:r>
            <a:r>
              <a:rPr lang="de-CH" dirty="0"/>
              <a:t> </a:t>
            </a:r>
            <a:r>
              <a:rPr lang="de-CH" dirty="0" err="1"/>
              <a:t>project</a:t>
            </a:r>
            <a:r>
              <a:rPr lang="de-CH" dirty="0"/>
              <a:t>, </a:t>
            </a:r>
            <a:r>
              <a:rPr lang="de-CH" dirty="0" err="1"/>
              <a:t>confirmed</a:t>
            </a:r>
            <a:r>
              <a:rPr lang="de-CH" dirty="0"/>
              <a:t> the </a:t>
            </a:r>
            <a:r>
              <a:rPr lang="de-CH" dirty="0" err="1"/>
              <a:t>possibility</a:t>
            </a:r>
            <a:r>
              <a:rPr lang="de-CH" dirty="0"/>
              <a:t> of </a:t>
            </a:r>
            <a:r>
              <a:rPr lang="de-CH" dirty="0" err="1"/>
              <a:t>misalignment</a:t>
            </a:r>
            <a:r>
              <a:rPr lang="de-CH" dirty="0"/>
              <a:t>.</a:t>
            </a:r>
          </a:p>
          <a:p>
            <a:endParaRPr lang="de-CH" dirty="0"/>
          </a:p>
          <a:p>
            <a:r>
              <a:rPr lang="de-CH" dirty="0"/>
              <a:t>This </a:t>
            </a:r>
            <a:r>
              <a:rPr lang="de-CH" dirty="0" err="1"/>
              <a:t>assumption</a:t>
            </a:r>
            <a:r>
              <a:rPr lang="de-CH" dirty="0"/>
              <a:t> was </a:t>
            </a:r>
            <a:r>
              <a:rPr lang="de-CH" dirty="0" err="1"/>
              <a:t>then</a:t>
            </a:r>
            <a:r>
              <a:rPr lang="de-CH" dirty="0"/>
              <a:t> </a:t>
            </a:r>
            <a:r>
              <a:rPr lang="de-CH" dirty="0" err="1"/>
              <a:t>corroborated</a:t>
            </a:r>
            <a:r>
              <a:rPr lang="de-CH" dirty="0"/>
              <a:t> by </a:t>
            </a:r>
            <a:r>
              <a:rPr lang="de-CH" dirty="0" err="1"/>
              <a:t>scatterplots</a:t>
            </a:r>
            <a:r>
              <a:rPr lang="de-CH" dirty="0"/>
              <a:t> </a:t>
            </a:r>
            <a:r>
              <a:rPr lang="de-CH" dirty="0" err="1"/>
              <a:t>entropy</a:t>
            </a:r>
            <a:r>
              <a:rPr lang="de-CH" dirty="0"/>
              <a:t>-# </a:t>
            </a:r>
            <a:r>
              <a:rPr lang="de-CH" dirty="0" err="1"/>
              <a:t>mutations</a:t>
            </a:r>
            <a:r>
              <a:rPr lang="de-CH" dirty="0"/>
              <a:t> per </a:t>
            </a:r>
            <a:r>
              <a:rPr lang="de-CH" dirty="0" err="1"/>
              <a:t>each</a:t>
            </a:r>
            <a:r>
              <a:rPr lang="de-CH" dirty="0"/>
              <a:t> sample </a:t>
            </a:r>
            <a:r>
              <a:rPr lang="de-CH" dirty="0" err="1"/>
              <a:t>that</a:t>
            </a:r>
            <a:r>
              <a:rPr lang="de-CH" dirty="0"/>
              <a:t> </a:t>
            </a:r>
            <a:r>
              <a:rPr lang="de-CH" dirty="0" err="1"/>
              <a:t>had</a:t>
            </a:r>
            <a:r>
              <a:rPr lang="de-CH" dirty="0"/>
              <a:t> a </a:t>
            </a:r>
            <a:r>
              <a:rPr lang="de-CH" dirty="0" err="1"/>
              <a:t>strain</a:t>
            </a:r>
            <a:r>
              <a:rPr lang="de-CH" dirty="0"/>
              <a:t>. For C5, the dominant </a:t>
            </a:r>
            <a:r>
              <a:rPr lang="de-CH" dirty="0" err="1"/>
              <a:t>strain</a:t>
            </a:r>
            <a:r>
              <a:rPr lang="de-CH" dirty="0"/>
              <a:t> of CHL, </a:t>
            </a:r>
            <a:r>
              <a:rPr lang="de-CH" dirty="0" err="1"/>
              <a:t>we</a:t>
            </a:r>
            <a:r>
              <a:rPr lang="de-CH" dirty="0"/>
              <a:t> </a:t>
            </a:r>
            <a:r>
              <a:rPr lang="de-CH" dirty="0" err="1"/>
              <a:t>can</a:t>
            </a:r>
            <a:r>
              <a:rPr lang="de-CH" dirty="0"/>
              <a:t> </a:t>
            </a:r>
            <a:r>
              <a:rPr lang="de-CH" dirty="0" err="1"/>
              <a:t>notice</a:t>
            </a:r>
            <a:r>
              <a:rPr lang="de-CH" dirty="0"/>
              <a:t> </a:t>
            </a:r>
            <a:r>
              <a:rPr lang="de-CH" dirty="0" err="1"/>
              <a:t>some</a:t>
            </a:r>
            <a:r>
              <a:rPr lang="de-CH" dirty="0"/>
              <a:t> </a:t>
            </a:r>
            <a:r>
              <a:rPr lang="de-CH" dirty="0" err="1"/>
              <a:t>samples</a:t>
            </a:r>
            <a:r>
              <a:rPr lang="de-CH" dirty="0"/>
              <a:t> </a:t>
            </a:r>
            <a:r>
              <a:rPr lang="de-CH" dirty="0" err="1"/>
              <a:t>with</a:t>
            </a:r>
            <a:r>
              <a:rPr lang="de-CH" dirty="0"/>
              <a:t> a </a:t>
            </a:r>
            <a:r>
              <a:rPr lang="de-CH" dirty="0" err="1"/>
              <a:t>more</a:t>
            </a:r>
            <a:r>
              <a:rPr lang="de-CH" dirty="0"/>
              <a:t> </a:t>
            </a:r>
            <a:r>
              <a:rPr lang="de-CH" dirty="0" err="1"/>
              <a:t>various</a:t>
            </a:r>
            <a:r>
              <a:rPr lang="de-CH" dirty="0"/>
              <a:t> </a:t>
            </a:r>
            <a:r>
              <a:rPr lang="de-CH" dirty="0" err="1"/>
              <a:t>population</a:t>
            </a:r>
            <a:r>
              <a:rPr lang="de-CH" dirty="0"/>
              <a:t> </a:t>
            </a:r>
            <a:r>
              <a:rPr lang="de-CH" dirty="0" err="1"/>
              <a:t>spike</a:t>
            </a:r>
            <a:r>
              <a:rPr lang="de-CH" dirty="0"/>
              <a:t> at </a:t>
            </a:r>
            <a:r>
              <a:rPr lang="de-CH" dirty="0" err="1"/>
              <a:t>insanely</a:t>
            </a:r>
            <a:r>
              <a:rPr lang="de-CH" dirty="0"/>
              <a:t> high </a:t>
            </a:r>
            <a:r>
              <a:rPr lang="de-CH" dirty="0" err="1"/>
              <a:t>levels</a:t>
            </a:r>
            <a:r>
              <a:rPr lang="de-CH" dirty="0"/>
              <a:t>, </a:t>
            </a:r>
            <a:r>
              <a:rPr lang="de-CH" dirty="0" err="1"/>
              <a:t>probably</a:t>
            </a:r>
            <a:r>
              <a:rPr lang="de-CH" dirty="0"/>
              <a:t> </a:t>
            </a:r>
            <a:r>
              <a:rPr lang="de-CH" dirty="0" err="1"/>
              <a:t>artifacts</a:t>
            </a:r>
            <a:r>
              <a:rPr lang="de-CH" dirty="0"/>
              <a:t>.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8A52C9C-FBB6-DFE0-487D-6283A1D8F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de-CH"/>
              <a:t>Universität Basel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ECBB65-554D-D85A-2905-1FFB72867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11826-9277-4232-A2B5-17D05DFC7392}" type="slidenum">
              <a:rPr lang="de-CH" smtClean="0"/>
              <a:pPr/>
              <a:t>18</a:t>
            </a:fld>
            <a:endParaRPr lang="de-CH" dirty="0"/>
          </a:p>
        </p:txBody>
      </p:sp>
      <p:cxnSp>
        <p:nvCxnSpPr>
          <p:cNvPr id="8" name="Gerade Verbindung 7">
            <a:extLst>
              <a:ext uri="{FF2B5EF4-FFF2-40B4-BE49-F238E27FC236}">
                <a16:creationId xmlns:a16="http://schemas.microsoft.com/office/drawing/2014/main" id="{DE349816-5DC4-E5F4-E4D0-54A9F9003BEE}"/>
              </a:ext>
            </a:extLst>
          </p:cNvPr>
          <p:cNvCxnSpPr/>
          <p:nvPr/>
        </p:nvCxnSpPr>
        <p:spPr>
          <a:xfrm>
            <a:off x="334800" y="1520825"/>
            <a:ext cx="11521840" cy="0"/>
          </a:xfrm>
          <a:prstGeom prst="line">
            <a:avLst/>
          </a:prstGeom>
          <a:ln w="254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Immagine 14">
            <a:extLst>
              <a:ext uri="{FF2B5EF4-FFF2-40B4-BE49-F238E27FC236}">
                <a16:creationId xmlns:a16="http://schemas.microsoft.com/office/drawing/2014/main" id="{60AE8C19-4FA5-1F4B-071F-C294C25F79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4670" y="1625968"/>
            <a:ext cx="2174715" cy="2396758"/>
          </a:xfrm>
          <a:prstGeom prst="rect">
            <a:avLst/>
          </a:prstGeom>
        </p:spPr>
      </p:pic>
      <p:pic>
        <p:nvPicPr>
          <p:cNvPr id="17" name="Immagine 16">
            <a:extLst>
              <a:ext uri="{FF2B5EF4-FFF2-40B4-BE49-F238E27FC236}">
                <a16:creationId xmlns:a16="http://schemas.microsoft.com/office/drawing/2014/main" id="{9CFE96F4-C1D5-1FFD-003D-4B02E13120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3425" y="1664804"/>
            <a:ext cx="2418796" cy="2354200"/>
          </a:xfrm>
          <a:prstGeom prst="rect">
            <a:avLst/>
          </a:prstGeom>
        </p:spPr>
      </p:pic>
      <p:pic>
        <p:nvPicPr>
          <p:cNvPr id="19" name="Immagine 18">
            <a:extLst>
              <a:ext uri="{FF2B5EF4-FFF2-40B4-BE49-F238E27FC236}">
                <a16:creationId xmlns:a16="http://schemas.microsoft.com/office/drawing/2014/main" id="{B4FCB9BA-1D0D-684A-9969-7CB5B8E1C8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2104" y="4027166"/>
            <a:ext cx="4467697" cy="2334333"/>
          </a:xfrm>
          <a:prstGeom prst="rect">
            <a:avLst/>
          </a:prstGeom>
        </p:spPr>
      </p:pic>
      <p:sp>
        <p:nvSpPr>
          <p:cNvPr id="20" name="Datumsplatzhalter 3">
            <a:extLst>
              <a:ext uri="{FF2B5EF4-FFF2-40B4-BE49-F238E27FC236}">
                <a16:creationId xmlns:a16="http://schemas.microsoft.com/office/drawing/2014/main" id="{EAEC3E3D-5168-BA80-18C8-FAA388D143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4800" y="6524626"/>
            <a:ext cx="2878667" cy="180000"/>
          </a:xfrm>
        </p:spPr>
        <p:txBody>
          <a:bodyPr/>
          <a:lstStyle/>
          <a:p>
            <a:r>
              <a:rPr lang="de-CH" dirty="0"/>
              <a:t>Tommaso Cappelli, 24.08.2026</a:t>
            </a:r>
          </a:p>
        </p:txBody>
      </p:sp>
    </p:spTree>
    <p:extLst>
      <p:ext uri="{BB962C8B-B14F-4D97-AF65-F5344CB8AC3E}">
        <p14:creationId xmlns:p14="http://schemas.microsoft.com/office/powerpoint/2010/main" val="2786296410"/>
      </p:ext>
    </p:extLst>
  </p:cSld>
  <p:clrMapOvr>
    <a:masterClrMapping/>
  </p:clrMapOvr>
</p:sld>
</file>

<file path=ppt/theme/theme1.xml><?xml version="1.0" encoding="utf-8"?>
<a:theme xmlns:a="http://schemas.openxmlformats.org/drawingml/2006/main" name="uni_basel_V04_de">
  <a:themeElements>
    <a:clrScheme name="Uni Basel">
      <a:dk1>
        <a:srgbClr val="000000"/>
      </a:dk1>
      <a:lt1>
        <a:srgbClr val="FFFFFF"/>
      </a:lt1>
      <a:dk2>
        <a:srgbClr val="006E6E"/>
      </a:dk2>
      <a:lt2>
        <a:srgbClr val="BEC3C8"/>
      </a:lt2>
      <a:accent1>
        <a:srgbClr val="A5D7D2"/>
      </a:accent1>
      <a:accent2>
        <a:srgbClr val="1EA5A5"/>
      </a:accent2>
      <a:accent3>
        <a:srgbClr val="2D373C"/>
      </a:accent3>
      <a:accent4>
        <a:srgbClr val="8C9196"/>
      </a:accent4>
      <a:accent5>
        <a:srgbClr val="D20537"/>
      </a:accent5>
      <a:accent6>
        <a:srgbClr val="EB829B"/>
      </a:accent6>
      <a:hlink>
        <a:srgbClr val="000000"/>
      </a:hlink>
      <a:folHlink>
        <a:srgbClr val="000000"/>
      </a:folHlink>
    </a:clrScheme>
    <a:fontScheme name="Uni Basel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2200"/>
          </a:lnSpc>
          <a:defRPr dirty="0"/>
        </a:defPPr>
      </a:lstStyle>
    </a:txDef>
  </a:objectDefaults>
  <a:extraClrSchemeLst>
    <a:extraClrScheme>
      <a:clrScheme name="Uni Basel">
        <a:dk1>
          <a:srgbClr val="000000"/>
        </a:dk1>
        <a:lt1>
          <a:srgbClr val="FFFFFF"/>
        </a:lt1>
        <a:dk2>
          <a:srgbClr val="006E6E"/>
        </a:dk2>
        <a:lt2>
          <a:srgbClr val="BEC3C8"/>
        </a:lt2>
        <a:accent1>
          <a:srgbClr val="A5D7D2"/>
        </a:accent1>
        <a:accent2>
          <a:srgbClr val="1EA5A5"/>
        </a:accent2>
        <a:accent3>
          <a:srgbClr val="2D373C"/>
        </a:accent3>
        <a:accent4>
          <a:srgbClr val="8C9196"/>
        </a:accent4>
        <a:accent5>
          <a:srgbClr val="D20537"/>
        </a:accent5>
        <a:accent6>
          <a:srgbClr val="EB829B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uni_basel_V04_de</Template>
  <TotalTime>1995</TotalTime>
  <Words>1525</Words>
  <Application>Microsoft Office PowerPoint</Application>
  <PresentationFormat>Widescreen</PresentationFormat>
  <Paragraphs>197</Paragraphs>
  <Slides>18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18</vt:i4>
      </vt:variant>
    </vt:vector>
  </HeadingPairs>
  <TitlesOfParts>
    <vt:vector size="23" baseType="lpstr">
      <vt:lpstr>Arial</vt:lpstr>
      <vt:lpstr>Calibri</vt:lpstr>
      <vt:lpstr>Georgia</vt:lpstr>
      <vt:lpstr>Wingdings</vt:lpstr>
      <vt:lpstr>uni_basel_V04_de</vt:lpstr>
      <vt:lpstr>BZRS 2026 E.Coli short-term gene expression and evolution dynamics   </vt:lpstr>
      <vt:lpstr>Overview What were the most striking results?</vt:lpstr>
      <vt:lpstr>Dataset: our lab previously performed a short-term evolution experiment</vt:lpstr>
      <vt:lpstr>Questions</vt:lpstr>
      <vt:lpstr>Methods: the breseq algorithm What’s behind the variant calling pipeline to detect genetic mutations in the 3 lineages.</vt:lpstr>
      <vt:lpstr>The deactivation of rpoS upregulates the duplication rate. Lineage 2 , 0.82-0.85 – Growth rate consistently high in succinate</vt:lpstr>
      <vt:lpstr>Variant calling doesn’t always tell the full story Lineage 3 , .39 vs .81  – Spike in growth rate for the 2nd sample</vt:lpstr>
      <vt:lpstr>Variant calling tracks down the v-shape of the first coverage. Lineage 3, .39 vs .81 – V-shape for the 1st sample</vt:lpstr>
      <vt:lpstr>The duplication of rssB affects the influence of rpoS. Lineage 3, .39 vs .81 – Spike in growth rate for the 2nd sample</vt:lpstr>
      <vt:lpstr>An incredibly wide region doubles its coverage. Lineage 1 – growth rates 0.55-0.71</vt:lpstr>
      <vt:lpstr>The variants from lineage 1 aren’t correlated with the growth rates. Lineage 1 – growth rates 0.55-0.71; predicted mutations in SUC2</vt:lpstr>
      <vt:lpstr>Final summary – biological picture Hypotesis of the adaptation process of B8 to succinate.</vt:lpstr>
      <vt:lpstr>Thanks for your attention!</vt:lpstr>
      <vt:lpstr>References</vt:lpstr>
      <vt:lpstr>1. Computational analysis of 92 E.Coli strains core genomes to understand the impact of mutations and recombination</vt:lpstr>
      <vt:lpstr>Implementing the 4-gamete-test to assess how meaningful is </vt:lpstr>
      <vt:lpstr>3. Studying the efficiency of an experimental algorithm to track the frequencies and assign detected reads to multiple strains</vt:lpstr>
      <vt:lpstr>3. Studying the efficiency of an experimental algorithm to track the frequencies and assign detected reads to multiple strains</vt:lpstr>
    </vt:vector>
  </TitlesOfParts>
  <Company>Universität Basel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Titel-/Kapitelfolie, Titel 1 Titel 2</dc:title>
  <dc:creator>Nicole Franke</dc:creator>
  <cp:lastModifiedBy>Tommaso Cappelli</cp:lastModifiedBy>
  <cp:revision>168</cp:revision>
  <dcterms:created xsi:type="dcterms:W3CDTF">2019-11-04T14:58:36Z</dcterms:created>
  <dcterms:modified xsi:type="dcterms:W3CDTF">2026-09-01T15:45:06Z</dcterms:modified>
</cp:coreProperties>
</file>